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85c9bf84e243a0" /><Relationship Type="http://schemas.openxmlformats.org/officeDocument/2006/relationships/extended-properties" Target="/docProps/app.xml" Id="R119f0a93ac5949e8" /><Relationship Type="http://schemas.openxmlformats.org/officeDocument/2006/relationships/officeDocument" Target="/ppt/presentation.xml" Id="Rcd3c7da467794e5f" /></Relationships>
</file>

<file path=ppt/presentation.xml><?xml version="1.0" encoding="utf-8"?>
<p:presentation xmlns:p="http://schemas.openxmlformats.org/presentationml/2006/main">
  <p:sldMasterIdLst>
    <p:sldMasterId xmlns:r="http://schemas.openxmlformats.org/officeDocument/2006/relationships" id="2147483648" r:id="R3e683f53d35c40b1"/>
  </p:sldMasterIdLst>
  <p:notesMasterIdLst>
    <p:notesMasterId xmlns:r="http://schemas.openxmlformats.org/officeDocument/2006/relationships" r:id="R6e847c3133ad4651"/>
  </p:notesMasterIdLst>
  <p:sldIdLst>
    <p:sldId xmlns:r="http://schemas.openxmlformats.org/officeDocument/2006/relationships" id="256" r:id="R41336f0e56de480f"/>
    <p:sldId xmlns:r="http://schemas.openxmlformats.org/officeDocument/2006/relationships" id="257" r:id="R7c9a4fb3ea754c64"/>
    <p:sldId xmlns:r="http://schemas.openxmlformats.org/officeDocument/2006/relationships" id="258" r:id="R3748f542d55b467f"/>
    <p:sldId xmlns:r="http://schemas.openxmlformats.org/officeDocument/2006/relationships" id="259" r:id="R7a5501349b0a467e"/>
    <p:sldId xmlns:r="http://schemas.openxmlformats.org/officeDocument/2006/relationships" id="260" r:id="R5778a9865a3945c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b09681e0726413f" /><Relationship Type="http://schemas.openxmlformats.org/officeDocument/2006/relationships/slideMaster" Target="/ppt/slideMasters/slideMaster1.xml" Id="R3e683f53d35c40b1" /><Relationship Type="http://schemas.openxmlformats.org/officeDocument/2006/relationships/notesMaster" Target="/ppt/notesMasters/notesMaster1.xml" Id="R6e847c3133ad4651" /><Relationship Type="http://schemas.openxmlformats.org/officeDocument/2006/relationships/presProps" Target="/ppt/presProps.xml" Id="Ra9a43a1cb2c14250" /><Relationship Type="http://schemas.openxmlformats.org/officeDocument/2006/relationships/tableStyles" Target="/ppt/tableStyles.xml" Id="Re9a75d9796764df0" /><Relationship Type="http://schemas.openxmlformats.org/officeDocument/2006/relationships/slide" Target="/ppt/slides/slide1.xml" Id="R41336f0e56de480f" /><Relationship Type="http://schemas.openxmlformats.org/officeDocument/2006/relationships/slide" Target="/ppt/slides/slide2.xml" Id="R7c9a4fb3ea754c64" /><Relationship Type="http://schemas.openxmlformats.org/officeDocument/2006/relationships/slide" Target="/ppt/slides/slide3.xml" Id="R3748f542d55b467f" /><Relationship Type="http://schemas.openxmlformats.org/officeDocument/2006/relationships/slide" Target="/ppt/slides/slide4.xml" Id="R7a5501349b0a467e" /><Relationship Type="http://schemas.openxmlformats.org/officeDocument/2006/relationships/slide" Target="/ppt/slides/slide5.xml" Id="R5778a9865a3945c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3f3af8d18434a0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80dbb24e3442c1" /><Relationship Type="http://schemas.openxmlformats.org/officeDocument/2006/relationships/notesMaster" Target="/ppt/notesMasters/notesMaster1.xml" Id="R063e0afd0fe3448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1f716c58bd54073" /><Relationship Type="http://schemas.openxmlformats.org/officeDocument/2006/relationships/notesMaster" Target="/ppt/notesMasters/notesMaster1.xml" Id="R8256f3b482f7419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a34ae6656ef45b8" /><Relationship Type="http://schemas.openxmlformats.org/officeDocument/2006/relationships/notesMaster" Target="/ppt/notesMasters/notesMaster1.xml" Id="R9962fc0fc99f4b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42f9f158f86043c6" /><Relationship Type="http://schemas.openxmlformats.org/officeDocument/2006/relationships/notesMaster" Target="/ppt/notesMasters/notesMaster1.xml" Id="Raa115d8753b14f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db187d556e364648" /><Relationship Type="http://schemas.openxmlformats.org/officeDocument/2006/relationships/notesMaster" Target="/ppt/notesMasters/notesMaster1.xml" Id="Rfba32cadc03b4e7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GoWise project instructions and the official GeoAI Hackathon 2026 rulebook. Official brief: https://geosysiot.in/geoai-hackathon/#guidelines. Current verification status is documented in the project README.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GeoAI Hackathon 2026 rulebook for required outdoor activities. Query behavior reflects backend/app/model/query_extraction.py. Profile details remain request-scoped and are not written to storage.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ARCHITECTURE.md and DATA_SOURCES.md. Implemented providers are Nominatim, Overpass API / OpenStreetMap, Open-Meteo Forecast API, and Open-Meteo Air Quality API. The runtime model is configured through Transformers AutoTokenizer and AutoModelForCausalLM.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for heuristic weights and missing-data behavior: backend/app/engine/scoring.py. Provider limitations and attribution policy: DATA_SOURCES.md. Open-Meteo air-quality forecast is regional model guidance. Road proximity is a map proxy, not live traffic. OSM credit: © OpenStreetMap contributors.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as of 24 October 2026. The React production build passed and eight deterministic scoring tests passed. The full pytest suite did not complete in the Windows sandbox because an asyncio/socketpair path hung. The Hugging Face Gradio Space is deployed and exposes a JSON API, but the last inference attempt was blocked by ZeroGPU quota; no provider-backed recommendation is verified. The deployed Space does not expose the exact FastAPI /health and /api/recommendations routes. Verify the team's model repository card, licence, and from_pretrained loading. Competition requirements: https://geosysiot.in/geoai-hackathon/#guidelines.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888344f8969424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086072b6ac3494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bd696f8859a472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064bc2f90e34b3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036ee84f34d439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bd629805e5949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B67EB1-B493-4ACB-9E45-57A587F80C0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DF01643-6436-443F-AB9B-F2AD9FA99D2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340B83A-3CF7-4942-AD0C-DB8DA07CC88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6FA4F0-D5B8-4836-B8BD-FC4CBED766E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8A6253B-46A7-42EB-A613-29F1F22C515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9885D25-B854-4C54-920E-415737684D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60E214-5DE6-4D7E-9011-C094748AB2B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0E594B-9944-4615-AA7D-578038005E8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E25E72-9BFA-4B9E-B2DA-8F8CDD6C334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9DB738E-64D3-429F-8C4E-38C6E709470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b660475442a4add" /><Relationship Type="http://schemas.openxmlformats.org/officeDocument/2006/relationships/slideLayout" Target="/ppt/slideLayouts/slideLayout1.xml" Id="Re5c59ceaf78349b9" /><Relationship Type="http://schemas.openxmlformats.org/officeDocument/2006/relationships/slideLayout" Target="/ppt/slideLayouts/slideLayout2.xml" Id="Rfde5812e99fb4b77" /><Relationship Type="http://schemas.openxmlformats.org/officeDocument/2006/relationships/slideLayout" Target="/ppt/slideLayouts/slideLayout3.xml" Id="Rbc1717fa84cc441b" /><Relationship Type="http://schemas.openxmlformats.org/officeDocument/2006/relationships/slideLayout" Target="/ppt/slideLayouts/slideLayout4.xml" Id="R91c3cfc37a17400b" /><Relationship Type="http://schemas.openxmlformats.org/officeDocument/2006/relationships/slideLayout" Target="/ppt/slideLayouts/slideLayout5.xml" Id="R462b36dff8724de0" /><Relationship Type="http://schemas.openxmlformats.org/officeDocument/2006/relationships/slideLayout" Target="/ppt/slideLayouts/slideLayout6.xml" Id="Rda65b22cd62240c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c59ceaf78349b9"/>
    <p:sldLayoutId xmlns:r="http://schemas.openxmlformats.org/officeDocument/2006/relationships" id="2147483650" r:id="Rfde5812e99fb4b77"/>
    <p:sldLayoutId xmlns:r="http://schemas.openxmlformats.org/officeDocument/2006/relationships" id="2147483651" r:id="Rbc1717fa84cc441b"/>
    <p:sldLayoutId xmlns:r="http://schemas.openxmlformats.org/officeDocument/2006/relationships" id="2147483652" r:id="R91c3cfc37a17400b"/>
    <p:sldLayoutId xmlns:r="http://schemas.openxmlformats.org/officeDocument/2006/relationships" id="2147483653" r:id="R462b36dff8724de0"/>
    <p:sldLayoutId xmlns:r="http://schemas.openxmlformats.org/officeDocument/2006/relationships" id="2147483654" r:id="Rda65b22cd62240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904a228ca4241dd" /><Relationship Type="http://schemas.openxmlformats.org/officeDocument/2006/relationships/notesSlide" Target="/ppt/notesSlides/notesSlide1.xml" Id="Rb14a37b3e7f1476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f36832e46f643c8" /><Relationship Type="http://schemas.openxmlformats.org/officeDocument/2006/relationships/notesSlide" Target="/ppt/notesSlides/notesSlide2.xml" Id="Rf21867d287f5429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382a963f05f41f2" /><Relationship Type="http://schemas.openxmlformats.org/officeDocument/2006/relationships/notesSlide" Target="/ppt/notesSlides/notesSlide3.xml" Id="R380a7f860ce7436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eeaf510d6824eb7" /><Relationship Type="http://schemas.openxmlformats.org/officeDocument/2006/relationships/notesSlide" Target="/ppt/notesSlides/notesSlide4.xml" Id="Rd7b1664f98b7482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339a745a2f14257" /><Relationship Type="http://schemas.openxmlformats.org/officeDocument/2006/relationships/notesSlide" Target="/ppt/notesSlides/notesSlide5.xml" Id="Rb3b091fd25554e3d" /></Relationships>
</file>

<file path=ppt/slides/slide1.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44AADD-DCCA-45B4-80A7-03AA77BD6F2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11AC2C0-DC28-42B5-BCBD-5CC1649A118C}"/>
              </a:ext>
            </a:extLst>
          </p:cNvPr>
          <p:cNvSpPr>
            <a:spLocks xmlns:a="http://schemas.openxmlformats.org/drawingml/2006/main" noGrp="1"/>
          </p:cNvSpPr>
          <p:nvPr/>
        </p:nvSpPr>
        <p:spPr>
          <a:xfrm xmlns:a="http://schemas.openxmlformats.org/drawingml/2006/main">
            <a:off x="742950" y="742950"/>
            <a:ext cx="609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GOWISE  /  GEOAI HACKATHON 2026</a:t>
            </a:r>
          </a:p>
        </p:txBody>
      </p:sp>
      <p:sp>
        <p:nvSpPr>
          <p:cNvPr id="3" name="">
            <a:extLst xmlns:a="http://schemas.openxmlformats.org/drawingml/2006/main">
              <a:ext uri="{FF2B5EF4-FFF2-40B4-BE49-F238E27FC236}">
                <a16:creationId xmlns:a16="http://schemas.microsoft.com/office/drawing/2014/main" id="{FA389887-69D2-4F96-9542-D54FB35FBC2A}"/>
              </a:ext>
            </a:extLst>
          </p:cNvPr>
          <p:cNvSpPr>
            <a:spLocks xmlns:a="http://schemas.openxmlformats.org/drawingml/2006/main" noGrp="1"/>
          </p:cNvSpPr>
          <p:nvPr/>
        </p:nvSpPr>
        <p:spPr>
          <a:xfrm xmlns:a="http://schemas.openxmlformats.org/drawingml/2006/main">
            <a:off x="742950" y="1562100"/>
            <a:ext cx="800100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4050" b="1">
                <a:solidFill>
                  <a:srgbClr val="20392D"/>
                </a:solidFill>
              </a:defRPr>
            </a:defPPr>
            <a:lvl1pPr>
              <a:defRPr sz="4050" b="1">
                <a:solidFill>
                  <a:srgbClr val="20392D"/>
                </a:solidFill>
              </a:defRPr>
            </a:lvl1pPr>
            <a:lvl2pPr>
              <a:defRPr sz="4050" b="1">
                <a:solidFill>
                  <a:srgbClr val="20392D"/>
                </a:solidFill>
              </a:defRPr>
            </a:lvl2pPr>
            <a:lvl3pPr>
              <a:defRPr sz="4050" b="1">
                <a:solidFill>
                  <a:srgbClr val="20392D"/>
                </a:solidFill>
              </a:defRPr>
            </a:lvl3pPr>
            <a:lvl4pPr>
              <a:defRPr sz="4050" b="1">
                <a:solidFill>
                  <a:srgbClr val="20392D"/>
                </a:solidFill>
              </a:defRPr>
            </a:lvl4pPr>
            <a:lvl5pPr>
              <a:defRPr sz="4050" b="1">
                <a:solidFill>
                  <a:srgbClr val="20392D"/>
                </a:solidFill>
              </a:defRPr>
            </a:lvl5pPr>
            <a:lvl6pPr>
              <a:defRPr sz="4050" b="1">
                <a:solidFill>
                  <a:srgbClr val="20392D"/>
                </a:solidFill>
              </a:defRPr>
            </a:lvl6pPr>
            <a:lvl7pPr>
              <a:defRPr sz="4050" b="1">
                <a:solidFill>
                  <a:srgbClr val="20392D"/>
                </a:solidFill>
              </a:defRPr>
            </a:lvl7pPr>
            <a:lvl8pPr>
              <a:defRPr sz="4050" b="1">
                <a:solidFill>
                  <a:srgbClr val="20392D"/>
                </a:solidFill>
              </a:defRPr>
            </a:lvl8pPr>
            <a:lvl9pPr>
              <a:defRPr sz="4050" b="1">
                <a:solidFill>
                  <a:srgbClr val="20392D"/>
                </a:solidFill>
              </a:defRPr>
            </a:lvl9pPr>
          </a:lstStyle>
          <a:p xmlns:a="http://schemas.openxmlformats.org/drawingml/2006/main">
            <a:pPr>
              <a:defRPr sz="4050" b="1">
                <a:solidFill>
                  <a:srgbClr val="20392D"/>
                </a:solidFill>
              </a:defRPr>
            </a:pPr>
            <a:r>
              <a:rPr sz="4050" b="1">
                <a:solidFill>
                  <a:srgbClr val="20392D"/>
                </a:solidFill>
              </a:rPr>
              <a:t>Outdoor plans,</a:t>
            </a:r>
          </a:p>
          <a:p xmlns:a="http://schemas.openxmlformats.org/drawingml/2006/main">
            <a:pPr>
              <a:defRPr sz="4050" b="1">
                <a:solidFill>
                  <a:srgbClr val="20392D"/>
                </a:solidFill>
              </a:defRPr>
            </a:pPr>
            <a:r>
              <a:rPr sz="4050" b="1">
                <a:solidFill>
                  <a:srgbClr val="20392D"/>
                </a:solidFill>
              </a:rPr>
              <a:t>with a place and a time.</a:t>
            </a:r>
          </a:p>
        </p:txBody>
      </p:sp>
      <p:sp>
        <p:nvSpPr>
          <p:cNvPr id="4" name="">
            <a:extLst xmlns:a="http://schemas.openxmlformats.org/drawingml/2006/main">
              <a:ext uri="{FF2B5EF4-FFF2-40B4-BE49-F238E27FC236}">
                <a16:creationId xmlns:a16="http://schemas.microsoft.com/office/drawing/2014/main" id="{9BF80E47-E979-46B4-9B07-838948263083}"/>
              </a:ext>
            </a:extLst>
          </p:cNvPr>
          <p:cNvSpPr>
            <a:spLocks xmlns:a="http://schemas.openxmlformats.org/drawingml/2006/main" noGrp="1"/>
          </p:cNvSpPr>
          <p:nvPr/>
        </p:nvSpPr>
        <p:spPr>
          <a:xfrm xmlns:a="http://schemas.openxmlformats.org/drawingml/2006/main">
            <a:off x="781050" y="3638550"/>
            <a:ext cx="666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64756A"/>
                </a:solidFill>
              </a:defRPr>
            </a:defPPr>
            <a:lvl1pPr>
              <a:defRPr sz="1650" b="0">
                <a:solidFill>
                  <a:srgbClr val="64756A"/>
                </a:solidFill>
              </a:defRPr>
            </a:lvl1pPr>
            <a:lvl2pPr>
              <a:defRPr sz="1650" b="0">
                <a:solidFill>
                  <a:srgbClr val="64756A"/>
                </a:solidFill>
              </a:defRPr>
            </a:lvl2pPr>
            <a:lvl3pPr>
              <a:defRPr sz="1650" b="0">
                <a:solidFill>
                  <a:srgbClr val="64756A"/>
                </a:solidFill>
              </a:defRPr>
            </a:lvl3pPr>
            <a:lvl4pPr>
              <a:defRPr sz="1650" b="0">
                <a:solidFill>
                  <a:srgbClr val="64756A"/>
                </a:solidFill>
              </a:defRPr>
            </a:lvl4pPr>
            <a:lvl5pPr>
              <a:defRPr sz="1650" b="0">
                <a:solidFill>
                  <a:srgbClr val="64756A"/>
                </a:solidFill>
              </a:defRPr>
            </a:lvl5pPr>
            <a:lvl6pPr>
              <a:defRPr sz="1650" b="0">
                <a:solidFill>
                  <a:srgbClr val="64756A"/>
                </a:solidFill>
              </a:defRPr>
            </a:lvl6pPr>
            <a:lvl7pPr>
              <a:defRPr sz="1650" b="0">
                <a:solidFill>
                  <a:srgbClr val="64756A"/>
                </a:solidFill>
              </a:defRPr>
            </a:lvl7pPr>
            <a:lvl8pPr>
              <a:defRPr sz="1650" b="0">
                <a:solidFill>
                  <a:srgbClr val="64756A"/>
                </a:solidFill>
              </a:defRPr>
            </a:lvl8pPr>
            <a:lvl9pPr>
              <a:defRPr sz="1650" b="0">
                <a:solidFill>
                  <a:srgbClr val="64756A"/>
                </a:solidFill>
              </a:defRPr>
            </a:lvl9pPr>
          </a:lstStyle>
          <a:p xmlns:a="http://schemas.openxmlformats.org/drawingml/2006/main">
            <a:pPr>
              <a:defRPr sz="1650" b="0">
                <a:solidFill>
                  <a:srgbClr val="64756A"/>
                </a:solidFill>
              </a:defRPr>
            </a:pPr>
            <a:r>
              <a:rPr sz="1650" b="0">
                <a:solidFill>
                  <a:srgbClr val="64756A"/>
                </a:solidFill>
              </a:rPr>
              <a:t>A web assistant that compares mapped venues and forecast hours for ten outdoor activities.</a:t>
            </a:r>
          </a:p>
        </p:txBody>
      </p:sp>
      <p:sp>
        <p:nvSpPr>
          <p:cNvPr id="5" name="">
            <a:extLst xmlns:a="http://schemas.openxmlformats.org/drawingml/2006/main">
              <a:ext uri="{FF2B5EF4-FFF2-40B4-BE49-F238E27FC236}">
                <a16:creationId xmlns:a16="http://schemas.microsoft.com/office/drawing/2014/main" id="{9E592687-E481-48A1-BAD5-046AB1BE1292}"/>
              </a:ext>
            </a:extLst>
          </p:cNvPr>
          <p:cNvSpPr>
            <a:spLocks xmlns:a="http://schemas.openxmlformats.org/drawingml/2006/main" noGrp="1"/>
          </p:cNvSpPr>
          <p:nvPr/>
        </p:nvSpPr>
        <p:spPr>
          <a:xfrm xmlns:a="http://schemas.openxmlformats.org/drawingml/2006/main">
            <a:off x="781050" y="4781550"/>
            <a:ext cx="5695950" cy="0"/>
          </a:xfrm>
          <a:prstGeom xmlns:a="http://schemas.openxmlformats.org/drawingml/2006/main" prst="line">
            <a:avLst/>
          </a:prstGeom>
          <a:noFill xmlns:a="http://schemas.openxmlformats.org/drawingml/2006/main"/>
          <a:ln xmlns:a="http://schemas.openxmlformats.org/drawingml/2006/main" w="19050">
            <a:solidFill>
              <a:srgbClr val="B8C8BA"/>
            </a:solidFill>
            <a:prstDash val="solid"/>
          </a:ln>
        </p:spPr>
      </p:sp>
      <p:sp>
        <p:nvSpPr>
          <p:cNvPr id="6" name="">
            <a:extLst xmlns:a="http://schemas.openxmlformats.org/drawingml/2006/main">
              <a:ext uri="{FF2B5EF4-FFF2-40B4-BE49-F238E27FC236}">
                <a16:creationId xmlns:a16="http://schemas.microsoft.com/office/drawing/2014/main" id="{77266C4A-6F5B-4FE9-8ABA-7C4DF9C30960}"/>
              </a:ext>
            </a:extLst>
          </p:cNvPr>
          <p:cNvSpPr>
            <a:spLocks xmlns:a="http://schemas.openxmlformats.org/drawingml/2006/main" noGrp="1"/>
          </p:cNvSpPr>
          <p:nvPr/>
        </p:nvSpPr>
        <p:spPr>
          <a:xfrm xmlns:a="http://schemas.openxmlformats.org/drawingml/2006/main">
            <a:off x="781050" y="501015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2E6B4A"/>
                </a:solidFill>
              </a:defRPr>
            </a:defPPr>
            <a:lvl1pPr>
              <a:defRPr sz="975" b="1">
                <a:solidFill>
                  <a:srgbClr val="2E6B4A"/>
                </a:solidFill>
              </a:defRPr>
            </a:lvl1pPr>
            <a:lvl2pPr>
              <a:defRPr sz="975" b="1">
                <a:solidFill>
                  <a:srgbClr val="2E6B4A"/>
                </a:solidFill>
              </a:defRPr>
            </a:lvl2pPr>
            <a:lvl3pPr>
              <a:defRPr sz="975" b="1">
                <a:solidFill>
                  <a:srgbClr val="2E6B4A"/>
                </a:solidFill>
              </a:defRPr>
            </a:lvl3pPr>
            <a:lvl4pPr>
              <a:defRPr sz="975" b="1">
                <a:solidFill>
                  <a:srgbClr val="2E6B4A"/>
                </a:solidFill>
              </a:defRPr>
            </a:lvl4pPr>
            <a:lvl5pPr>
              <a:defRPr sz="975" b="1">
                <a:solidFill>
                  <a:srgbClr val="2E6B4A"/>
                </a:solidFill>
              </a:defRPr>
            </a:lvl5pPr>
            <a:lvl6pPr>
              <a:defRPr sz="975" b="1">
                <a:solidFill>
                  <a:srgbClr val="2E6B4A"/>
                </a:solidFill>
              </a:defRPr>
            </a:lvl6pPr>
            <a:lvl7pPr>
              <a:defRPr sz="975" b="1">
                <a:solidFill>
                  <a:srgbClr val="2E6B4A"/>
                </a:solidFill>
              </a:defRPr>
            </a:lvl7pPr>
            <a:lvl8pPr>
              <a:defRPr sz="975" b="1">
                <a:solidFill>
                  <a:srgbClr val="2E6B4A"/>
                </a:solidFill>
              </a:defRPr>
            </a:lvl8pPr>
            <a:lvl9pPr>
              <a:defRPr sz="975" b="1">
                <a:solidFill>
                  <a:srgbClr val="2E6B4A"/>
                </a:solidFill>
              </a:defRPr>
            </a:lvl9pPr>
          </a:lstStyle>
          <a:p xmlns:a="http://schemas.openxmlformats.org/drawingml/2006/main">
            <a:pPr>
              <a:defRPr sz="975" b="1">
                <a:solidFill>
                  <a:srgbClr val="2E6B4A"/>
                </a:solidFill>
              </a:defRPr>
            </a:pPr>
            <a:r>
              <a:rPr sz="975" b="1">
                <a:solidFill>
                  <a:srgbClr val="2E6B4A"/>
                </a:solidFill>
              </a:rPr>
              <a:t>LIVE SOURCES  ·  LOCAL OPEN MODEL  ·  EXPLAINABLE HEURISTICS</a:t>
            </a:r>
          </a:p>
        </p:txBody>
      </p:sp>
      <p:sp>
        <p:nvSpPr>
          <p:cNvPr id="7" name="">
            <a:extLst xmlns:a="http://schemas.openxmlformats.org/drawingml/2006/main">
              <a:ext uri="{FF2B5EF4-FFF2-40B4-BE49-F238E27FC236}">
                <a16:creationId xmlns:a16="http://schemas.microsoft.com/office/drawing/2014/main" id="{E619D404-7F8A-40E9-A226-41EB97FAF8F6}"/>
              </a:ext>
            </a:extLst>
          </p:cNvPr>
          <p:cNvSpPr>
            <a:spLocks xmlns:a="http://schemas.openxmlformats.org/drawingml/2006/main" noGrp="1"/>
          </p:cNvSpPr>
          <p:nvPr/>
        </p:nvSpPr>
        <p:spPr>
          <a:xfrm xmlns:a="http://schemas.openxmlformats.org/drawingml/2006/main">
            <a:off x="781050" y="5638800"/>
            <a:ext cx="9239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0">
                <a:solidFill>
                  <a:srgbClr val="64756A"/>
                </a:solidFill>
              </a:defRPr>
            </a:defPPr>
            <a:lvl1pPr>
              <a:defRPr sz="1050" b="0">
                <a:solidFill>
                  <a:srgbClr val="64756A"/>
                </a:solidFill>
              </a:defRPr>
            </a:lvl1pPr>
            <a:lvl2pPr>
              <a:defRPr sz="1050" b="0">
                <a:solidFill>
                  <a:srgbClr val="64756A"/>
                </a:solidFill>
              </a:defRPr>
            </a:lvl2pPr>
            <a:lvl3pPr>
              <a:defRPr sz="1050" b="0">
                <a:solidFill>
                  <a:srgbClr val="64756A"/>
                </a:solidFill>
              </a:defRPr>
            </a:lvl3pPr>
            <a:lvl4pPr>
              <a:defRPr sz="1050" b="0">
                <a:solidFill>
                  <a:srgbClr val="64756A"/>
                </a:solidFill>
              </a:defRPr>
            </a:lvl4pPr>
            <a:lvl5pPr>
              <a:defRPr sz="1050" b="0">
                <a:solidFill>
                  <a:srgbClr val="64756A"/>
                </a:solidFill>
              </a:defRPr>
            </a:lvl5pPr>
            <a:lvl6pPr>
              <a:defRPr sz="1050" b="0">
                <a:solidFill>
                  <a:srgbClr val="64756A"/>
                </a:solidFill>
              </a:defRPr>
            </a:lvl6pPr>
            <a:lvl7pPr>
              <a:defRPr sz="1050" b="0">
                <a:solidFill>
                  <a:srgbClr val="64756A"/>
                </a:solidFill>
              </a:defRPr>
            </a:lvl7pPr>
            <a:lvl8pPr>
              <a:defRPr sz="1050" b="0">
                <a:solidFill>
                  <a:srgbClr val="64756A"/>
                </a:solidFill>
              </a:defRPr>
            </a:lvl8pPr>
            <a:lvl9pPr>
              <a:defRPr sz="1050" b="0">
                <a:solidFill>
                  <a:srgbClr val="64756A"/>
                </a:solidFill>
              </a:defRPr>
            </a:lvl9pPr>
          </a:lstStyle>
          <a:p xmlns:a="http://schemas.openxmlformats.org/drawingml/2006/main">
            <a:pPr>
              <a:defRPr sz="1050" b="0">
                <a:solidFill>
                  <a:srgbClr val="64756A"/>
                </a:solidFill>
              </a:defRPr>
            </a:pPr>
            <a:r>
              <a:rPr sz="1050" b="0">
                <a:solidFill>
                  <a:srgbClr val="64756A"/>
                </a:solidFill>
              </a:rPr>
              <a:t>Prototype status: React production build passes and the Hugging Face Space is deployed. A live recommendation and full backend checks remain unverified.</a:t>
            </a:r>
          </a:p>
        </p:txBody>
      </p:sp>
      <p:sp>
        <p:nvSpPr>
          <p:cNvPr id="8" name="">
            <a:extLst xmlns:a="http://schemas.openxmlformats.org/drawingml/2006/main">
              <a:ext uri="{FF2B5EF4-FFF2-40B4-BE49-F238E27FC236}">
                <a16:creationId xmlns:a16="http://schemas.microsoft.com/office/drawing/2014/main" id="{6B0C9D0D-33FD-420D-8316-0E614C64D13A}"/>
              </a:ext>
            </a:extLst>
          </p:cNvPr>
          <p:cNvSpPr>
            <a:spLocks xmlns:a="http://schemas.openxmlformats.org/drawingml/2006/main" noGrp="1"/>
          </p:cNvSpPr>
          <p:nvPr/>
        </p:nvSpPr>
        <p:spPr>
          <a:xfrm xmlns:a="http://schemas.openxmlformats.org/drawingml/2006/main">
            <a:off x="9525000" y="6381750"/>
            <a:ext cx="1981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825" b="1">
                <a:solidFill>
                  <a:srgbClr val="64756A"/>
                </a:solidFill>
              </a:defRPr>
            </a:defPPr>
            <a:lvl1pPr>
              <a:defRPr sz="825" b="1">
                <a:solidFill>
                  <a:srgbClr val="64756A"/>
                </a:solidFill>
              </a:defRPr>
            </a:lvl1pPr>
            <a:lvl2pPr>
              <a:defRPr sz="825" b="1">
                <a:solidFill>
                  <a:srgbClr val="64756A"/>
                </a:solidFill>
              </a:defRPr>
            </a:lvl2pPr>
            <a:lvl3pPr>
              <a:defRPr sz="825" b="1">
                <a:solidFill>
                  <a:srgbClr val="64756A"/>
                </a:solidFill>
              </a:defRPr>
            </a:lvl3pPr>
            <a:lvl4pPr>
              <a:defRPr sz="825" b="1">
                <a:solidFill>
                  <a:srgbClr val="64756A"/>
                </a:solidFill>
              </a:defRPr>
            </a:lvl4pPr>
            <a:lvl5pPr>
              <a:defRPr sz="825" b="1">
                <a:solidFill>
                  <a:srgbClr val="64756A"/>
                </a:solidFill>
              </a:defRPr>
            </a:lvl5pPr>
            <a:lvl6pPr>
              <a:defRPr sz="825" b="1">
                <a:solidFill>
                  <a:srgbClr val="64756A"/>
                </a:solidFill>
              </a:defRPr>
            </a:lvl6pPr>
            <a:lvl7pPr>
              <a:defRPr sz="825" b="1">
                <a:solidFill>
                  <a:srgbClr val="64756A"/>
                </a:solidFill>
              </a:defRPr>
            </a:lvl7pPr>
            <a:lvl8pPr>
              <a:defRPr sz="825" b="1">
                <a:solidFill>
                  <a:srgbClr val="64756A"/>
                </a:solidFill>
              </a:defRPr>
            </a:lvl8pPr>
            <a:lvl9pPr>
              <a:defRPr sz="825" b="1">
                <a:solidFill>
                  <a:srgbClr val="64756A"/>
                </a:solidFill>
              </a:defRPr>
            </a:lvl9pPr>
          </a:lstStyle>
          <a:p xmlns:a="http://schemas.openxmlformats.org/drawingml/2006/main">
            <a:pPr>
              <a:defRPr sz="825" b="1">
                <a:solidFill>
                  <a:srgbClr val="64756A"/>
                </a:solidFill>
              </a:defRPr>
            </a:pPr>
            <a:r>
              <a:rPr sz="825" b="1">
                <a:solidFill>
                  <a:srgbClr val="64756A"/>
                </a:solidFill>
              </a:rPr>
              <a:t>24 OCTOBER 2026</a:t>
            </a:r>
          </a:p>
        </p:txBody>
      </p:sp>
    </p:spTree>
    <p:extLst>
      <p:ext uri="{BB962C8B-B14F-4D97-AF65-F5344CB8AC3E}">
        <p14:creationId xmlns:p14="http://schemas.microsoft.com/office/powerpoint/2010/main" val="521475961"/>
      </p:ext>
    </p:extLst>
  </p:cSld>
</p:sld>
</file>

<file path=ppt/slides/slide2.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336BE71-CD86-4315-B73B-72C63A3733FE}"/>
              </a:ext>
            </a:extLst>
          </p:cNvPr>
          <p:cNvSpPr>
            <a:spLocks xmlns:a="http://schemas.openxmlformats.org/drawingml/2006/main" noGrp="1"/>
          </p:cNvSpPr>
          <p:nvPr/>
        </p:nvSpPr>
        <p:spPr>
          <a:xfrm xmlns:a="http://schemas.openxmlformats.org/drawingml/2006/main">
            <a:off x="685800" y="3810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02</a:t>
            </a:r>
          </a:p>
        </p:txBody>
      </p:sp>
      <p:sp>
        <p:nvSpPr>
          <p:cNvPr id="2" name="">
            <a:extLst xmlns:a="http://schemas.openxmlformats.org/drawingml/2006/main">
              <a:ext uri="{FF2B5EF4-FFF2-40B4-BE49-F238E27FC236}">
                <a16:creationId xmlns:a16="http://schemas.microsoft.com/office/drawing/2014/main" id="{F56CF40F-C503-4BD4-A56F-72F37AE36865}"/>
              </a:ext>
            </a:extLst>
          </p:cNvPr>
          <p:cNvSpPr>
            <a:spLocks xmlns:a="http://schemas.openxmlformats.org/drawingml/2006/main" noGrp="1"/>
          </p:cNvSpPr>
          <p:nvPr/>
        </p:nvSpPr>
        <p:spPr>
          <a:xfrm xmlns:a="http://schemas.openxmlformats.org/drawingml/2006/main">
            <a:off x="685800" y="781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850" b="1">
                <a:solidFill>
                  <a:srgbClr val="20392D"/>
                </a:solidFill>
              </a:defRPr>
            </a:defPPr>
            <a:lvl1pPr>
              <a:defRPr sz="2850" b="1">
                <a:solidFill>
                  <a:srgbClr val="20392D"/>
                </a:solidFill>
              </a:defRPr>
            </a:lvl1pPr>
            <a:lvl2pPr>
              <a:defRPr sz="2850" b="1">
                <a:solidFill>
                  <a:srgbClr val="20392D"/>
                </a:solidFill>
              </a:defRPr>
            </a:lvl2pPr>
            <a:lvl3pPr>
              <a:defRPr sz="2850" b="1">
                <a:solidFill>
                  <a:srgbClr val="20392D"/>
                </a:solidFill>
              </a:defRPr>
            </a:lvl3pPr>
            <a:lvl4pPr>
              <a:defRPr sz="2850" b="1">
                <a:solidFill>
                  <a:srgbClr val="20392D"/>
                </a:solidFill>
              </a:defRPr>
            </a:lvl4pPr>
            <a:lvl5pPr>
              <a:defRPr sz="2850" b="1">
                <a:solidFill>
                  <a:srgbClr val="20392D"/>
                </a:solidFill>
              </a:defRPr>
            </a:lvl5pPr>
            <a:lvl6pPr>
              <a:defRPr sz="2850" b="1">
                <a:solidFill>
                  <a:srgbClr val="20392D"/>
                </a:solidFill>
              </a:defRPr>
            </a:lvl6pPr>
            <a:lvl7pPr>
              <a:defRPr sz="2850" b="1">
                <a:solidFill>
                  <a:srgbClr val="20392D"/>
                </a:solidFill>
              </a:defRPr>
            </a:lvl7pPr>
            <a:lvl8pPr>
              <a:defRPr sz="2850" b="1">
                <a:solidFill>
                  <a:srgbClr val="20392D"/>
                </a:solidFill>
              </a:defRPr>
            </a:lvl8pPr>
            <a:lvl9pPr>
              <a:defRPr sz="2850" b="1">
                <a:solidFill>
                  <a:srgbClr val="20392D"/>
                </a:solidFill>
              </a:defRPr>
            </a:lvl9pPr>
          </a:lstStyle>
          <a:p xmlns:a="http://schemas.openxmlformats.org/drawingml/2006/main">
            <a:pPr>
              <a:defRPr sz="2850" b="1">
                <a:solidFill>
                  <a:srgbClr val="20392D"/>
                </a:solidFill>
              </a:defRPr>
            </a:pPr>
            <a:r>
              <a:rPr sz="2850" b="1">
                <a:solidFill>
                  <a:srgbClr val="20392D"/>
                </a:solidFill>
              </a:rPr>
              <a:t>A request becomes a plan</a:t>
            </a:r>
          </a:p>
        </p:txBody>
      </p:sp>
      <p:sp>
        <p:nvSpPr>
          <p:cNvPr id="3" name="">
            <a:extLst xmlns:a="http://schemas.openxmlformats.org/drawingml/2006/main">
              <a:ext uri="{FF2B5EF4-FFF2-40B4-BE49-F238E27FC236}">
                <a16:creationId xmlns:a16="http://schemas.microsoft.com/office/drawing/2014/main" id="{8AF2C000-ABD5-4BE4-99F5-3D1E47427FF4}"/>
              </a:ext>
            </a:extLst>
          </p:cNvPr>
          <p:cNvSpPr>
            <a:spLocks xmlns:a="http://schemas.openxmlformats.org/drawingml/2006/main" noGrp="1"/>
          </p:cNvSpPr>
          <p:nvPr/>
        </p:nvSpPr>
        <p:spPr>
          <a:xfrm xmlns:a="http://schemas.openxmlformats.org/drawingml/2006/main">
            <a:off x="685800" y="1381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64756A"/>
                </a:solidFill>
              </a:defRPr>
            </a:defPPr>
            <a:lvl1pPr>
              <a:defRPr sz="1350" b="0">
                <a:solidFill>
                  <a:srgbClr val="64756A"/>
                </a:solidFill>
              </a:defRPr>
            </a:lvl1pPr>
            <a:lvl2pPr>
              <a:defRPr sz="1350" b="0">
                <a:solidFill>
                  <a:srgbClr val="64756A"/>
                </a:solidFill>
              </a:defRPr>
            </a:lvl2pPr>
            <a:lvl3pPr>
              <a:defRPr sz="1350" b="0">
                <a:solidFill>
                  <a:srgbClr val="64756A"/>
                </a:solidFill>
              </a:defRPr>
            </a:lvl3pPr>
            <a:lvl4pPr>
              <a:defRPr sz="1350" b="0">
                <a:solidFill>
                  <a:srgbClr val="64756A"/>
                </a:solidFill>
              </a:defRPr>
            </a:lvl4pPr>
            <a:lvl5pPr>
              <a:defRPr sz="1350" b="0">
                <a:solidFill>
                  <a:srgbClr val="64756A"/>
                </a:solidFill>
              </a:defRPr>
            </a:lvl5pPr>
            <a:lvl6pPr>
              <a:defRPr sz="1350" b="0">
                <a:solidFill>
                  <a:srgbClr val="64756A"/>
                </a:solidFill>
              </a:defRPr>
            </a:lvl6pPr>
            <a:lvl7pPr>
              <a:defRPr sz="1350" b="0">
                <a:solidFill>
                  <a:srgbClr val="64756A"/>
                </a:solidFill>
              </a:defRPr>
            </a:lvl7pPr>
            <a:lvl8pPr>
              <a:defRPr sz="1350" b="0">
                <a:solidFill>
                  <a:srgbClr val="64756A"/>
                </a:solidFill>
              </a:defRPr>
            </a:lvl8pPr>
            <a:lvl9pPr>
              <a:defRPr sz="1350" b="0">
                <a:solidFill>
                  <a:srgbClr val="64756A"/>
                </a:solidFill>
              </a:defRPr>
            </a:lvl9pPr>
          </a:lstStyle>
          <a:p xmlns:a="http://schemas.openxmlformats.org/drawingml/2006/main">
            <a:pPr>
              <a:defRPr sz="1350" b="0">
                <a:solidFill>
                  <a:srgbClr val="64756A"/>
                </a:solidFill>
              </a:defRPr>
            </a:pPr>
            <a:r>
              <a:rPr sz="1350" b="0">
                <a:solidFill>
                  <a:srgbClr val="64756A"/>
                </a:solidFill>
              </a:rPr>
              <a:t>The assistant asks for missing activity, place, or time instead of guessing.</a:t>
            </a:r>
          </a:p>
        </p:txBody>
      </p:sp>
      <p:sp>
        <p:nvSpPr>
          <p:cNvPr id="4" name="">
            <a:extLst xmlns:a="http://schemas.openxmlformats.org/drawingml/2006/main">
              <a:ext uri="{FF2B5EF4-FFF2-40B4-BE49-F238E27FC236}">
                <a16:creationId xmlns:a16="http://schemas.microsoft.com/office/drawing/2014/main" id="{C013A5B9-30F1-419C-81AE-9540619BD2D7}"/>
              </a:ext>
            </a:extLst>
          </p:cNvPr>
          <p:cNvSpPr>
            <a:spLocks xmlns:a="http://schemas.openxmlformats.org/drawingml/2006/main" noGrp="1"/>
          </p:cNvSpPr>
          <p:nvPr/>
        </p:nvSpPr>
        <p:spPr>
          <a:xfrm xmlns:a="http://schemas.openxmlformats.org/drawingml/2006/main">
            <a:off x="685800" y="188595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5" name="">
            <a:extLst xmlns:a="http://schemas.openxmlformats.org/drawingml/2006/main">
              <a:ext uri="{FF2B5EF4-FFF2-40B4-BE49-F238E27FC236}">
                <a16:creationId xmlns:a16="http://schemas.microsoft.com/office/drawing/2014/main" id="{55BBD7D2-11B8-4F9E-B19E-414D4811F57C}"/>
              </a:ext>
            </a:extLst>
          </p:cNvPr>
          <p:cNvSpPr>
            <a:spLocks xmlns:a="http://schemas.openxmlformats.org/drawingml/2006/main" noGrp="1"/>
          </p:cNvSpPr>
          <p:nvPr/>
        </p:nvSpPr>
        <p:spPr>
          <a:xfrm xmlns:a="http://schemas.openxmlformats.org/drawingml/2006/main">
            <a:off x="685800" y="2238375"/>
            <a:ext cx="190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USER INPUT</a:t>
            </a:r>
          </a:p>
        </p:txBody>
      </p:sp>
      <p:sp>
        <p:nvSpPr>
          <p:cNvPr id="6" name="">
            <a:extLst xmlns:a="http://schemas.openxmlformats.org/drawingml/2006/main">
              <a:ext uri="{FF2B5EF4-FFF2-40B4-BE49-F238E27FC236}">
                <a16:creationId xmlns:a16="http://schemas.microsoft.com/office/drawing/2014/main" id="{B8E0E1BD-6FC9-4BCB-A7C5-E3D4CAF89A9E}"/>
              </a:ext>
            </a:extLst>
          </p:cNvPr>
          <p:cNvSpPr>
            <a:spLocks xmlns:a="http://schemas.openxmlformats.org/drawingml/2006/main" noGrp="1"/>
          </p:cNvSpPr>
          <p:nvPr/>
        </p:nvSpPr>
        <p:spPr>
          <a:xfrm xmlns:a="http://schemas.openxmlformats.org/drawingml/2006/main">
            <a:off x="685800" y="2628900"/>
            <a:ext cx="4381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950" b="1">
                <a:solidFill>
                  <a:srgbClr val="20392D"/>
                </a:solidFill>
              </a:defRPr>
            </a:defPPr>
            <a:lvl1pPr>
              <a:defRPr sz="1950" b="1">
                <a:solidFill>
                  <a:srgbClr val="20392D"/>
                </a:solidFill>
              </a:defRPr>
            </a:lvl1pPr>
            <a:lvl2pPr>
              <a:defRPr sz="1950" b="1">
                <a:solidFill>
                  <a:srgbClr val="20392D"/>
                </a:solidFill>
              </a:defRPr>
            </a:lvl2pPr>
            <a:lvl3pPr>
              <a:defRPr sz="1950" b="1">
                <a:solidFill>
                  <a:srgbClr val="20392D"/>
                </a:solidFill>
              </a:defRPr>
            </a:lvl3pPr>
            <a:lvl4pPr>
              <a:defRPr sz="1950" b="1">
                <a:solidFill>
                  <a:srgbClr val="20392D"/>
                </a:solidFill>
              </a:defRPr>
            </a:lvl4pPr>
            <a:lvl5pPr>
              <a:defRPr sz="1950" b="1">
                <a:solidFill>
                  <a:srgbClr val="20392D"/>
                </a:solidFill>
              </a:defRPr>
            </a:lvl5pPr>
            <a:lvl6pPr>
              <a:defRPr sz="1950" b="1">
                <a:solidFill>
                  <a:srgbClr val="20392D"/>
                </a:solidFill>
              </a:defRPr>
            </a:lvl6pPr>
            <a:lvl7pPr>
              <a:defRPr sz="1950" b="1">
                <a:solidFill>
                  <a:srgbClr val="20392D"/>
                </a:solidFill>
              </a:defRPr>
            </a:lvl7pPr>
            <a:lvl8pPr>
              <a:defRPr sz="1950" b="1">
                <a:solidFill>
                  <a:srgbClr val="20392D"/>
                </a:solidFill>
              </a:defRPr>
            </a:lvl8pPr>
            <a:lvl9pPr>
              <a:defRPr sz="1950" b="1">
                <a:solidFill>
                  <a:srgbClr val="20392D"/>
                </a:solidFill>
              </a:defRPr>
            </a:lvl9pPr>
          </a:lstStyle>
          <a:p xmlns:a="http://schemas.openxmlformats.org/drawingml/2006/main">
            <a:pPr>
              <a:defRPr sz="1950" b="1">
                <a:solidFill>
                  <a:srgbClr val="20392D"/>
                </a:solidFill>
              </a:defRPr>
            </a:pPr>
            <a:r>
              <a:rPr sz="1950" b="1">
                <a:solidFill>
                  <a:srgbClr val="20392D"/>
                </a:solidFill>
              </a:rPr>
              <a:t>“Where can I run tomorrow morning near Powai?”</a:t>
            </a:r>
          </a:p>
        </p:txBody>
      </p:sp>
      <p:sp>
        <p:nvSpPr>
          <p:cNvPr id="7" name="">
            <a:extLst xmlns:a="http://schemas.openxmlformats.org/drawingml/2006/main">
              <a:ext uri="{FF2B5EF4-FFF2-40B4-BE49-F238E27FC236}">
                <a16:creationId xmlns:a16="http://schemas.microsoft.com/office/drawing/2014/main" id="{64FAAA5B-797F-4C53-9D45-77418FE89A11}"/>
              </a:ext>
            </a:extLst>
          </p:cNvPr>
          <p:cNvSpPr>
            <a:spLocks xmlns:a="http://schemas.openxmlformats.org/drawingml/2006/main" noGrp="1"/>
          </p:cNvSpPr>
          <p:nvPr/>
        </p:nvSpPr>
        <p:spPr>
          <a:xfrm xmlns:a="http://schemas.openxmlformats.org/drawingml/2006/main">
            <a:off x="5095875" y="3067050"/>
            <a:ext cx="714375"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8" name="">
            <a:extLst xmlns:a="http://schemas.openxmlformats.org/drawingml/2006/main">
              <a:ext uri="{FF2B5EF4-FFF2-40B4-BE49-F238E27FC236}">
                <a16:creationId xmlns:a16="http://schemas.microsoft.com/office/drawing/2014/main" id="{B16A6AC4-CE86-4C70-830A-8D005B3ED72D}"/>
              </a:ext>
            </a:extLst>
          </p:cNvPr>
          <p:cNvSpPr>
            <a:spLocks xmlns:a="http://schemas.openxmlformats.org/drawingml/2006/main" noGrp="1"/>
          </p:cNvSpPr>
          <p:nvPr/>
        </p:nvSpPr>
        <p:spPr>
          <a:xfrm xmlns:a="http://schemas.openxmlformats.org/drawingml/2006/main">
            <a:off x="6038850" y="2238375"/>
            <a:ext cx="228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LOCAL QUERY PARSE</a:t>
            </a:r>
          </a:p>
        </p:txBody>
      </p:sp>
      <p:sp>
        <p:nvSpPr>
          <p:cNvPr id="9" name="">
            <a:extLst xmlns:a="http://schemas.openxmlformats.org/drawingml/2006/main">
              <a:ext uri="{FF2B5EF4-FFF2-40B4-BE49-F238E27FC236}">
                <a16:creationId xmlns:a16="http://schemas.microsoft.com/office/drawing/2014/main" id="{ED61CD33-7BA9-4B7C-AE13-B1E26960BD06}"/>
              </a:ext>
            </a:extLst>
          </p:cNvPr>
          <p:cNvSpPr>
            <a:spLocks xmlns:a="http://schemas.openxmlformats.org/drawingml/2006/main" noGrp="1"/>
          </p:cNvSpPr>
          <p:nvPr/>
        </p:nvSpPr>
        <p:spPr>
          <a:xfrm xmlns:a="http://schemas.openxmlformats.org/drawingml/2006/main">
            <a:off x="6038850" y="2628900"/>
            <a:ext cx="4762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1">
                <a:solidFill>
                  <a:srgbClr val="20392D"/>
                </a:solidFill>
              </a:defRPr>
            </a:defPPr>
            <a:lvl1pPr>
              <a:defRPr sz="1575" b="1">
                <a:solidFill>
                  <a:srgbClr val="20392D"/>
                </a:solidFill>
              </a:defRPr>
            </a:lvl1pPr>
            <a:lvl2pPr>
              <a:defRPr sz="1575" b="1">
                <a:solidFill>
                  <a:srgbClr val="20392D"/>
                </a:solidFill>
              </a:defRPr>
            </a:lvl2pPr>
            <a:lvl3pPr>
              <a:defRPr sz="1575" b="1">
                <a:solidFill>
                  <a:srgbClr val="20392D"/>
                </a:solidFill>
              </a:defRPr>
            </a:lvl3pPr>
            <a:lvl4pPr>
              <a:defRPr sz="1575" b="1">
                <a:solidFill>
                  <a:srgbClr val="20392D"/>
                </a:solidFill>
              </a:defRPr>
            </a:lvl4pPr>
            <a:lvl5pPr>
              <a:defRPr sz="1575" b="1">
                <a:solidFill>
                  <a:srgbClr val="20392D"/>
                </a:solidFill>
              </a:defRPr>
            </a:lvl5pPr>
            <a:lvl6pPr>
              <a:defRPr sz="1575" b="1">
                <a:solidFill>
                  <a:srgbClr val="20392D"/>
                </a:solidFill>
              </a:defRPr>
            </a:lvl6pPr>
            <a:lvl7pPr>
              <a:defRPr sz="1575" b="1">
                <a:solidFill>
                  <a:srgbClr val="20392D"/>
                </a:solidFill>
              </a:defRPr>
            </a:lvl7pPr>
            <a:lvl8pPr>
              <a:defRPr sz="1575" b="1">
                <a:solidFill>
                  <a:srgbClr val="20392D"/>
                </a:solidFill>
              </a:defRPr>
            </a:lvl8pPr>
            <a:lvl9pPr>
              <a:defRPr sz="1575" b="1">
                <a:solidFill>
                  <a:srgbClr val="20392D"/>
                </a:solidFill>
              </a:defRPr>
            </a:lvl9pPr>
          </a:lstStyle>
          <a:p xmlns:a="http://schemas.openxmlformats.org/drawingml/2006/main">
            <a:pPr>
              <a:defRPr sz="1575" b="1">
                <a:solidFill>
                  <a:srgbClr val="20392D"/>
                </a:solidFill>
              </a:defRPr>
            </a:pPr>
            <a:r>
              <a:rPr sz="1575" b="1">
                <a:solidFill>
                  <a:srgbClr val="20392D"/>
                </a:solidFill>
              </a:rPr>
              <a:t>Activity · typed area · radius · time window · optional context</a:t>
            </a:r>
          </a:p>
        </p:txBody>
      </p:sp>
      <p:sp>
        <p:nvSpPr>
          <p:cNvPr id="10" name="">
            <a:extLst xmlns:a="http://schemas.openxmlformats.org/drawingml/2006/main">
              <a:ext uri="{FF2B5EF4-FFF2-40B4-BE49-F238E27FC236}">
                <a16:creationId xmlns:a16="http://schemas.microsoft.com/office/drawing/2014/main" id="{5836E952-BD15-4F7B-BFC8-72CC6B1D255D}"/>
              </a:ext>
            </a:extLst>
          </p:cNvPr>
          <p:cNvSpPr>
            <a:spLocks xmlns:a="http://schemas.openxmlformats.org/drawingml/2006/main" noGrp="1"/>
          </p:cNvSpPr>
          <p:nvPr/>
        </p:nvSpPr>
        <p:spPr>
          <a:xfrm xmlns:a="http://schemas.openxmlformats.org/drawingml/2006/main">
            <a:off x="685800" y="388620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11" name="">
            <a:extLst xmlns:a="http://schemas.openxmlformats.org/drawingml/2006/main">
              <a:ext uri="{FF2B5EF4-FFF2-40B4-BE49-F238E27FC236}">
                <a16:creationId xmlns:a16="http://schemas.microsoft.com/office/drawing/2014/main" id="{8B9DC1EA-DDC7-4F3B-B11C-BBE42638B12F}"/>
              </a:ext>
            </a:extLst>
          </p:cNvPr>
          <p:cNvSpPr>
            <a:spLocks xmlns:a="http://schemas.openxmlformats.org/drawingml/2006/main" noGrp="1"/>
          </p:cNvSpPr>
          <p:nvPr/>
        </p:nvSpPr>
        <p:spPr>
          <a:xfrm xmlns:a="http://schemas.openxmlformats.org/drawingml/2006/main">
            <a:off x="685800" y="42481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TEN CONFIGURED ACTIVITIES</a:t>
            </a:r>
          </a:p>
        </p:txBody>
      </p:sp>
      <p:sp>
        <p:nvSpPr>
          <p:cNvPr id="12" name="">
            <a:extLst xmlns:a="http://schemas.openxmlformats.org/drawingml/2006/main">
              <a:ext uri="{FF2B5EF4-FFF2-40B4-BE49-F238E27FC236}">
                <a16:creationId xmlns:a16="http://schemas.microsoft.com/office/drawing/2014/main" id="{31C37BBF-A6B3-4683-885C-EFCB8D4A69AE}"/>
              </a:ext>
            </a:extLst>
          </p:cNvPr>
          <p:cNvSpPr>
            <a:spLocks xmlns:a="http://schemas.openxmlformats.org/drawingml/2006/main" noGrp="1"/>
          </p:cNvSpPr>
          <p:nvPr/>
        </p:nvSpPr>
        <p:spPr>
          <a:xfrm xmlns:a="http://schemas.openxmlformats.org/drawingml/2006/main">
            <a:off x="685800" y="4629150"/>
            <a:ext cx="1009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20392D"/>
                </a:solidFill>
              </a:defRPr>
            </a:defPPr>
            <a:lvl1pPr>
              <a:defRPr sz="1350" b="0">
                <a:solidFill>
                  <a:srgbClr val="20392D"/>
                </a:solidFill>
              </a:defRPr>
            </a:lvl1pPr>
            <a:lvl2pPr>
              <a:defRPr sz="1350" b="0">
                <a:solidFill>
                  <a:srgbClr val="20392D"/>
                </a:solidFill>
              </a:defRPr>
            </a:lvl2pPr>
            <a:lvl3pPr>
              <a:defRPr sz="1350" b="0">
                <a:solidFill>
                  <a:srgbClr val="20392D"/>
                </a:solidFill>
              </a:defRPr>
            </a:lvl3pPr>
            <a:lvl4pPr>
              <a:defRPr sz="1350" b="0">
                <a:solidFill>
                  <a:srgbClr val="20392D"/>
                </a:solidFill>
              </a:defRPr>
            </a:lvl4pPr>
            <a:lvl5pPr>
              <a:defRPr sz="1350" b="0">
                <a:solidFill>
                  <a:srgbClr val="20392D"/>
                </a:solidFill>
              </a:defRPr>
            </a:lvl5pPr>
            <a:lvl6pPr>
              <a:defRPr sz="1350" b="0">
                <a:solidFill>
                  <a:srgbClr val="20392D"/>
                </a:solidFill>
              </a:defRPr>
            </a:lvl6pPr>
            <a:lvl7pPr>
              <a:defRPr sz="1350" b="0">
                <a:solidFill>
                  <a:srgbClr val="20392D"/>
                </a:solidFill>
              </a:defRPr>
            </a:lvl7pPr>
            <a:lvl8pPr>
              <a:defRPr sz="1350" b="0">
                <a:solidFill>
                  <a:srgbClr val="20392D"/>
                </a:solidFill>
              </a:defRPr>
            </a:lvl8pPr>
            <a:lvl9pPr>
              <a:defRPr sz="1350" b="0">
                <a:solidFill>
                  <a:srgbClr val="20392D"/>
                </a:solidFill>
              </a:defRPr>
            </a:lvl9pPr>
          </a:lstStyle>
          <a:p xmlns:a="http://schemas.openxmlformats.org/drawingml/2006/main">
            <a:pPr>
              <a:defRPr sz="1350" b="0">
                <a:solidFill>
                  <a:srgbClr val="20392D"/>
                </a:solidFill>
              </a:defRPr>
            </a:pPr>
            <a:r>
              <a:rPr sz="1350" b="0">
                <a:solidFill>
                  <a:srgbClr val="20392D"/>
                </a:solidFill>
              </a:rPr>
              <a:t>Running / jogging     Cycling     Golf     Cricket     Outdoor football     Outdoor tennis</a:t>
            </a:r>
          </a:p>
        </p:txBody>
      </p:sp>
      <p:sp>
        <p:nvSpPr>
          <p:cNvPr id="13" name="">
            <a:extLst xmlns:a="http://schemas.openxmlformats.org/drawingml/2006/main">
              <a:ext uri="{FF2B5EF4-FFF2-40B4-BE49-F238E27FC236}">
                <a16:creationId xmlns:a16="http://schemas.microsoft.com/office/drawing/2014/main" id="{FB38CD32-6C40-46C9-990A-C757250AF3B5}"/>
              </a:ext>
            </a:extLst>
          </p:cNvPr>
          <p:cNvSpPr>
            <a:spLocks xmlns:a="http://schemas.openxmlformats.org/drawingml/2006/main" noGrp="1"/>
          </p:cNvSpPr>
          <p:nvPr/>
        </p:nvSpPr>
        <p:spPr>
          <a:xfrm xmlns:a="http://schemas.openxmlformats.org/drawingml/2006/main">
            <a:off x="685800" y="5067300"/>
            <a:ext cx="10096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20392D"/>
                </a:solidFill>
              </a:defRPr>
            </a:defPPr>
            <a:lvl1pPr>
              <a:defRPr sz="1350" b="0">
                <a:solidFill>
                  <a:srgbClr val="20392D"/>
                </a:solidFill>
              </a:defRPr>
            </a:lvl1pPr>
            <a:lvl2pPr>
              <a:defRPr sz="1350" b="0">
                <a:solidFill>
                  <a:srgbClr val="20392D"/>
                </a:solidFill>
              </a:defRPr>
            </a:lvl2pPr>
            <a:lvl3pPr>
              <a:defRPr sz="1350" b="0">
                <a:solidFill>
                  <a:srgbClr val="20392D"/>
                </a:solidFill>
              </a:defRPr>
            </a:lvl3pPr>
            <a:lvl4pPr>
              <a:defRPr sz="1350" b="0">
                <a:solidFill>
                  <a:srgbClr val="20392D"/>
                </a:solidFill>
              </a:defRPr>
            </a:lvl4pPr>
            <a:lvl5pPr>
              <a:defRPr sz="1350" b="0">
                <a:solidFill>
                  <a:srgbClr val="20392D"/>
                </a:solidFill>
              </a:defRPr>
            </a:lvl5pPr>
            <a:lvl6pPr>
              <a:defRPr sz="1350" b="0">
                <a:solidFill>
                  <a:srgbClr val="20392D"/>
                </a:solidFill>
              </a:defRPr>
            </a:lvl6pPr>
            <a:lvl7pPr>
              <a:defRPr sz="1350" b="0">
                <a:solidFill>
                  <a:srgbClr val="20392D"/>
                </a:solidFill>
              </a:defRPr>
            </a:lvl7pPr>
            <a:lvl8pPr>
              <a:defRPr sz="1350" b="0">
                <a:solidFill>
                  <a:srgbClr val="20392D"/>
                </a:solidFill>
              </a:defRPr>
            </a:lvl8pPr>
            <a:lvl9pPr>
              <a:defRPr sz="1350" b="0">
                <a:solidFill>
                  <a:srgbClr val="20392D"/>
                </a:solidFill>
              </a:defRPr>
            </a:lvl9pPr>
          </a:lstStyle>
          <a:p xmlns:a="http://schemas.openxmlformats.org/drawingml/2006/main">
            <a:pPr>
              <a:defRPr sz="1350" b="0">
                <a:solidFill>
                  <a:srgbClr val="20392D"/>
                </a:solidFill>
              </a:defRPr>
            </a:pPr>
            <a:r>
              <a:rPr sz="1350" b="0">
                <a:solidFill>
                  <a:srgbClr val="20392D"/>
                </a:solidFill>
              </a:rPr>
              <a:t>Hiking / nature walk     Picnic / park outing     Outdoor event     Outdoor photography</a:t>
            </a:r>
          </a:p>
        </p:txBody>
      </p:sp>
      <p:sp>
        <p:nvSpPr>
          <p:cNvPr id="14" name="">
            <a:extLst xmlns:a="http://schemas.openxmlformats.org/drawingml/2006/main">
              <a:ext uri="{FF2B5EF4-FFF2-40B4-BE49-F238E27FC236}">
                <a16:creationId xmlns:a16="http://schemas.microsoft.com/office/drawing/2014/main" id="{67CE58D8-0BE7-49EA-90F8-B75275C27401}"/>
              </a:ext>
            </a:extLst>
          </p:cNvPr>
          <p:cNvSpPr>
            <a:spLocks xmlns:a="http://schemas.openxmlformats.org/drawingml/2006/main" noGrp="1"/>
          </p:cNvSpPr>
          <p:nvPr/>
        </p:nvSpPr>
        <p:spPr>
          <a:xfrm xmlns:a="http://schemas.openxmlformats.org/drawingml/2006/main">
            <a:off x="685800" y="5734050"/>
            <a:ext cx="1047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0">
                <a:solidFill>
                  <a:srgbClr val="64756A"/>
                </a:solidFill>
              </a:defRPr>
            </a:defPPr>
            <a:lvl1pPr>
              <a:defRPr sz="1050" b="0">
                <a:solidFill>
                  <a:srgbClr val="64756A"/>
                </a:solidFill>
              </a:defRPr>
            </a:lvl1pPr>
            <a:lvl2pPr>
              <a:defRPr sz="1050" b="0">
                <a:solidFill>
                  <a:srgbClr val="64756A"/>
                </a:solidFill>
              </a:defRPr>
            </a:lvl2pPr>
            <a:lvl3pPr>
              <a:defRPr sz="1050" b="0">
                <a:solidFill>
                  <a:srgbClr val="64756A"/>
                </a:solidFill>
              </a:defRPr>
            </a:lvl3pPr>
            <a:lvl4pPr>
              <a:defRPr sz="1050" b="0">
                <a:solidFill>
                  <a:srgbClr val="64756A"/>
                </a:solidFill>
              </a:defRPr>
            </a:lvl4pPr>
            <a:lvl5pPr>
              <a:defRPr sz="1050" b="0">
                <a:solidFill>
                  <a:srgbClr val="64756A"/>
                </a:solidFill>
              </a:defRPr>
            </a:lvl5pPr>
            <a:lvl6pPr>
              <a:defRPr sz="1050" b="0">
                <a:solidFill>
                  <a:srgbClr val="64756A"/>
                </a:solidFill>
              </a:defRPr>
            </a:lvl6pPr>
            <a:lvl7pPr>
              <a:defRPr sz="1050" b="0">
                <a:solidFill>
                  <a:srgbClr val="64756A"/>
                </a:solidFill>
              </a:defRPr>
            </a:lvl7pPr>
            <a:lvl8pPr>
              <a:defRPr sz="1050" b="0">
                <a:solidFill>
                  <a:srgbClr val="64756A"/>
                </a:solidFill>
              </a:defRPr>
            </a:lvl8pPr>
            <a:lvl9pPr>
              <a:defRPr sz="1050" b="0">
                <a:solidFill>
                  <a:srgbClr val="64756A"/>
                </a:solidFill>
              </a:defRPr>
            </a:lvl9pPr>
          </a:lstStyle>
          <a:p xmlns:a="http://schemas.openxmlformats.org/drawingml/2006/main">
            <a:pPr>
              <a:defRPr sz="1050" b="0">
                <a:solidFill>
                  <a:srgbClr val="64756A"/>
                </a:solidFill>
              </a:defRPr>
            </a:pPr>
            <a:r>
              <a:rPr sz="1050" b="0">
                <a:solidFill>
                  <a:srgbClr val="64756A"/>
                </a:solidFill>
              </a:rPr>
              <a:t>Sensitive details stay in the request and are not persisted. Precautions remain general planning information.</a:t>
            </a:r>
          </a:p>
        </p:txBody>
      </p:sp>
      <p:sp>
        <p:nvSpPr>
          <p:cNvPr id="15" name="">
            <a:extLst xmlns:a="http://schemas.openxmlformats.org/drawingml/2006/main">
              <a:ext uri="{FF2B5EF4-FFF2-40B4-BE49-F238E27FC236}">
                <a16:creationId xmlns:a16="http://schemas.microsoft.com/office/drawing/2014/main" id="{3AB87795-317C-4400-A173-8FEBD470AD7B}"/>
              </a:ext>
            </a:extLst>
          </p:cNvPr>
          <p:cNvSpPr>
            <a:spLocks xmlns:a="http://schemas.openxmlformats.org/drawingml/2006/main" noGrp="1"/>
          </p:cNvSpPr>
          <p:nvPr/>
        </p:nvSpPr>
        <p:spPr>
          <a:xfrm xmlns:a="http://schemas.openxmlformats.org/drawingml/2006/main">
            <a:off x="685800" y="6429375"/>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64756A"/>
                </a:solidFill>
              </a:defRPr>
            </a:defPPr>
            <a:lvl1pPr>
              <a:defRPr sz="750" b="0">
                <a:solidFill>
                  <a:srgbClr val="64756A"/>
                </a:solidFill>
              </a:defRPr>
            </a:lvl1pPr>
            <a:lvl2pPr>
              <a:defRPr sz="750" b="0">
                <a:solidFill>
                  <a:srgbClr val="64756A"/>
                </a:solidFill>
              </a:defRPr>
            </a:lvl2pPr>
            <a:lvl3pPr>
              <a:defRPr sz="750" b="0">
                <a:solidFill>
                  <a:srgbClr val="64756A"/>
                </a:solidFill>
              </a:defRPr>
            </a:lvl3pPr>
            <a:lvl4pPr>
              <a:defRPr sz="750" b="0">
                <a:solidFill>
                  <a:srgbClr val="64756A"/>
                </a:solidFill>
              </a:defRPr>
            </a:lvl4pPr>
            <a:lvl5pPr>
              <a:defRPr sz="750" b="0">
                <a:solidFill>
                  <a:srgbClr val="64756A"/>
                </a:solidFill>
              </a:defRPr>
            </a:lvl5pPr>
            <a:lvl6pPr>
              <a:defRPr sz="750" b="0">
                <a:solidFill>
                  <a:srgbClr val="64756A"/>
                </a:solidFill>
              </a:defRPr>
            </a:lvl6pPr>
            <a:lvl7pPr>
              <a:defRPr sz="750" b="0">
                <a:solidFill>
                  <a:srgbClr val="64756A"/>
                </a:solidFill>
              </a:defRPr>
            </a:lvl7pPr>
            <a:lvl8pPr>
              <a:defRPr sz="750" b="0">
                <a:solidFill>
                  <a:srgbClr val="64756A"/>
                </a:solidFill>
              </a:defRPr>
            </a:lvl8pPr>
            <a:lvl9pPr>
              <a:defRPr sz="750" b="0">
                <a:solidFill>
                  <a:srgbClr val="64756A"/>
                </a:solidFill>
              </a:defRPr>
            </a:lvl9pPr>
          </a:lstStyle>
          <a:p xmlns:a="http://schemas.openxmlformats.org/drawingml/2006/main">
            <a:pPr>
              <a:defRPr sz="750" b="0">
                <a:solidFill>
                  <a:srgbClr val="64756A"/>
                </a:solidFill>
              </a:defRPr>
            </a:pPr>
            <a:r>
              <a:rPr sz="750" b="0">
                <a:solidFill>
                  <a:srgbClr val="64756A"/>
                </a:solidFill>
              </a:rPr>
              <a:t>GoWise · GeoAI Hackathon 2026</a:t>
            </a:r>
          </a:p>
        </p:txBody>
      </p:sp>
    </p:spTree>
    <p:extLst>
      <p:ext uri="{BB962C8B-B14F-4D97-AF65-F5344CB8AC3E}">
        <p14:creationId xmlns:p14="http://schemas.microsoft.com/office/powerpoint/2010/main" val="1357394783"/>
      </p:ext>
    </p:extLst>
  </p:cSld>
</p:sld>
</file>

<file path=ppt/slides/slide3.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816D630-4491-4A61-A6F2-2E4B694DA0E7}"/>
              </a:ext>
            </a:extLst>
          </p:cNvPr>
          <p:cNvSpPr>
            <a:spLocks xmlns:a="http://schemas.openxmlformats.org/drawingml/2006/main" noGrp="1"/>
          </p:cNvSpPr>
          <p:nvPr/>
        </p:nvSpPr>
        <p:spPr>
          <a:xfrm xmlns:a="http://schemas.openxmlformats.org/drawingml/2006/main">
            <a:off x="685800" y="3810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03</a:t>
            </a:r>
          </a:p>
        </p:txBody>
      </p:sp>
      <p:sp>
        <p:nvSpPr>
          <p:cNvPr id="2" name="">
            <a:extLst xmlns:a="http://schemas.openxmlformats.org/drawingml/2006/main">
              <a:ext uri="{FF2B5EF4-FFF2-40B4-BE49-F238E27FC236}">
                <a16:creationId xmlns:a16="http://schemas.microsoft.com/office/drawing/2014/main" id="{75DD37C7-313B-4A4D-B6A3-A58570CC5C34}"/>
              </a:ext>
            </a:extLst>
          </p:cNvPr>
          <p:cNvSpPr>
            <a:spLocks xmlns:a="http://schemas.openxmlformats.org/drawingml/2006/main" noGrp="1"/>
          </p:cNvSpPr>
          <p:nvPr/>
        </p:nvSpPr>
        <p:spPr>
          <a:xfrm xmlns:a="http://schemas.openxmlformats.org/drawingml/2006/main">
            <a:off x="685800" y="781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850" b="1">
                <a:solidFill>
                  <a:srgbClr val="20392D"/>
                </a:solidFill>
              </a:defRPr>
            </a:defPPr>
            <a:lvl1pPr>
              <a:defRPr sz="2850" b="1">
                <a:solidFill>
                  <a:srgbClr val="20392D"/>
                </a:solidFill>
              </a:defRPr>
            </a:lvl1pPr>
            <a:lvl2pPr>
              <a:defRPr sz="2850" b="1">
                <a:solidFill>
                  <a:srgbClr val="20392D"/>
                </a:solidFill>
              </a:defRPr>
            </a:lvl2pPr>
            <a:lvl3pPr>
              <a:defRPr sz="2850" b="1">
                <a:solidFill>
                  <a:srgbClr val="20392D"/>
                </a:solidFill>
              </a:defRPr>
            </a:lvl3pPr>
            <a:lvl4pPr>
              <a:defRPr sz="2850" b="1">
                <a:solidFill>
                  <a:srgbClr val="20392D"/>
                </a:solidFill>
              </a:defRPr>
            </a:lvl4pPr>
            <a:lvl5pPr>
              <a:defRPr sz="2850" b="1">
                <a:solidFill>
                  <a:srgbClr val="20392D"/>
                </a:solidFill>
              </a:defRPr>
            </a:lvl5pPr>
            <a:lvl6pPr>
              <a:defRPr sz="2850" b="1">
                <a:solidFill>
                  <a:srgbClr val="20392D"/>
                </a:solidFill>
              </a:defRPr>
            </a:lvl6pPr>
            <a:lvl7pPr>
              <a:defRPr sz="2850" b="1">
                <a:solidFill>
                  <a:srgbClr val="20392D"/>
                </a:solidFill>
              </a:defRPr>
            </a:lvl7pPr>
            <a:lvl8pPr>
              <a:defRPr sz="2850" b="1">
                <a:solidFill>
                  <a:srgbClr val="20392D"/>
                </a:solidFill>
              </a:defRPr>
            </a:lvl8pPr>
            <a:lvl9pPr>
              <a:defRPr sz="2850" b="1">
                <a:solidFill>
                  <a:srgbClr val="20392D"/>
                </a:solidFill>
              </a:defRPr>
            </a:lvl9pPr>
          </a:lstStyle>
          <a:p xmlns:a="http://schemas.openxmlformats.org/drawingml/2006/main">
            <a:pPr>
              <a:defRPr sz="2850" b="1">
                <a:solidFill>
                  <a:srgbClr val="20392D"/>
                </a:solidFill>
              </a:defRPr>
            </a:pPr>
            <a:r>
              <a:rPr sz="2850" b="1">
                <a:solidFill>
                  <a:srgbClr val="20392D"/>
                </a:solidFill>
              </a:rPr>
              <a:t>Live data, deterministic ranking</a:t>
            </a:r>
          </a:p>
        </p:txBody>
      </p:sp>
      <p:sp>
        <p:nvSpPr>
          <p:cNvPr id="3" name="">
            <a:extLst xmlns:a="http://schemas.openxmlformats.org/drawingml/2006/main">
              <a:ext uri="{FF2B5EF4-FFF2-40B4-BE49-F238E27FC236}">
                <a16:creationId xmlns:a16="http://schemas.microsoft.com/office/drawing/2014/main" id="{540292E5-7E69-43D4-A28B-FF2829533677}"/>
              </a:ext>
            </a:extLst>
          </p:cNvPr>
          <p:cNvSpPr>
            <a:spLocks xmlns:a="http://schemas.openxmlformats.org/drawingml/2006/main" noGrp="1"/>
          </p:cNvSpPr>
          <p:nvPr/>
        </p:nvSpPr>
        <p:spPr>
          <a:xfrm xmlns:a="http://schemas.openxmlformats.org/drawingml/2006/main">
            <a:off x="685800" y="1381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64756A"/>
                </a:solidFill>
              </a:defRPr>
            </a:defPPr>
            <a:lvl1pPr>
              <a:defRPr sz="1350" b="0">
                <a:solidFill>
                  <a:srgbClr val="64756A"/>
                </a:solidFill>
              </a:defRPr>
            </a:lvl1pPr>
            <a:lvl2pPr>
              <a:defRPr sz="1350" b="0">
                <a:solidFill>
                  <a:srgbClr val="64756A"/>
                </a:solidFill>
              </a:defRPr>
            </a:lvl2pPr>
            <a:lvl3pPr>
              <a:defRPr sz="1350" b="0">
                <a:solidFill>
                  <a:srgbClr val="64756A"/>
                </a:solidFill>
              </a:defRPr>
            </a:lvl3pPr>
            <a:lvl4pPr>
              <a:defRPr sz="1350" b="0">
                <a:solidFill>
                  <a:srgbClr val="64756A"/>
                </a:solidFill>
              </a:defRPr>
            </a:lvl4pPr>
            <a:lvl5pPr>
              <a:defRPr sz="1350" b="0">
                <a:solidFill>
                  <a:srgbClr val="64756A"/>
                </a:solidFill>
              </a:defRPr>
            </a:lvl5pPr>
            <a:lvl6pPr>
              <a:defRPr sz="1350" b="0">
                <a:solidFill>
                  <a:srgbClr val="64756A"/>
                </a:solidFill>
              </a:defRPr>
            </a:lvl6pPr>
            <a:lvl7pPr>
              <a:defRPr sz="1350" b="0">
                <a:solidFill>
                  <a:srgbClr val="64756A"/>
                </a:solidFill>
              </a:defRPr>
            </a:lvl7pPr>
            <a:lvl8pPr>
              <a:defRPr sz="1350" b="0">
                <a:solidFill>
                  <a:srgbClr val="64756A"/>
                </a:solidFill>
              </a:defRPr>
            </a:lvl8pPr>
            <a:lvl9pPr>
              <a:defRPr sz="1350" b="0">
                <a:solidFill>
                  <a:srgbClr val="64756A"/>
                </a:solidFill>
              </a:defRPr>
            </a:lvl9pPr>
          </a:lstStyle>
          <a:p xmlns:a="http://schemas.openxmlformats.org/drawingml/2006/main">
            <a:pPr>
              <a:defRPr sz="1350" b="0">
                <a:solidFill>
                  <a:srgbClr val="64756A"/>
                </a:solidFill>
              </a:defRPr>
            </a:pPr>
            <a:r>
              <a:rPr sz="1350" b="0">
                <a:solidFill>
                  <a:srgbClr val="64756A"/>
                </a:solidFill>
              </a:rPr>
              <a:t>The model parses the request and selects evidence. Code fetches, validates, aligns, and scores.</a:t>
            </a:r>
          </a:p>
        </p:txBody>
      </p:sp>
      <p:sp>
        <p:nvSpPr>
          <p:cNvPr id="4" name="">
            <a:extLst xmlns:a="http://schemas.openxmlformats.org/drawingml/2006/main">
              <a:ext uri="{FF2B5EF4-FFF2-40B4-BE49-F238E27FC236}">
                <a16:creationId xmlns:a16="http://schemas.microsoft.com/office/drawing/2014/main" id="{9D4AA4CC-37B2-4599-B7C4-C60B3F6A8C21}"/>
              </a:ext>
            </a:extLst>
          </p:cNvPr>
          <p:cNvSpPr>
            <a:spLocks xmlns:a="http://schemas.openxmlformats.org/drawingml/2006/main" noGrp="1"/>
          </p:cNvSpPr>
          <p:nvPr/>
        </p:nvSpPr>
        <p:spPr>
          <a:xfrm xmlns:a="http://schemas.openxmlformats.org/drawingml/2006/main">
            <a:off x="685800" y="188595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5" name="">
            <a:extLst xmlns:a="http://schemas.openxmlformats.org/drawingml/2006/main">
              <a:ext uri="{FF2B5EF4-FFF2-40B4-BE49-F238E27FC236}">
                <a16:creationId xmlns:a16="http://schemas.microsoft.com/office/drawing/2014/main" id="{C451462D-5F3C-46BB-881E-33D3067D2799}"/>
              </a:ext>
            </a:extLst>
          </p:cNvPr>
          <p:cNvSpPr>
            <a:spLocks xmlns:a="http://schemas.openxmlformats.org/drawingml/2006/main" noGrp="1"/>
          </p:cNvSpPr>
          <p:nvPr/>
        </p:nvSpPr>
        <p:spPr>
          <a:xfrm xmlns:a="http://schemas.openxmlformats.org/drawingml/2006/main">
            <a:off x="685800" y="2533650"/>
            <a:ext cx="20955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6" name="">
            <a:extLst xmlns:a="http://schemas.openxmlformats.org/drawingml/2006/main">
              <a:ext uri="{FF2B5EF4-FFF2-40B4-BE49-F238E27FC236}">
                <a16:creationId xmlns:a16="http://schemas.microsoft.com/office/drawing/2014/main" id="{6B6F9BBA-8F98-4073-95AE-E2D7AA544DA6}"/>
              </a:ext>
            </a:extLst>
          </p:cNvPr>
          <p:cNvSpPr>
            <a:spLocks xmlns:a="http://schemas.openxmlformats.org/drawingml/2006/main" noGrp="1"/>
          </p:cNvSpPr>
          <p:nvPr/>
        </p:nvSpPr>
        <p:spPr>
          <a:xfrm xmlns:a="http://schemas.openxmlformats.org/drawingml/2006/main">
            <a:off x="857250" y="2724150"/>
            <a:ext cx="1752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QUESTION</a:t>
            </a:r>
          </a:p>
        </p:txBody>
      </p:sp>
      <p:sp>
        <p:nvSpPr>
          <p:cNvPr id="7" name="">
            <a:extLst xmlns:a="http://schemas.openxmlformats.org/drawingml/2006/main">
              <a:ext uri="{FF2B5EF4-FFF2-40B4-BE49-F238E27FC236}">
                <a16:creationId xmlns:a16="http://schemas.microsoft.com/office/drawing/2014/main" id="{E9967641-EC0A-4FC9-8E4D-F3D38D5B8372}"/>
              </a:ext>
            </a:extLst>
          </p:cNvPr>
          <p:cNvSpPr>
            <a:spLocks xmlns:a="http://schemas.openxmlformats.org/drawingml/2006/main" noGrp="1"/>
          </p:cNvSpPr>
          <p:nvPr/>
        </p:nvSpPr>
        <p:spPr>
          <a:xfrm xmlns:a="http://schemas.openxmlformats.org/drawingml/2006/main">
            <a:off x="857250" y="3143250"/>
            <a:ext cx="1752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Explicit place,</a:t>
            </a:r>
          </a:p>
          <a:p xmlns:a="http://schemas.openxmlformats.org/drawingml/2006/main">
            <a:pPr>
              <a:defRPr sz="1425" b="1">
                <a:solidFill>
                  <a:srgbClr val="20392D"/>
                </a:solidFill>
              </a:defRPr>
            </a:pPr>
            <a:r>
              <a:rPr sz="1425" b="1">
                <a:solidFill>
                  <a:srgbClr val="20392D"/>
                </a:solidFill>
              </a:rPr>
              <a:t>activity, time</a:t>
            </a:r>
          </a:p>
        </p:txBody>
      </p:sp>
      <p:sp>
        <p:nvSpPr>
          <p:cNvPr id="8" name="">
            <a:extLst xmlns:a="http://schemas.openxmlformats.org/drawingml/2006/main">
              <a:ext uri="{FF2B5EF4-FFF2-40B4-BE49-F238E27FC236}">
                <a16:creationId xmlns:a16="http://schemas.microsoft.com/office/drawing/2014/main" id="{CB56EC85-E1F8-4692-A0C1-E25DAF3D0C81}"/>
              </a:ext>
            </a:extLst>
          </p:cNvPr>
          <p:cNvSpPr>
            <a:spLocks xmlns:a="http://schemas.openxmlformats.org/drawingml/2006/main" noGrp="1"/>
          </p:cNvSpPr>
          <p:nvPr/>
        </p:nvSpPr>
        <p:spPr>
          <a:xfrm xmlns:a="http://schemas.openxmlformats.org/drawingml/2006/main">
            <a:off x="3143250" y="2533650"/>
            <a:ext cx="219075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9" name="">
            <a:extLst xmlns:a="http://schemas.openxmlformats.org/drawingml/2006/main">
              <a:ext uri="{FF2B5EF4-FFF2-40B4-BE49-F238E27FC236}">
                <a16:creationId xmlns:a16="http://schemas.microsoft.com/office/drawing/2014/main" id="{D0919592-720B-4A18-B000-645A3C894095}"/>
              </a:ext>
            </a:extLst>
          </p:cNvPr>
          <p:cNvSpPr>
            <a:spLocks xmlns:a="http://schemas.openxmlformats.org/drawingml/2006/main" noGrp="1"/>
          </p:cNvSpPr>
          <p:nvPr/>
        </p:nvSpPr>
        <p:spPr>
          <a:xfrm xmlns:a="http://schemas.openxmlformats.org/drawingml/2006/main">
            <a:off x="3314700" y="2724150"/>
            <a:ext cx="1847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LOCAL SLM</a:t>
            </a:r>
          </a:p>
        </p:txBody>
      </p:sp>
      <p:sp>
        <p:nvSpPr>
          <p:cNvPr id="10" name="">
            <a:extLst xmlns:a="http://schemas.openxmlformats.org/drawingml/2006/main">
              <a:ext uri="{FF2B5EF4-FFF2-40B4-BE49-F238E27FC236}">
                <a16:creationId xmlns:a16="http://schemas.microsoft.com/office/drawing/2014/main" id="{DA8BE3FB-3577-4E58-AACA-80787E8DE39C}"/>
              </a:ext>
            </a:extLst>
          </p:cNvPr>
          <p:cNvSpPr>
            <a:spLocks xmlns:a="http://schemas.openxmlformats.org/drawingml/2006/main" noGrp="1"/>
          </p:cNvSpPr>
          <p:nvPr/>
        </p:nvSpPr>
        <p:spPr>
          <a:xfrm xmlns:a="http://schemas.openxmlformats.org/drawingml/2006/main">
            <a:off x="3314700" y="3143250"/>
            <a:ext cx="1847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Qwen 2.5 1.5B</a:t>
            </a:r>
          </a:p>
          <a:p xmlns:a="http://schemas.openxmlformats.org/drawingml/2006/main">
            <a:pPr>
              <a:defRPr sz="1425" b="1">
                <a:solidFill>
                  <a:srgbClr val="20392D"/>
                </a:solidFill>
              </a:defRPr>
            </a:pPr>
            <a:r>
              <a:rPr sz="1425" b="1">
                <a:solidFill>
                  <a:srgbClr val="20392D"/>
                </a:solidFill>
              </a:rPr>
              <a:t>field extraction</a:t>
            </a:r>
          </a:p>
        </p:txBody>
      </p:sp>
      <p:sp>
        <p:nvSpPr>
          <p:cNvPr id="11" name="">
            <a:extLst xmlns:a="http://schemas.openxmlformats.org/drawingml/2006/main">
              <a:ext uri="{FF2B5EF4-FFF2-40B4-BE49-F238E27FC236}">
                <a16:creationId xmlns:a16="http://schemas.microsoft.com/office/drawing/2014/main" id="{DC888BB2-49C9-4C9B-8FFA-E4642172B1AB}"/>
              </a:ext>
            </a:extLst>
          </p:cNvPr>
          <p:cNvSpPr>
            <a:spLocks xmlns:a="http://schemas.openxmlformats.org/drawingml/2006/main" noGrp="1"/>
          </p:cNvSpPr>
          <p:nvPr/>
        </p:nvSpPr>
        <p:spPr>
          <a:xfrm xmlns:a="http://schemas.openxmlformats.org/drawingml/2006/main">
            <a:off x="5695950" y="2533650"/>
            <a:ext cx="257175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12" name="">
            <a:extLst xmlns:a="http://schemas.openxmlformats.org/drawingml/2006/main">
              <a:ext uri="{FF2B5EF4-FFF2-40B4-BE49-F238E27FC236}">
                <a16:creationId xmlns:a16="http://schemas.microsoft.com/office/drawing/2014/main" id="{34B0C24E-3FC3-4A66-958E-3EE94C609AF7}"/>
              </a:ext>
            </a:extLst>
          </p:cNvPr>
          <p:cNvSpPr>
            <a:spLocks xmlns:a="http://schemas.openxmlformats.org/drawingml/2006/main" noGrp="1"/>
          </p:cNvSpPr>
          <p:nvPr/>
        </p:nvSpPr>
        <p:spPr>
          <a:xfrm xmlns:a="http://schemas.openxmlformats.org/drawingml/2006/main">
            <a:off x="5867400" y="2724150"/>
            <a:ext cx="2228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OPEN PROVIDERS</a:t>
            </a:r>
          </a:p>
        </p:txBody>
      </p:sp>
      <p:sp>
        <p:nvSpPr>
          <p:cNvPr id="13" name="">
            <a:extLst xmlns:a="http://schemas.openxmlformats.org/drawingml/2006/main">
              <a:ext uri="{FF2B5EF4-FFF2-40B4-BE49-F238E27FC236}">
                <a16:creationId xmlns:a16="http://schemas.microsoft.com/office/drawing/2014/main" id="{293AA799-080E-4D05-A3D0-E08AC31274C3}"/>
              </a:ext>
            </a:extLst>
          </p:cNvPr>
          <p:cNvSpPr>
            <a:spLocks xmlns:a="http://schemas.openxmlformats.org/drawingml/2006/main" noGrp="1"/>
          </p:cNvSpPr>
          <p:nvPr/>
        </p:nvSpPr>
        <p:spPr>
          <a:xfrm xmlns:a="http://schemas.openxmlformats.org/drawingml/2006/main">
            <a:off x="5867400" y="3143250"/>
            <a:ext cx="2228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Nominatim + Overpass</a:t>
            </a:r>
          </a:p>
          <a:p xmlns:a="http://schemas.openxmlformats.org/drawingml/2006/main">
            <a:pPr>
              <a:defRPr sz="1425" b="1">
                <a:solidFill>
                  <a:srgbClr val="20392D"/>
                </a:solidFill>
              </a:defRPr>
            </a:pPr>
            <a:r>
              <a:rPr sz="1425" b="1">
                <a:solidFill>
                  <a:srgbClr val="20392D"/>
                </a:solidFill>
              </a:rPr>
              <a:t>Open-Meteo forecast + AQ</a:t>
            </a:r>
          </a:p>
        </p:txBody>
      </p:sp>
      <p:sp>
        <p:nvSpPr>
          <p:cNvPr id="14" name="">
            <a:extLst xmlns:a="http://schemas.openxmlformats.org/drawingml/2006/main">
              <a:ext uri="{FF2B5EF4-FFF2-40B4-BE49-F238E27FC236}">
                <a16:creationId xmlns:a16="http://schemas.microsoft.com/office/drawing/2014/main" id="{435E9FAA-C0C7-4C9E-A703-A598237B317C}"/>
              </a:ext>
            </a:extLst>
          </p:cNvPr>
          <p:cNvSpPr>
            <a:spLocks xmlns:a="http://schemas.openxmlformats.org/drawingml/2006/main" noGrp="1"/>
          </p:cNvSpPr>
          <p:nvPr/>
        </p:nvSpPr>
        <p:spPr>
          <a:xfrm xmlns:a="http://schemas.openxmlformats.org/drawingml/2006/main">
            <a:off x="8629650" y="2533650"/>
            <a:ext cx="28575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9525">
            <a:solidFill>
              <a:srgbClr val="B8C8BA"/>
            </a:solidFill>
            <a:prstDash val="solid"/>
          </a:ln>
        </p:spPr>
      </p:sp>
      <p:sp>
        <p:nvSpPr>
          <p:cNvPr id="15" name="">
            <a:extLst xmlns:a="http://schemas.openxmlformats.org/drawingml/2006/main">
              <a:ext uri="{FF2B5EF4-FFF2-40B4-BE49-F238E27FC236}">
                <a16:creationId xmlns:a16="http://schemas.microsoft.com/office/drawing/2014/main" id="{0E9A59A5-405F-4DBF-A8AE-A01D8874AFEF}"/>
              </a:ext>
            </a:extLst>
          </p:cNvPr>
          <p:cNvSpPr>
            <a:spLocks xmlns:a="http://schemas.openxmlformats.org/drawingml/2006/main" noGrp="1"/>
          </p:cNvSpPr>
          <p:nvPr/>
        </p:nvSpPr>
        <p:spPr>
          <a:xfrm xmlns:a="http://schemas.openxmlformats.org/drawingml/2006/main">
            <a:off x="8801100" y="2724150"/>
            <a:ext cx="2514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DECISION ENGINE</a:t>
            </a:r>
          </a:p>
        </p:txBody>
      </p:sp>
      <p:sp>
        <p:nvSpPr>
          <p:cNvPr id="16" name="">
            <a:extLst xmlns:a="http://schemas.openxmlformats.org/drawingml/2006/main">
              <a:ext uri="{FF2B5EF4-FFF2-40B4-BE49-F238E27FC236}">
                <a16:creationId xmlns:a16="http://schemas.microsoft.com/office/drawing/2014/main" id="{80E25466-78A0-485A-9D78-F92584EBDDAA}"/>
              </a:ext>
            </a:extLst>
          </p:cNvPr>
          <p:cNvSpPr>
            <a:spLocks xmlns:a="http://schemas.openxmlformats.org/drawingml/2006/main" noGrp="1"/>
          </p:cNvSpPr>
          <p:nvPr/>
        </p:nvSpPr>
        <p:spPr>
          <a:xfrm xmlns:a="http://schemas.openxmlformats.org/drawingml/2006/main">
            <a:off x="8801100" y="3143250"/>
            <a:ext cx="2514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20392D"/>
                </a:solidFill>
              </a:defRPr>
            </a:defPPr>
            <a:lvl1pPr>
              <a:defRPr sz="1425" b="1">
                <a:solidFill>
                  <a:srgbClr val="20392D"/>
                </a:solidFill>
              </a:defRPr>
            </a:lvl1pPr>
            <a:lvl2pPr>
              <a:defRPr sz="1425" b="1">
                <a:solidFill>
                  <a:srgbClr val="20392D"/>
                </a:solidFill>
              </a:defRPr>
            </a:lvl2pPr>
            <a:lvl3pPr>
              <a:defRPr sz="1425" b="1">
                <a:solidFill>
                  <a:srgbClr val="20392D"/>
                </a:solidFill>
              </a:defRPr>
            </a:lvl3pPr>
            <a:lvl4pPr>
              <a:defRPr sz="1425" b="1">
                <a:solidFill>
                  <a:srgbClr val="20392D"/>
                </a:solidFill>
              </a:defRPr>
            </a:lvl4pPr>
            <a:lvl5pPr>
              <a:defRPr sz="1425" b="1">
                <a:solidFill>
                  <a:srgbClr val="20392D"/>
                </a:solidFill>
              </a:defRPr>
            </a:lvl5pPr>
            <a:lvl6pPr>
              <a:defRPr sz="1425" b="1">
                <a:solidFill>
                  <a:srgbClr val="20392D"/>
                </a:solidFill>
              </a:defRPr>
            </a:lvl6pPr>
            <a:lvl7pPr>
              <a:defRPr sz="1425" b="1">
                <a:solidFill>
                  <a:srgbClr val="20392D"/>
                </a:solidFill>
              </a:defRPr>
            </a:lvl7pPr>
            <a:lvl8pPr>
              <a:defRPr sz="1425" b="1">
                <a:solidFill>
                  <a:srgbClr val="20392D"/>
                </a:solidFill>
              </a:defRPr>
            </a:lvl8pPr>
            <a:lvl9pPr>
              <a:defRPr sz="1425" b="1">
                <a:solidFill>
                  <a:srgbClr val="20392D"/>
                </a:solidFill>
              </a:defRPr>
            </a:lvl9pPr>
          </a:lstStyle>
          <a:p xmlns:a="http://schemas.openxmlformats.org/drawingml/2006/main">
            <a:pPr>
              <a:defRPr sz="1425" b="1">
                <a:solidFill>
                  <a:srgbClr val="20392D"/>
                </a:solidFill>
              </a:defRPr>
            </a:pPr>
            <a:r>
              <a:rPr sz="1425" b="1">
                <a:solidFill>
                  <a:srgbClr val="20392D"/>
                </a:solidFill>
              </a:rPr>
              <a:t>Venue tags + hourly data</a:t>
            </a:r>
          </a:p>
          <a:p xmlns:a="http://schemas.openxmlformats.org/drawingml/2006/main">
            <a:pPr>
              <a:defRPr sz="1425" b="1">
                <a:solidFill>
                  <a:srgbClr val="20392D"/>
                </a:solidFill>
              </a:defRPr>
            </a:pPr>
            <a:r>
              <a:rPr sz="1425" b="1">
                <a:solidFill>
                  <a:srgbClr val="20392D"/>
                </a:solidFill>
              </a:rPr>
              <a:t>Heuristic score + evidence</a:t>
            </a:r>
          </a:p>
        </p:txBody>
      </p:sp>
      <p:sp>
        <p:nvSpPr>
          <p:cNvPr id="17" name="">
            <a:extLst xmlns:a="http://schemas.openxmlformats.org/drawingml/2006/main">
              <a:ext uri="{FF2B5EF4-FFF2-40B4-BE49-F238E27FC236}">
                <a16:creationId xmlns:a16="http://schemas.microsoft.com/office/drawing/2014/main" id="{B4274F52-9ACE-4780-A1C4-C57038E503B6}"/>
              </a:ext>
            </a:extLst>
          </p:cNvPr>
          <p:cNvSpPr>
            <a:spLocks xmlns:a="http://schemas.openxmlformats.org/drawingml/2006/main" noGrp="1"/>
          </p:cNvSpPr>
          <p:nvPr/>
        </p:nvSpPr>
        <p:spPr>
          <a:xfrm xmlns:a="http://schemas.openxmlformats.org/drawingml/2006/main">
            <a:off x="2876550" y="3314700"/>
            <a:ext cx="152400"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18" name="">
            <a:extLst xmlns:a="http://schemas.openxmlformats.org/drawingml/2006/main">
              <a:ext uri="{FF2B5EF4-FFF2-40B4-BE49-F238E27FC236}">
                <a16:creationId xmlns:a16="http://schemas.microsoft.com/office/drawing/2014/main" id="{5CB3D1C7-1532-490E-BF12-E428CC393029}"/>
              </a:ext>
            </a:extLst>
          </p:cNvPr>
          <p:cNvSpPr>
            <a:spLocks xmlns:a="http://schemas.openxmlformats.org/drawingml/2006/main" noGrp="1"/>
          </p:cNvSpPr>
          <p:nvPr/>
        </p:nvSpPr>
        <p:spPr>
          <a:xfrm xmlns:a="http://schemas.openxmlformats.org/drawingml/2006/main">
            <a:off x="5429250" y="3314700"/>
            <a:ext cx="152400"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19" name="">
            <a:extLst xmlns:a="http://schemas.openxmlformats.org/drawingml/2006/main">
              <a:ext uri="{FF2B5EF4-FFF2-40B4-BE49-F238E27FC236}">
                <a16:creationId xmlns:a16="http://schemas.microsoft.com/office/drawing/2014/main" id="{C1736609-28D0-4EBA-9328-C83A72B84EC4}"/>
              </a:ext>
            </a:extLst>
          </p:cNvPr>
          <p:cNvSpPr>
            <a:spLocks xmlns:a="http://schemas.openxmlformats.org/drawingml/2006/main" noGrp="1"/>
          </p:cNvSpPr>
          <p:nvPr/>
        </p:nvSpPr>
        <p:spPr>
          <a:xfrm xmlns:a="http://schemas.openxmlformats.org/drawingml/2006/main">
            <a:off x="8362950" y="3314700"/>
            <a:ext cx="152400" cy="0"/>
          </a:xfrm>
          <a:prstGeom xmlns:a="http://schemas.openxmlformats.org/drawingml/2006/main" prst="line">
            <a:avLst/>
          </a:prstGeom>
          <a:noFill xmlns:a="http://schemas.openxmlformats.org/drawingml/2006/main"/>
          <a:ln xmlns:a="http://schemas.openxmlformats.org/drawingml/2006/main" w="28575">
            <a:solidFill>
              <a:srgbClr val="2E6B4A"/>
            </a:solidFill>
            <a:prstDash val="solid"/>
          </a:ln>
        </p:spPr>
      </p:sp>
      <p:sp>
        <p:nvSpPr>
          <p:cNvPr id="20" name="">
            <a:extLst xmlns:a="http://schemas.openxmlformats.org/drawingml/2006/main">
              <a:ext uri="{FF2B5EF4-FFF2-40B4-BE49-F238E27FC236}">
                <a16:creationId xmlns:a16="http://schemas.microsoft.com/office/drawing/2014/main" id="{677D35B2-F6F0-4187-9620-83C250093773}"/>
              </a:ext>
            </a:extLst>
          </p:cNvPr>
          <p:cNvSpPr>
            <a:spLocks xmlns:a="http://schemas.openxmlformats.org/drawingml/2006/main" noGrp="1"/>
          </p:cNvSpPr>
          <p:nvPr/>
        </p:nvSpPr>
        <p:spPr>
          <a:xfrm xmlns:a="http://schemas.openxmlformats.org/drawingml/2006/main">
            <a:off x="10058400" y="4286250"/>
            <a:ext cx="0" cy="666750"/>
          </a:xfrm>
          <a:prstGeom xmlns:a="http://schemas.openxmlformats.org/drawingml/2006/main" prst="line">
            <a:avLst/>
          </a:prstGeom>
          <a:noFill xmlns:a="http://schemas.openxmlformats.org/drawingml/2006/main"/>
          <a:ln xmlns:a="http://schemas.openxmlformats.org/drawingml/2006/main" w="19050">
            <a:solidFill>
              <a:srgbClr val="2E6B4A"/>
            </a:solidFill>
            <a:prstDash val="solid"/>
          </a:ln>
        </p:spPr>
      </p:sp>
      <p:sp>
        <p:nvSpPr>
          <p:cNvPr id="21" name="">
            <a:extLst xmlns:a="http://schemas.openxmlformats.org/drawingml/2006/main">
              <a:ext uri="{FF2B5EF4-FFF2-40B4-BE49-F238E27FC236}">
                <a16:creationId xmlns:a16="http://schemas.microsoft.com/office/drawing/2014/main" id="{41A6ACEB-FB95-41D3-8D29-49F8271EFDC3}"/>
              </a:ext>
            </a:extLst>
          </p:cNvPr>
          <p:cNvSpPr>
            <a:spLocks xmlns:a="http://schemas.openxmlformats.org/drawingml/2006/main" noGrp="1"/>
          </p:cNvSpPr>
          <p:nvPr/>
        </p:nvSpPr>
        <p:spPr>
          <a:xfrm xmlns:a="http://schemas.openxmlformats.org/drawingml/2006/main">
            <a:off x="8858250" y="5010150"/>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RESULT</a:t>
            </a:r>
          </a:p>
        </p:txBody>
      </p:sp>
      <p:sp>
        <p:nvSpPr>
          <p:cNvPr id="22" name="">
            <a:extLst xmlns:a="http://schemas.openxmlformats.org/drawingml/2006/main">
              <a:ext uri="{FF2B5EF4-FFF2-40B4-BE49-F238E27FC236}">
                <a16:creationId xmlns:a16="http://schemas.microsoft.com/office/drawing/2014/main" id="{38AE6FF3-61E8-4FF8-9D22-0DC9C3F9880F}"/>
              </a:ext>
            </a:extLst>
          </p:cNvPr>
          <p:cNvSpPr>
            <a:spLocks xmlns:a="http://schemas.openxmlformats.org/drawingml/2006/main" noGrp="1"/>
          </p:cNvSpPr>
          <p:nvPr/>
        </p:nvSpPr>
        <p:spPr>
          <a:xfrm xmlns:a="http://schemas.openxmlformats.org/drawingml/2006/main">
            <a:off x="8858250" y="5314950"/>
            <a:ext cx="266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20392D"/>
                </a:solidFill>
              </a:defRPr>
            </a:defPPr>
            <a:lvl1pPr>
              <a:defRPr sz="1350" b="1">
                <a:solidFill>
                  <a:srgbClr val="20392D"/>
                </a:solidFill>
              </a:defRPr>
            </a:lvl1pPr>
            <a:lvl2pPr>
              <a:defRPr sz="1350" b="1">
                <a:solidFill>
                  <a:srgbClr val="20392D"/>
                </a:solidFill>
              </a:defRPr>
            </a:lvl2pPr>
            <a:lvl3pPr>
              <a:defRPr sz="1350" b="1">
                <a:solidFill>
                  <a:srgbClr val="20392D"/>
                </a:solidFill>
              </a:defRPr>
            </a:lvl3pPr>
            <a:lvl4pPr>
              <a:defRPr sz="1350" b="1">
                <a:solidFill>
                  <a:srgbClr val="20392D"/>
                </a:solidFill>
              </a:defRPr>
            </a:lvl4pPr>
            <a:lvl5pPr>
              <a:defRPr sz="1350" b="1">
                <a:solidFill>
                  <a:srgbClr val="20392D"/>
                </a:solidFill>
              </a:defRPr>
            </a:lvl5pPr>
            <a:lvl6pPr>
              <a:defRPr sz="1350" b="1">
                <a:solidFill>
                  <a:srgbClr val="20392D"/>
                </a:solidFill>
              </a:defRPr>
            </a:lvl6pPr>
            <a:lvl7pPr>
              <a:defRPr sz="1350" b="1">
                <a:solidFill>
                  <a:srgbClr val="20392D"/>
                </a:solidFill>
              </a:defRPr>
            </a:lvl7pPr>
            <a:lvl8pPr>
              <a:defRPr sz="1350" b="1">
                <a:solidFill>
                  <a:srgbClr val="20392D"/>
                </a:solidFill>
              </a:defRPr>
            </a:lvl8pPr>
            <a:lvl9pPr>
              <a:defRPr sz="1350" b="1">
                <a:solidFill>
                  <a:srgbClr val="20392D"/>
                </a:solidFill>
              </a:defRPr>
            </a:lvl9pPr>
          </a:lstStyle>
          <a:p xmlns:a="http://schemas.openxmlformats.org/drawingml/2006/main">
            <a:pPr>
              <a:defRPr sz="1350" b="1">
                <a:solidFill>
                  <a:srgbClr val="20392D"/>
                </a:solidFill>
              </a:defRPr>
            </a:pPr>
            <a:r>
              <a:rPr sz="1350" b="1">
                <a:solidFill>
                  <a:srgbClr val="20392D"/>
                </a:solidFill>
              </a:rPr>
              <a:t>Ranked place / hour options</a:t>
            </a:r>
          </a:p>
          <a:p xmlns:a="http://schemas.openxmlformats.org/drawingml/2006/main">
            <a:pPr>
              <a:defRPr sz="1350" b="1">
                <a:solidFill>
                  <a:srgbClr val="20392D"/>
                </a:solidFill>
              </a:defRPr>
            </a:pPr>
            <a:r>
              <a:rPr sz="1350" b="1">
                <a:solidFill>
                  <a:srgbClr val="20392D"/>
                </a:solidFill>
              </a:rPr>
              <a:t>Map pins · source facts · warnings</a:t>
            </a:r>
          </a:p>
        </p:txBody>
      </p:sp>
      <p:sp>
        <p:nvSpPr>
          <p:cNvPr id="23" name="">
            <a:extLst xmlns:a="http://schemas.openxmlformats.org/drawingml/2006/main">
              <a:ext uri="{FF2B5EF4-FFF2-40B4-BE49-F238E27FC236}">
                <a16:creationId xmlns:a16="http://schemas.microsoft.com/office/drawing/2014/main" id="{81CAE535-59E8-49CA-89AE-D3E277AB7CBC}"/>
              </a:ext>
            </a:extLst>
          </p:cNvPr>
          <p:cNvSpPr>
            <a:spLocks xmlns:a="http://schemas.openxmlformats.org/drawingml/2006/main" noGrp="1"/>
          </p:cNvSpPr>
          <p:nvPr/>
        </p:nvSpPr>
        <p:spPr>
          <a:xfrm xmlns:a="http://schemas.openxmlformats.org/drawingml/2006/main">
            <a:off x="685800" y="5619750"/>
            <a:ext cx="7524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125" b="0">
                <a:solidFill>
                  <a:srgbClr val="64756A"/>
                </a:solidFill>
              </a:defRPr>
            </a:defPPr>
            <a:lvl1pPr>
              <a:defRPr sz="1125" b="0">
                <a:solidFill>
                  <a:srgbClr val="64756A"/>
                </a:solidFill>
              </a:defRPr>
            </a:lvl1pPr>
            <a:lvl2pPr>
              <a:defRPr sz="1125" b="0">
                <a:solidFill>
                  <a:srgbClr val="64756A"/>
                </a:solidFill>
              </a:defRPr>
            </a:lvl2pPr>
            <a:lvl3pPr>
              <a:defRPr sz="1125" b="0">
                <a:solidFill>
                  <a:srgbClr val="64756A"/>
                </a:solidFill>
              </a:defRPr>
            </a:lvl3pPr>
            <a:lvl4pPr>
              <a:defRPr sz="1125" b="0">
                <a:solidFill>
                  <a:srgbClr val="64756A"/>
                </a:solidFill>
              </a:defRPr>
            </a:lvl4pPr>
            <a:lvl5pPr>
              <a:defRPr sz="1125" b="0">
                <a:solidFill>
                  <a:srgbClr val="64756A"/>
                </a:solidFill>
              </a:defRPr>
            </a:lvl5pPr>
            <a:lvl6pPr>
              <a:defRPr sz="1125" b="0">
                <a:solidFill>
                  <a:srgbClr val="64756A"/>
                </a:solidFill>
              </a:defRPr>
            </a:lvl6pPr>
            <a:lvl7pPr>
              <a:defRPr sz="1125" b="0">
                <a:solidFill>
                  <a:srgbClr val="64756A"/>
                </a:solidFill>
              </a:defRPr>
            </a:lvl7pPr>
            <a:lvl8pPr>
              <a:defRPr sz="1125" b="0">
                <a:solidFill>
                  <a:srgbClr val="64756A"/>
                </a:solidFill>
              </a:defRPr>
            </a:lvl8pPr>
            <a:lvl9pPr>
              <a:defRPr sz="1125" b="0">
                <a:solidFill>
                  <a:srgbClr val="64756A"/>
                </a:solidFill>
              </a:defRPr>
            </a:lvl9pPr>
          </a:lstStyle>
          <a:p xmlns:a="http://schemas.openxmlformats.org/drawingml/2006/main">
            <a:pPr>
              <a:defRPr sz="1125" b="0">
                <a:solidFill>
                  <a:srgbClr val="64756A"/>
                </a:solidFill>
              </a:defRPr>
            </a:pPr>
            <a:r>
              <a:rPr sz="1125" b="0">
                <a:solidFill>
                  <a:srgbClr val="64756A"/>
                </a:solidFill>
              </a:rPr>
              <a:t>Provider requests are bounded and cached. No hosted inference API supplies the runtime answer.</a:t>
            </a:r>
          </a:p>
        </p:txBody>
      </p:sp>
      <p:sp>
        <p:nvSpPr>
          <p:cNvPr id="24" name="">
            <a:extLst xmlns:a="http://schemas.openxmlformats.org/drawingml/2006/main">
              <a:ext uri="{FF2B5EF4-FFF2-40B4-BE49-F238E27FC236}">
                <a16:creationId xmlns:a16="http://schemas.microsoft.com/office/drawing/2014/main" id="{E8A164BC-5AB7-4D7A-8570-124AD0C73610}"/>
              </a:ext>
            </a:extLst>
          </p:cNvPr>
          <p:cNvSpPr>
            <a:spLocks xmlns:a="http://schemas.openxmlformats.org/drawingml/2006/main" noGrp="1"/>
          </p:cNvSpPr>
          <p:nvPr/>
        </p:nvSpPr>
        <p:spPr>
          <a:xfrm xmlns:a="http://schemas.openxmlformats.org/drawingml/2006/main">
            <a:off x="685800" y="6429375"/>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64756A"/>
                </a:solidFill>
              </a:defRPr>
            </a:defPPr>
            <a:lvl1pPr>
              <a:defRPr sz="750" b="0">
                <a:solidFill>
                  <a:srgbClr val="64756A"/>
                </a:solidFill>
              </a:defRPr>
            </a:lvl1pPr>
            <a:lvl2pPr>
              <a:defRPr sz="750" b="0">
                <a:solidFill>
                  <a:srgbClr val="64756A"/>
                </a:solidFill>
              </a:defRPr>
            </a:lvl2pPr>
            <a:lvl3pPr>
              <a:defRPr sz="750" b="0">
                <a:solidFill>
                  <a:srgbClr val="64756A"/>
                </a:solidFill>
              </a:defRPr>
            </a:lvl3pPr>
            <a:lvl4pPr>
              <a:defRPr sz="750" b="0">
                <a:solidFill>
                  <a:srgbClr val="64756A"/>
                </a:solidFill>
              </a:defRPr>
            </a:lvl4pPr>
            <a:lvl5pPr>
              <a:defRPr sz="750" b="0">
                <a:solidFill>
                  <a:srgbClr val="64756A"/>
                </a:solidFill>
              </a:defRPr>
            </a:lvl5pPr>
            <a:lvl6pPr>
              <a:defRPr sz="750" b="0">
                <a:solidFill>
                  <a:srgbClr val="64756A"/>
                </a:solidFill>
              </a:defRPr>
            </a:lvl6pPr>
            <a:lvl7pPr>
              <a:defRPr sz="750" b="0">
                <a:solidFill>
                  <a:srgbClr val="64756A"/>
                </a:solidFill>
              </a:defRPr>
            </a:lvl7pPr>
            <a:lvl8pPr>
              <a:defRPr sz="750" b="0">
                <a:solidFill>
                  <a:srgbClr val="64756A"/>
                </a:solidFill>
              </a:defRPr>
            </a:lvl8pPr>
            <a:lvl9pPr>
              <a:defRPr sz="750" b="0">
                <a:solidFill>
                  <a:srgbClr val="64756A"/>
                </a:solidFill>
              </a:defRPr>
            </a:lvl9pPr>
          </a:lstStyle>
          <a:p xmlns:a="http://schemas.openxmlformats.org/drawingml/2006/main">
            <a:pPr>
              <a:defRPr sz="750" b="0">
                <a:solidFill>
                  <a:srgbClr val="64756A"/>
                </a:solidFill>
              </a:defRPr>
            </a:pPr>
            <a:r>
              <a:rPr sz="750" b="0">
                <a:solidFill>
                  <a:srgbClr val="64756A"/>
                </a:solidFill>
              </a:rPr>
              <a:t>GoWise · GeoAI Hackathon 2026</a:t>
            </a:r>
          </a:p>
        </p:txBody>
      </p:sp>
    </p:spTree>
    <p:extLst>
      <p:ext uri="{BB962C8B-B14F-4D97-AF65-F5344CB8AC3E}">
        <p14:creationId xmlns:p14="http://schemas.microsoft.com/office/powerpoint/2010/main" val="1692523861"/>
      </p:ext>
    </p:extLst>
  </p:cSld>
</p:sld>
</file>

<file path=ppt/slides/slide4.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55D08C0-FE29-4580-A923-73FDBA13D0C1}"/>
              </a:ext>
            </a:extLst>
          </p:cNvPr>
          <p:cNvSpPr>
            <a:spLocks xmlns:a="http://schemas.openxmlformats.org/drawingml/2006/main" noGrp="1"/>
          </p:cNvSpPr>
          <p:nvPr/>
        </p:nvSpPr>
        <p:spPr>
          <a:xfrm xmlns:a="http://schemas.openxmlformats.org/drawingml/2006/main">
            <a:off x="685800" y="3810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050" b="1">
                <a:solidFill>
                  <a:srgbClr val="2E6B4A"/>
                </a:solidFill>
              </a:defRPr>
            </a:defPPr>
            <a:lvl1pPr>
              <a:defRPr sz="1050" b="1">
                <a:solidFill>
                  <a:srgbClr val="2E6B4A"/>
                </a:solidFill>
              </a:defRPr>
            </a:lvl1pPr>
            <a:lvl2pPr>
              <a:defRPr sz="1050" b="1">
                <a:solidFill>
                  <a:srgbClr val="2E6B4A"/>
                </a:solidFill>
              </a:defRPr>
            </a:lvl2pPr>
            <a:lvl3pPr>
              <a:defRPr sz="1050" b="1">
                <a:solidFill>
                  <a:srgbClr val="2E6B4A"/>
                </a:solidFill>
              </a:defRPr>
            </a:lvl3pPr>
            <a:lvl4pPr>
              <a:defRPr sz="1050" b="1">
                <a:solidFill>
                  <a:srgbClr val="2E6B4A"/>
                </a:solidFill>
              </a:defRPr>
            </a:lvl4pPr>
            <a:lvl5pPr>
              <a:defRPr sz="1050" b="1">
                <a:solidFill>
                  <a:srgbClr val="2E6B4A"/>
                </a:solidFill>
              </a:defRPr>
            </a:lvl5pPr>
            <a:lvl6pPr>
              <a:defRPr sz="1050" b="1">
                <a:solidFill>
                  <a:srgbClr val="2E6B4A"/>
                </a:solidFill>
              </a:defRPr>
            </a:lvl6pPr>
            <a:lvl7pPr>
              <a:defRPr sz="1050" b="1">
                <a:solidFill>
                  <a:srgbClr val="2E6B4A"/>
                </a:solidFill>
              </a:defRPr>
            </a:lvl7pPr>
            <a:lvl8pPr>
              <a:defRPr sz="1050" b="1">
                <a:solidFill>
                  <a:srgbClr val="2E6B4A"/>
                </a:solidFill>
              </a:defRPr>
            </a:lvl8pPr>
            <a:lvl9pPr>
              <a:defRPr sz="1050" b="1">
                <a:solidFill>
                  <a:srgbClr val="2E6B4A"/>
                </a:solidFill>
              </a:defRPr>
            </a:lvl9pPr>
          </a:lstStyle>
          <a:p xmlns:a="http://schemas.openxmlformats.org/drawingml/2006/main">
            <a:pPr>
              <a:defRPr sz="1050" b="1">
                <a:solidFill>
                  <a:srgbClr val="2E6B4A"/>
                </a:solidFill>
              </a:defRPr>
            </a:pPr>
            <a:r>
              <a:rPr sz="1050" b="1">
                <a:solidFill>
                  <a:srgbClr val="2E6B4A"/>
                </a:solidFill>
              </a:rPr>
              <a:t>04</a:t>
            </a:r>
          </a:p>
        </p:txBody>
      </p:sp>
      <p:sp>
        <p:nvSpPr>
          <p:cNvPr id="2" name="">
            <a:extLst xmlns:a="http://schemas.openxmlformats.org/drawingml/2006/main">
              <a:ext uri="{FF2B5EF4-FFF2-40B4-BE49-F238E27FC236}">
                <a16:creationId xmlns:a16="http://schemas.microsoft.com/office/drawing/2014/main" id="{03BC013F-C618-47C2-9B77-13DBEDC9BCF8}"/>
              </a:ext>
            </a:extLst>
          </p:cNvPr>
          <p:cNvSpPr>
            <a:spLocks xmlns:a="http://schemas.openxmlformats.org/drawingml/2006/main" noGrp="1"/>
          </p:cNvSpPr>
          <p:nvPr/>
        </p:nvSpPr>
        <p:spPr>
          <a:xfrm xmlns:a="http://schemas.openxmlformats.org/drawingml/2006/main">
            <a:off x="685800" y="781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850" b="1">
                <a:solidFill>
                  <a:srgbClr val="20392D"/>
                </a:solidFill>
              </a:defRPr>
            </a:defPPr>
            <a:lvl1pPr>
              <a:defRPr sz="2850" b="1">
                <a:solidFill>
                  <a:srgbClr val="20392D"/>
                </a:solidFill>
              </a:defRPr>
            </a:lvl1pPr>
            <a:lvl2pPr>
              <a:defRPr sz="2850" b="1">
                <a:solidFill>
                  <a:srgbClr val="20392D"/>
                </a:solidFill>
              </a:defRPr>
            </a:lvl2pPr>
            <a:lvl3pPr>
              <a:defRPr sz="2850" b="1">
                <a:solidFill>
                  <a:srgbClr val="20392D"/>
                </a:solidFill>
              </a:defRPr>
            </a:lvl3pPr>
            <a:lvl4pPr>
              <a:defRPr sz="2850" b="1">
                <a:solidFill>
                  <a:srgbClr val="20392D"/>
                </a:solidFill>
              </a:defRPr>
            </a:lvl4pPr>
            <a:lvl5pPr>
              <a:defRPr sz="2850" b="1">
                <a:solidFill>
                  <a:srgbClr val="20392D"/>
                </a:solidFill>
              </a:defRPr>
            </a:lvl5pPr>
            <a:lvl6pPr>
              <a:defRPr sz="2850" b="1">
                <a:solidFill>
                  <a:srgbClr val="20392D"/>
                </a:solidFill>
              </a:defRPr>
            </a:lvl6pPr>
            <a:lvl7pPr>
              <a:defRPr sz="2850" b="1">
                <a:solidFill>
                  <a:srgbClr val="20392D"/>
                </a:solidFill>
              </a:defRPr>
            </a:lvl7pPr>
            <a:lvl8pPr>
              <a:defRPr sz="2850" b="1">
                <a:solidFill>
                  <a:srgbClr val="20392D"/>
                </a:solidFill>
              </a:defRPr>
            </a:lvl8pPr>
            <a:lvl9pPr>
              <a:defRPr sz="2850" b="1">
                <a:solidFill>
                  <a:srgbClr val="20392D"/>
                </a:solidFill>
              </a:defRPr>
            </a:lvl9pPr>
          </a:lstStyle>
          <a:p xmlns:a="http://schemas.openxmlformats.org/drawingml/2006/main">
            <a:pPr>
              <a:defRPr sz="2850" b="1">
                <a:solidFill>
                  <a:srgbClr val="20392D"/>
                </a:solidFill>
              </a:defRPr>
            </a:pPr>
            <a:r>
              <a:rPr sz="2850" b="1">
                <a:solidFill>
                  <a:srgbClr val="20392D"/>
                </a:solidFill>
              </a:rPr>
              <a:t>Every recommendation has limits</a:t>
            </a:r>
          </a:p>
        </p:txBody>
      </p:sp>
      <p:sp>
        <p:nvSpPr>
          <p:cNvPr id="3" name="">
            <a:extLst xmlns:a="http://schemas.openxmlformats.org/drawingml/2006/main">
              <a:ext uri="{FF2B5EF4-FFF2-40B4-BE49-F238E27FC236}">
                <a16:creationId xmlns:a16="http://schemas.microsoft.com/office/drawing/2014/main" id="{C7683150-D0B0-4C17-9C46-43C40187811E}"/>
              </a:ext>
            </a:extLst>
          </p:cNvPr>
          <p:cNvSpPr>
            <a:spLocks xmlns:a="http://schemas.openxmlformats.org/drawingml/2006/main" noGrp="1"/>
          </p:cNvSpPr>
          <p:nvPr/>
        </p:nvSpPr>
        <p:spPr>
          <a:xfrm xmlns:a="http://schemas.openxmlformats.org/drawingml/2006/main">
            <a:off x="685800" y="1381125"/>
            <a:ext cx="1047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64756A"/>
                </a:solidFill>
              </a:defRPr>
            </a:defPPr>
            <a:lvl1pPr>
              <a:defRPr sz="1350" b="0">
                <a:solidFill>
                  <a:srgbClr val="64756A"/>
                </a:solidFill>
              </a:defRPr>
            </a:lvl1pPr>
            <a:lvl2pPr>
              <a:defRPr sz="1350" b="0">
                <a:solidFill>
                  <a:srgbClr val="64756A"/>
                </a:solidFill>
              </a:defRPr>
            </a:lvl2pPr>
            <a:lvl3pPr>
              <a:defRPr sz="1350" b="0">
                <a:solidFill>
                  <a:srgbClr val="64756A"/>
                </a:solidFill>
              </a:defRPr>
            </a:lvl3pPr>
            <a:lvl4pPr>
              <a:defRPr sz="1350" b="0">
                <a:solidFill>
                  <a:srgbClr val="64756A"/>
                </a:solidFill>
              </a:defRPr>
            </a:lvl4pPr>
            <a:lvl5pPr>
              <a:defRPr sz="1350" b="0">
                <a:solidFill>
                  <a:srgbClr val="64756A"/>
                </a:solidFill>
              </a:defRPr>
            </a:lvl5pPr>
            <a:lvl6pPr>
              <a:defRPr sz="1350" b="0">
                <a:solidFill>
                  <a:srgbClr val="64756A"/>
                </a:solidFill>
              </a:defRPr>
            </a:lvl6pPr>
            <a:lvl7pPr>
              <a:defRPr sz="1350" b="0">
                <a:solidFill>
                  <a:srgbClr val="64756A"/>
                </a:solidFill>
              </a:defRPr>
            </a:lvl7pPr>
            <a:lvl8pPr>
              <a:defRPr sz="1350" b="0">
                <a:solidFill>
                  <a:srgbClr val="64756A"/>
                </a:solidFill>
              </a:defRPr>
            </a:lvl8pPr>
            <a:lvl9pPr>
              <a:defRPr sz="1350" b="0">
                <a:solidFill>
                  <a:srgbClr val="64756A"/>
                </a:solidFill>
              </a:defRPr>
            </a:lvl9pPr>
          </a:lstStyle>
          <a:p xmlns:a="http://schemas.openxmlformats.org/drawingml/2006/main">
            <a:pPr>
              <a:defRPr sz="1350" b="0">
                <a:solidFill>
                  <a:srgbClr val="64756A"/>
                </a:solidFill>
              </a:defRPr>
            </a:pPr>
            <a:r>
              <a:rPr sz="1350" b="0">
                <a:solidFill>
                  <a:srgbClr val="64756A"/>
                </a:solidFill>
              </a:rPr>
              <a:t>Scores describe available evidence, not certified safety or health.</a:t>
            </a:r>
          </a:p>
        </p:txBody>
      </p:sp>
      <p:sp>
        <p:nvSpPr>
          <p:cNvPr id="4" name="">
            <a:extLst xmlns:a="http://schemas.openxmlformats.org/drawingml/2006/main">
              <a:ext uri="{FF2B5EF4-FFF2-40B4-BE49-F238E27FC236}">
                <a16:creationId xmlns:a16="http://schemas.microsoft.com/office/drawing/2014/main" id="{5978BCF6-3F57-4989-B0A7-0087B6A2085E}"/>
              </a:ext>
            </a:extLst>
          </p:cNvPr>
          <p:cNvSpPr>
            <a:spLocks xmlns:a="http://schemas.openxmlformats.org/drawingml/2006/main" noGrp="1"/>
          </p:cNvSpPr>
          <p:nvPr/>
        </p:nvSpPr>
        <p:spPr>
          <a:xfrm xmlns:a="http://schemas.openxmlformats.org/drawingml/2006/main">
            <a:off x="685800" y="1885950"/>
            <a:ext cx="10820400" cy="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5" name="">
            <a:extLst xmlns:a="http://schemas.openxmlformats.org/drawingml/2006/main">
              <a:ext uri="{FF2B5EF4-FFF2-40B4-BE49-F238E27FC236}">
                <a16:creationId xmlns:a16="http://schemas.microsoft.com/office/drawing/2014/main" id="{7DED223C-C93D-40C3-BB62-ADD6234F0B57}"/>
              </a:ext>
            </a:extLst>
          </p:cNvPr>
          <p:cNvSpPr>
            <a:spLocks xmlns:a="http://schemas.openxmlformats.org/drawingml/2006/main" noGrp="1"/>
          </p:cNvSpPr>
          <p:nvPr/>
        </p:nvSpPr>
        <p:spPr>
          <a:xfrm xmlns:a="http://schemas.openxmlformats.org/drawingml/2006/main">
            <a:off x="685800" y="21907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HEURISTIC WEIGHTS</a:t>
            </a:r>
          </a:p>
        </p:txBody>
      </p:sp>
      <p:sp>
        <p:nvSpPr>
          <p:cNvPr id="6" name="">
            <a:extLst xmlns:a="http://schemas.openxmlformats.org/drawingml/2006/main">
              <a:ext uri="{FF2B5EF4-FFF2-40B4-BE49-F238E27FC236}">
                <a16:creationId xmlns:a16="http://schemas.microsoft.com/office/drawing/2014/main" id="{AE23AFF1-E4B4-428F-8329-0AA92DC8B7EB}"/>
              </a:ext>
            </a:extLst>
          </p:cNvPr>
          <p:cNvSpPr>
            <a:spLocks xmlns:a="http://schemas.openxmlformats.org/drawingml/2006/main" noGrp="1"/>
          </p:cNvSpPr>
          <p:nvPr/>
        </p:nvSpPr>
        <p:spPr>
          <a:xfrm xmlns:a="http://schemas.openxmlformats.org/drawingml/2006/main">
            <a:off x="685800" y="26289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Weather</a:t>
            </a:r>
          </a:p>
        </p:txBody>
      </p:sp>
      <p:sp>
        <p:nvSpPr>
          <p:cNvPr id="7" name="">
            <a:extLst xmlns:a="http://schemas.openxmlformats.org/drawingml/2006/main">
              <a:ext uri="{FF2B5EF4-FFF2-40B4-BE49-F238E27FC236}">
                <a16:creationId xmlns:a16="http://schemas.microsoft.com/office/drawing/2014/main" id="{A0A30885-ADD2-4F11-8747-D0D71572DD6D}"/>
              </a:ext>
            </a:extLst>
          </p:cNvPr>
          <p:cNvSpPr>
            <a:spLocks xmlns:a="http://schemas.openxmlformats.org/drawingml/2006/main" noGrp="1"/>
          </p:cNvSpPr>
          <p:nvPr/>
        </p:nvSpPr>
        <p:spPr>
          <a:xfrm xmlns:a="http://schemas.openxmlformats.org/drawingml/2006/main">
            <a:off x="2647950" y="26574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B8F9C65-7CE6-41B8-B2F9-A345B2C15390}"/>
              </a:ext>
            </a:extLst>
          </p:cNvPr>
          <p:cNvSpPr>
            <a:spLocks xmlns:a="http://schemas.openxmlformats.org/drawingml/2006/main" noGrp="1"/>
          </p:cNvSpPr>
          <p:nvPr/>
        </p:nvSpPr>
        <p:spPr>
          <a:xfrm xmlns:a="http://schemas.openxmlformats.org/drawingml/2006/main">
            <a:off x="2647950" y="2657475"/>
            <a:ext cx="3905250"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FA4A3B0-C8CE-4A86-9BC9-57F4696DBF45}"/>
              </a:ext>
            </a:extLst>
          </p:cNvPr>
          <p:cNvSpPr>
            <a:spLocks xmlns:a="http://schemas.openxmlformats.org/drawingml/2006/main" noGrp="1"/>
          </p:cNvSpPr>
          <p:nvPr/>
        </p:nvSpPr>
        <p:spPr>
          <a:xfrm xmlns:a="http://schemas.openxmlformats.org/drawingml/2006/main">
            <a:off x="6762750" y="26098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40%</a:t>
            </a:r>
          </a:p>
        </p:txBody>
      </p:sp>
      <p:sp>
        <p:nvSpPr>
          <p:cNvPr id="10" name="">
            <a:extLst xmlns:a="http://schemas.openxmlformats.org/drawingml/2006/main">
              <a:ext uri="{FF2B5EF4-FFF2-40B4-BE49-F238E27FC236}">
                <a16:creationId xmlns:a16="http://schemas.microsoft.com/office/drawing/2014/main" id="{41A80D88-2FBD-44EF-8C3B-10829E508058}"/>
              </a:ext>
            </a:extLst>
          </p:cNvPr>
          <p:cNvSpPr>
            <a:spLocks xmlns:a="http://schemas.openxmlformats.org/drawingml/2006/main" noGrp="1"/>
          </p:cNvSpPr>
          <p:nvPr/>
        </p:nvSpPr>
        <p:spPr>
          <a:xfrm xmlns:a="http://schemas.openxmlformats.org/drawingml/2006/main">
            <a:off x="685800" y="32004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Activity fit</a:t>
            </a:r>
          </a:p>
        </p:txBody>
      </p:sp>
      <p:sp>
        <p:nvSpPr>
          <p:cNvPr id="11" name="">
            <a:extLst xmlns:a="http://schemas.openxmlformats.org/drawingml/2006/main">
              <a:ext uri="{FF2B5EF4-FFF2-40B4-BE49-F238E27FC236}">
                <a16:creationId xmlns:a16="http://schemas.microsoft.com/office/drawing/2014/main" id="{D4FDCB22-BD8C-46CF-B4D3-1B6DC7BDEEDD}"/>
              </a:ext>
            </a:extLst>
          </p:cNvPr>
          <p:cNvSpPr>
            <a:spLocks xmlns:a="http://schemas.openxmlformats.org/drawingml/2006/main" noGrp="1"/>
          </p:cNvSpPr>
          <p:nvPr/>
        </p:nvSpPr>
        <p:spPr>
          <a:xfrm xmlns:a="http://schemas.openxmlformats.org/drawingml/2006/main">
            <a:off x="2647950" y="32289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3C2ABC9-C658-49A7-85F8-8C80E92AB5AC}"/>
              </a:ext>
            </a:extLst>
          </p:cNvPr>
          <p:cNvSpPr>
            <a:spLocks xmlns:a="http://schemas.openxmlformats.org/drawingml/2006/main" noGrp="1"/>
          </p:cNvSpPr>
          <p:nvPr/>
        </p:nvSpPr>
        <p:spPr>
          <a:xfrm xmlns:a="http://schemas.openxmlformats.org/drawingml/2006/main">
            <a:off x="2647950" y="3228975"/>
            <a:ext cx="2440781"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5855CC3-AEDC-4C0F-A97F-B777F4420BA8}"/>
              </a:ext>
            </a:extLst>
          </p:cNvPr>
          <p:cNvSpPr>
            <a:spLocks xmlns:a="http://schemas.openxmlformats.org/drawingml/2006/main" noGrp="1"/>
          </p:cNvSpPr>
          <p:nvPr/>
        </p:nvSpPr>
        <p:spPr>
          <a:xfrm xmlns:a="http://schemas.openxmlformats.org/drawingml/2006/main">
            <a:off x="6762750" y="31813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25%</a:t>
            </a:r>
          </a:p>
        </p:txBody>
      </p:sp>
      <p:sp>
        <p:nvSpPr>
          <p:cNvPr id="14" name="">
            <a:extLst xmlns:a="http://schemas.openxmlformats.org/drawingml/2006/main">
              <a:ext uri="{FF2B5EF4-FFF2-40B4-BE49-F238E27FC236}">
                <a16:creationId xmlns:a16="http://schemas.microsoft.com/office/drawing/2014/main" id="{4B15FCB1-E352-401A-85A6-8915B73226E5}"/>
              </a:ext>
            </a:extLst>
          </p:cNvPr>
          <p:cNvSpPr>
            <a:spLocks xmlns:a="http://schemas.openxmlformats.org/drawingml/2006/main" noGrp="1"/>
          </p:cNvSpPr>
          <p:nvPr/>
        </p:nvSpPr>
        <p:spPr>
          <a:xfrm xmlns:a="http://schemas.openxmlformats.org/drawingml/2006/main">
            <a:off x="685800" y="37719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Air quality</a:t>
            </a:r>
          </a:p>
        </p:txBody>
      </p:sp>
      <p:sp>
        <p:nvSpPr>
          <p:cNvPr id="15" name="">
            <a:extLst xmlns:a="http://schemas.openxmlformats.org/drawingml/2006/main">
              <a:ext uri="{FF2B5EF4-FFF2-40B4-BE49-F238E27FC236}">
                <a16:creationId xmlns:a16="http://schemas.microsoft.com/office/drawing/2014/main" id="{54290AD5-CE33-4CF3-9B3A-78F351DCDA5B}"/>
              </a:ext>
            </a:extLst>
          </p:cNvPr>
          <p:cNvSpPr>
            <a:spLocks xmlns:a="http://schemas.openxmlformats.org/drawingml/2006/main" noGrp="1"/>
          </p:cNvSpPr>
          <p:nvPr/>
        </p:nvSpPr>
        <p:spPr>
          <a:xfrm xmlns:a="http://schemas.openxmlformats.org/drawingml/2006/main">
            <a:off x="2647950" y="38004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C2A0A9F-A687-4A50-9D00-F69E5C151E5F}"/>
              </a:ext>
            </a:extLst>
          </p:cNvPr>
          <p:cNvSpPr>
            <a:spLocks xmlns:a="http://schemas.openxmlformats.org/drawingml/2006/main" noGrp="1"/>
          </p:cNvSpPr>
          <p:nvPr/>
        </p:nvSpPr>
        <p:spPr>
          <a:xfrm xmlns:a="http://schemas.openxmlformats.org/drawingml/2006/main">
            <a:off x="2647950" y="3800475"/>
            <a:ext cx="1952625"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54C6B8F-53E6-4147-BEF8-7C12C2CE4C14}"/>
              </a:ext>
            </a:extLst>
          </p:cNvPr>
          <p:cNvSpPr>
            <a:spLocks xmlns:a="http://schemas.openxmlformats.org/drawingml/2006/main" noGrp="1"/>
          </p:cNvSpPr>
          <p:nvPr/>
        </p:nvSpPr>
        <p:spPr>
          <a:xfrm xmlns:a="http://schemas.openxmlformats.org/drawingml/2006/main">
            <a:off x="6762750" y="37528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20%</a:t>
            </a:r>
          </a:p>
        </p:txBody>
      </p:sp>
      <p:sp>
        <p:nvSpPr>
          <p:cNvPr id="18" name="">
            <a:extLst xmlns:a="http://schemas.openxmlformats.org/drawingml/2006/main">
              <a:ext uri="{FF2B5EF4-FFF2-40B4-BE49-F238E27FC236}">
                <a16:creationId xmlns:a16="http://schemas.microsoft.com/office/drawing/2014/main" id="{4958B12A-529F-4283-A2CA-8A5400436694}"/>
              </a:ext>
            </a:extLst>
          </p:cNvPr>
          <p:cNvSpPr>
            <a:spLocks xmlns:a="http://schemas.openxmlformats.org/drawingml/2006/main" noGrp="1"/>
          </p:cNvSpPr>
          <p:nvPr/>
        </p:nvSpPr>
        <p:spPr>
          <a:xfrm xmlns:a="http://schemas.openxmlformats.org/drawingml/2006/main">
            <a:off x="685800" y="43434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Mapped context</a:t>
            </a:r>
          </a:p>
        </p:txBody>
      </p:sp>
      <p:sp>
        <p:nvSpPr>
          <p:cNvPr id="19" name="">
            <a:extLst xmlns:a="http://schemas.openxmlformats.org/drawingml/2006/main">
              <a:ext uri="{FF2B5EF4-FFF2-40B4-BE49-F238E27FC236}">
                <a16:creationId xmlns:a16="http://schemas.microsoft.com/office/drawing/2014/main" id="{3F9681E6-F687-4C16-8E24-88DE8271A5CA}"/>
              </a:ext>
            </a:extLst>
          </p:cNvPr>
          <p:cNvSpPr>
            <a:spLocks xmlns:a="http://schemas.openxmlformats.org/drawingml/2006/main" noGrp="1"/>
          </p:cNvSpPr>
          <p:nvPr/>
        </p:nvSpPr>
        <p:spPr>
          <a:xfrm xmlns:a="http://schemas.openxmlformats.org/drawingml/2006/main">
            <a:off x="2647950" y="43719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A66E8A2-18D1-4A60-B5AB-09BAE2564CE7}"/>
              </a:ext>
            </a:extLst>
          </p:cNvPr>
          <p:cNvSpPr>
            <a:spLocks xmlns:a="http://schemas.openxmlformats.org/drawingml/2006/main" noGrp="1"/>
          </p:cNvSpPr>
          <p:nvPr/>
        </p:nvSpPr>
        <p:spPr>
          <a:xfrm xmlns:a="http://schemas.openxmlformats.org/drawingml/2006/main">
            <a:off x="2647950" y="4371975"/>
            <a:ext cx="976313"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AF03094-7605-47AE-9F11-F99199F32B62}"/>
              </a:ext>
            </a:extLst>
          </p:cNvPr>
          <p:cNvSpPr>
            <a:spLocks xmlns:a="http://schemas.openxmlformats.org/drawingml/2006/main" noGrp="1"/>
          </p:cNvSpPr>
          <p:nvPr/>
        </p:nvSpPr>
        <p:spPr>
          <a:xfrm xmlns:a="http://schemas.openxmlformats.org/drawingml/2006/main">
            <a:off x="6762750" y="43243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10%</a:t>
            </a:r>
          </a:p>
        </p:txBody>
      </p:sp>
      <p:sp>
        <p:nvSpPr>
          <p:cNvPr id="22" name="">
            <a:extLst xmlns:a="http://schemas.openxmlformats.org/drawingml/2006/main">
              <a:ext uri="{FF2B5EF4-FFF2-40B4-BE49-F238E27FC236}">
                <a16:creationId xmlns:a16="http://schemas.microsoft.com/office/drawing/2014/main" id="{24A5C5A9-8C15-44D0-BB5A-A29BF0E03DA3}"/>
              </a:ext>
            </a:extLst>
          </p:cNvPr>
          <p:cNvSpPr>
            <a:spLocks xmlns:a="http://schemas.openxmlformats.org/drawingml/2006/main" noGrp="1"/>
          </p:cNvSpPr>
          <p:nvPr/>
        </p:nvSpPr>
        <p:spPr>
          <a:xfrm xmlns:a="http://schemas.openxmlformats.org/drawingml/2006/main">
            <a:off x="685800" y="4914900"/>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20392D"/>
                </a:solidFill>
              </a:defRPr>
            </a:defPPr>
            <a:lvl1pPr>
              <a:defRPr sz="1275" b="0">
                <a:solidFill>
                  <a:srgbClr val="20392D"/>
                </a:solidFill>
              </a:defRPr>
            </a:lvl1pPr>
            <a:lvl2pPr>
              <a:defRPr sz="1275" b="0">
                <a:solidFill>
                  <a:srgbClr val="20392D"/>
                </a:solidFill>
              </a:defRPr>
            </a:lvl2pPr>
            <a:lvl3pPr>
              <a:defRPr sz="1275" b="0">
                <a:solidFill>
                  <a:srgbClr val="20392D"/>
                </a:solidFill>
              </a:defRPr>
            </a:lvl3pPr>
            <a:lvl4pPr>
              <a:defRPr sz="1275" b="0">
                <a:solidFill>
                  <a:srgbClr val="20392D"/>
                </a:solidFill>
              </a:defRPr>
            </a:lvl4pPr>
            <a:lvl5pPr>
              <a:defRPr sz="1275" b="0">
                <a:solidFill>
                  <a:srgbClr val="20392D"/>
                </a:solidFill>
              </a:defRPr>
            </a:lvl5pPr>
            <a:lvl6pPr>
              <a:defRPr sz="1275" b="0">
                <a:solidFill>
                  <a:srgbClr val="20392D"/>
                </a:solidFill>
              </a:defRPr>
            </a:lvl6pPr>
            <a:lvl7pPr>
              <a:defRPr sz="1275" b="0">
                <a:solidFill>
                  <a:srgbClr val="20392D"/>
                </a:solidFill>
              </a:defRPr>
            </a:lvl7pPr>
            <a:lvl8pPr>
              <a:defRPr sz="1275" b="0">
                <a:solidFill>
                  <a:srgbClr val="20392D"/>
                </a:solidFill>
              </a:defRPr>
            </a:lvl8pPr>
            <a:lvl9pPr>
              <a:defRPr sz="1275" b="0">
                <a:solidFill>
                  <a:srgbClr val="20392D"/>
                </a:solidFill>
              </a:defRPr>
            </a:lvl9pPr>
          </a:lstStyle>
          <a:p xmlns:a="http://schemas.openxmlformats.org/drawingml/2006/main">
            <a:pPr>
              <a:defRPr sz="1275" b="0">
                <a:solidFill>
                  <a:srgbClr val="20392D"/>
                </a:solidFill>
              </a:defRPr>
            </a:pPr>
            <a:r>
              <a:rPr sz="1275" b="0">
                <a:solidFill>
                  <a:srgbClr val="20392D"/>
                </a:solidFill>
              </a:rPr>
              <a:t>Daylight</a:t>
            </a:r>
          </a:p>
        </p:txBody>
      </p:sp>
      <p:sp>
        <p:nvSpPr>
          <p:cNvPr id="23" name="">
            <a:extLst xmlns:a="http://schemas.openxmlformats.org/drawingml/2006/main">
              <a:ext uri="{FF2B5EF4-FFF2-40B4-BE49-F238E27FC236}">
                <a16:creationId xmlns:a16="http://schemas.microsoft.com/office/drawing/2014/main" id="{E776760E-DE83-4C2D-9357-C17323C21DA4}"/>
              </a:ext>
            </a:extLst>
          </p:cNvPr>
          <p:cNvSpPr>
            <a:spLocks xmlns:a="http://schemas.openxmlformats.org/drawingml/2006/main" noGrp="1"/>
          </p:cNvSpPr>
          <p:nvPr/>
        </p:nvSpPr>
        <p:spPr>
          <a:xfrm xmlns:a="http://schemas.openxmlformats.org/drawingml/2006/main">
            <a:off x="2647950" y="4943475"/>
            <a:ext cx="3905250" cy="152400"/>
          </a:xfrm>
          <a:prstGeom xmlns:a="http://schemas.openxmlformats.org/drawingml/2006/main" prst="rect">
            <a:avLst/>
          </a:prstGeom>
          <a:solidFill xmlns:a="http://schemas.openxmlformats.org/drawingml/2006/main">
            <a:srgbClr val="E4EAE2"/>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2201C45-707C-4D58-BE0E-22FD7C07F33B}"/>
              </a:ext>
            </a:extLst>
          </p:cNvPr>
          <p:cNvSpPr>
            <a:spLocks xmlns:a="http://schemas.openxmlformats.org/drawingml/2006/main" noGrp="1"/>
          </p:cNvSpPr>
          <p:nvPr/>
        </p:nvSpPr>
        <p:spPr>
          <a:xfrm xmlns:a="http://schemas.openxmlformats.org/drawingml/2006/main">
            <a:off x="2647950" y="4943475"/>
            <a:ext cx="488156" cy="152400"/>
          </a:xfrm>
          <a:prstGeom xmlns:a="http://schemas.openxmlformats.org/drawingml/2006/main" prst="rect">
            <a:avLst/>
          </a:prstGeom>
          <a:solidFill xmlns:a="http://schemas.openxmlformats.org/drawingml/2006/main">
            <a:srgbClr val="2E6B4A"/>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328E75F7-C801-4E43-BDD1-F052ED3D6B37}"/>
              </a:ext>
            </a:extLst>
          </p:cNvPr>
          <p:cNvSpPr>
            <a:spLocks xmlns:a="http://schemas.openxmlformats.org/drawingml/2006/main" noGrp="1"/>
          </p:cNvSpPr>
          <p:nvPr/>
        </p:nvSpPr>
        <p:spPr>
          <a:xfrm xmlns:a="http://schemas.openxmlformats.org/drawingml/2006/main">
            <a:off x="6762750" y="4895850"/>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00" b="1">
                <a:solidFill>
                  <a:srgbClr val="2E6B4A"/>
                </a:solidFill>
              </a:defRPr>
            </a:defPPr>
            <a:lvl1pPr>
              <a:defRPr sz="1200" b="1">
                <a:solidFill>
                  <a:srgbClr val="2E6B4A"/>
                </a:solidFill>
              </a:defRPr>
            </a:lvl1pPr>
            <a:lvl2pPr>
              <a:defRPr sz="1200" b="1">
                <a:solidFill>
                  <a:srgbClr val="2E6B4A"/>
                </a:solidFill>
              </a:defRPr>
            </a:lvl2pPr>
            <a:lvl3pPr>
              <a:defRPr sz="1200" b="1">
                <a:solidFill>
                  <a:srgbClr val="2E6B4A"/>
                </a:solidFill>
              </a:defRPr>
            </a:lvl3pPr>
            <a:lvl4pPr>
              <a:defRPr sz="1200" b="1">
                <a:solidFill>
                  <a:srgbClr val="2E6B4A"/>
                </a:solidFill>
              </a:defRPr>
            </a:lvl4pPr>
            <a:lvl5pPr>
              <a:defRPr sz="1200" b="1">
                <a:solidFill>
                  <a:srgbClr val="2E6B4A"/>
                </a:solidFill>
              </a:defRPr>
            </a:lvl5pPr>
            <a:lvl6pPr>
              <a:defRPr sz="1200" b="1">
                <a:solidFill>
                  <a:srgbClr val="2E6B4A"/>
                </a:solidFill>
              </a:defRPr>
            </a:lvl6pPr>
            <a:lvl7pPr>
              <a:defRPr sz="1200" b="1">
                <a:solidFill>
                  <a:srgbClr val="2E6B4A"/>
                </a:solidFill>
              </a:defRPr>
            </a:lvl7pPr>
            <a:lvl8pPr>
              <a:defRPr sz="1200" b="1">
                <a:solidFill>
                  <a:srgbClr val="2E6B4A"/>
                </a:solidFill>
              </a:defRPr>
            </a:lvl8pPr>
            <a:lvl9pPr>
              <a:defRPr sz="1200" b="1">
                <a:solidFill>
                  <a:srgbClr val="2E6B4A"/>
                </a:solidFill>
              </a:defRPr>
            </a:lvl9pPr>
          </a:lstStyle>
          <a:p xmlns:a="http://schemas.openxmlformats.org/drawingml/2006/main">
            <a:pPr>
              <a:defRPr sz="1200" b="1">
                <a:solidFill>
                  <a:srgbClr val="2E6B4A"/>
                </a:solidFill>
              </a:defRPr>
            </a:pPr>
            <a:r>
              <a:rPr sz="1200" b="1">
                <a:solidFill>
                  <a:srgbClr val="2E6B4A"/>
                </a:solidFill>
              </a:rPr>
              <a:t>5%</a:t>
            </a:r>
          </a:p>
        </p:txBody>
      </p:sp>
      <p:sp>
        <p:nvSpPr>
          <p:cNvPr id="26" name="">
            <a:extLst xmlns:a="http://schemas.openxmlformats.org/drawingml/2006/main">
              <a:ext uri="{FF2B5EF4-FFF2-40B4-BE49-F238E27FC236}">
                <a16:creationId xmlns:a16="http://schemas.microsoft.com/office/drawing/2014/main" id="{E99B1DA1-D329-49BD-9D47-2CAFAF87659F}"/>
              </a:ext>
            </a:extLst>
          </p:cNvPr>
          <p:cNvSpPr>
            <a:spLocks xmlns:a="http://schemas.openxmlformats.org/drawingml/2006/main" noGrp="1"/>
          </p:cNvSpPr>
          <p:nvPr/>
        </p:nvSpPr>
        <p:spPr>
          <a:xfrm xmlns:a="http://schemas.openxmlformats.org/drawingml/2006/main">
            <a:off x="7810500" y="2190750"/>
            <a:ext cx="0" cy="3429000"/>
          </a:xfrm>
          <a:prstGeom xmlns:a="http://schemas.openxmlformats.org/drawingml/2006/main" prst="line">
            <a:avLst/>
          </a:prstGeom>
          <a:noFill xmlns:a="http://schemas.openxmlformats.org/drawingml/2006/main"/>
          <a:ln xmlns:a="http://schemas.openxmlformats.org/drawingml/2006/main" w="9525">
            <a:solidFill>
              <a:srgbClr val="B8C8BA"/>
            </a:solidFill>
            <a:prstDash val="solid"/>
          </a:ln>
        </p:spPr>
      </p:sp>
      <p:sp>
        <p:nvSpPr>
          <p:cNvPr id="27" name="">
            <a:extLst xmlns:a="http://schemas.openxmlformats.org/drawingml/2006/main">
              <a:ext uri="{FF2B5EF4-FFF2-40B4-BE49-F238E27FC236}">
                <a16:creationId xmlns:a16="http://schemas.microsoft.com/office/drawing/2014/main" id="{75208501-B99A-4C5D-9D1D-F5F3551BB685}"/>
              </a:ext>
            </a:extLst>
          </p:cNvPr>
          <p:cNvSpPr>
            <a:spLocks xmlns:a="http://schemas.openxmlformats.org/drawingml/2006/main" noGrp="1"/>
          </p:cNvSpPr>
          <p:nvPr/>
        </p:nvSpPr>
        <p:spPr>
          <a:xfrm xmlns:a="http://schemas.openxmlformats.org/drawingml/2006/main">
            <a:off x="8248650" y="2190750"/>
            <a:ext cx="3143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EVIDENCE SHOWN</a:t>
            </a:r>
          </a:p>
        </p:txBody>
      </p:sp>
      <p:sp>
        <p:nvSpPr>
          <p:cNvPr id="28" name="">
            <a:extLst xmlns:a="http://schemas.openxmlformats.org/drawingml/2006/main">
              <a:ext uri="{FF2B5EF4-FFF2-40B4-BE49-F238E27FC236}">
                <a16:creationId xmlns:a16="http://schemas.microsoft.com/office/drawing/2014/main" id="{A2914B92-35A3-4BA6-80BB-5F83A64415A4}"/>
              </a:ext>
            </a:extLst>
          </p:cNvPr>
          <p:cNvSpPr>
            <a:spLocks xmlns:a="http://schemas.openxmlformats.org/drawingml/2006/main" noGrp="1"/>
          </p:cNvSpPr>
          <p:nvPr/>
        </p:nvSpPr>
        <p:spPr>
          <a:xfrm xmlns:a="http://schemas.openxmlformats.org/drawingml/2006/main">
            <a:off x="8248650" y="262890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0">
                <a:solidFill>
                  <a:srgbClr val="20392D"/>
                </a:solidFill>
              </a:defRPr>
            </a:defPPr>
            <a:lvl1pPr>
              <a:defRPr sz="1425" b="0">
                <a:solidFill>
                  <a:srgbClr val="20392D"/>
                </a:solidFill>
              </a:defRPr>
            </a:lvl1pPr>
            <a:lvl2pPr>
              <a:defRPr sz="1425" b="0">
                <a:solidFill>
                  <a:srgbClr val="20392D"/>
                </a:solidFill>
              </a:defRPr>
            </a:lvl2pPr>
            <a:lvl3pPr>
              <a:defRPr sz="1425" b="0">
                <a:solidFill>
                  <a:srgbClr val="20392D"/>
                </a:solidFill>
              </a:defRPr>
            </a:lvl3pPr>
            <a:lvl4pPr>
              <a:defRPr sz="1425" b="0">
                <a:solidFill>
                  <a:srgbClr val="20392D"/>
                </a:solidFill>
              </a:defRPr>
            </a:lvl4pPr>
            <a:lvl5pPr>
              <a:defRPr sz="1425" b="0">
                <a:solidFill>
                  <a:srgbClr val="20392D"/>
                </a:solidFill>
              </a:defRPr>
            </a:lvl5pPr>
            <a:lvl6pPr>
              <a:defRPr sz="1425" b="0">
                <a:solidFill>
                  <a:srgbClr val="20392D"/>
                </a:solidFill>
              </a:defRPr>
            </a:lvl6pPr>
            <a:lvl7pPr>
              <a:defRPr sz="1425" b="0">
                <a:solidFill>
                  <a:srgbClr val="20392D"/>
                </a:solidFill>
              </a:defRPr>
            </a:lvl7pPr>
            <a:lvl8pPr>
              <a:defRPr sz="1425" b="0">
                <a:solidFill>
                  <a:srgbClr val="20392D"/>
                </a:solidFill>
              </a:defRPr>
            </a:lvl8pPr>
            <a:lvl9pPr>
              <a:defRPr sz="1425" b="0">
                <a:solidFill>
                  <a:srgbClr val="20392D"/>
                </a:solidFill>
              </a:defRPr>
            </a:lvl9pPr>
          </a:lstStyle>
          <a:p xmlns:a="http://schemas.openxmlformats.org/drawingml/2006/main">
            <a:pPr>
              <a:defRPr sz="1425" b="0">
                <a:solidFill>
                  <a:srgbClr val="20392D"/>
                </a:solidFill>
              </a:defRPr>
            </a:pPr>
            <a:r>
              <a:rPr sz="1425" b="0">
                <a:solidFill>
                  <a:srgbClr val="20392D"/>
                </a:solidFill>
              </a:rPr>
              <a:t>Forecast values include source, valid time, and fetch time. Missing weather blocks a recommendation. Missing AQ or context lowers coverage.</a:t>
            </a:r>
          </a:p>
        </p:txBody>
      </p:sp>
      <p:sp>
        <p:nvSpPr>
          <p:cNvPr id="29" name="">
            <a:extLst xmlns:a="http://schemas.openxmlformats.org/drawingml/2006/main">
              <a:ext uri="{FF2B5EF4-FFF2-40B4-BE49-F238E27FC236}">
                <a16:creationId xmlns:a16="http://schemas.microsoft.com/office/drawing/2014/main" id="{BD1B91C3-2A0C-41F7-B0D0-CE9E25D23CE9}"/>
              </a:ext>
            </a:extLst>
          </p:cNvPr>
          <p:cNvSpPr>
            <a:spLocks xmlns:a="http://schemas.openxmlformats.org/drawingml/2006/main" noGrp="1"/>
          </p:cNvSpPr>
          <p:nvPr/>
        </p:nvSpPr>
        <p:spPr>
          <a:xfrm xmlns:a="http://schemas.openxmlformats.org/drawingml/2006/main">
            <a:off x="8248650" y="4057650"/>
            <a:ext cx="3238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275" b="0">
                <a:solidFill>
                  <a:srgbClr val="64756A"/>
                </a:solidFill>
              </a:defRPr>
            </a:defPPr>
            <a:lvl1pPr>
              <a:defRPr sz="1275" b="0">
                <a:solidFill>
                  <a:srgbClr val="64756A"/>
                </a:solidFill>
              </a:defRPr>
            </a:lvl1pPr>
            <a:lvl2pPr>
              <a:defRPr sz="1275" b="0">
                <a:solidFill>
                  <a:srgbClr val="64756A"/>
                </a:solidFill>
              </a:defRPr>
            </a:lvl2pPr>
            <a:lvl3pPr>
              <a:defRPr sz="1275" b="0">
                <a:solidFill>
                  <a:srgbClr val="64756A"/>
                </a:solidFill>
              </a:defRPr>
            </a:lvl3pPr>
            <a:lvl4pPr>
              <a:defRPr sz="1275" b="0">
                <a:solidFill>
                  <a:srgbClr val="64756A"/>
                </a:solidFill>
              </a:defRPr>
            </a:lvl4pPr>
            <a:lvl5pPr>
              <a:defRPr sz="1275" b="0">
                <a:solidFill>
                  <a:srgbClr val="64756A"/>
                </a:solidFill>
              </a:defRPr>
            </a:lvl5pPr>
            <a:lvl6pPr>
              <a:defRPr sz="1275" b="0">
                <a:solidFill>
                  <a:srgbClr val="64756A"/>
                </a:solidFill>
              </a:defRPr>
            </a:lvl6pPr>
            <a:lvl7pPr>
              <a:defRPr sz="1275" b="0">
                <a:solidFill>
                  <a:srgbClr val="64756A"/>
                </a:solidFill>
              </a:defRPr>
            </a:lvl7pPr>
            <a:lvl8pPr>
              <a:defRPr sz="1275" b="0">
                <a:solidFill>
                  <a:srgbClr val="64756A"/>
                </a:solidFill>
              </a:defRPr>
            </a:lvl8pPr>
            <a:lvl9pPr>
              <a:defRPr sz="1275" b="0">
                <a:solidFill>
                  <a:srgbClr val="64756A"/>
                </a:solidFill>
              </a:defRPr>
            </a:lvl9pPr>
          </a:lstStyle>
          <a:p xmlns:a="http://schemas.openxmlformats.org/drawingml/2006/main">
            <a:pPr>
              <a:defRPr sz="1275" b="0">
                <a:solidFill>
                  <a:srgbClr val="64756A"/>
                </a:solidFill>
              </a:defRPr>
            </a:pPr>
            <a:r>
              <a:rPr sz="1275" b="0">
                <a:solidFill>
                  <a:srgbClr val="64756A"/>
                </a:solidFill>
              </a:rPr>
              <a:t>OSM tags establish mapped venue fit. Road distance is a proximity proxy, never live traffic. Air quality is regional model guidance.</a:t>
            </a:r>
          </a:p>
        </p:txBody>
      </p:sp>
      <p:sp>
        <p:nvSpPr>
          <p:cNvPr id="30" name="">
            <a:extLst xmlns:a="http://schemas.openxmlformats.org/drawingml/2006/main">
              <a:ext uri="{FF2B5EF4-FFF2-40B4-BE49-F238E27FC236}">
                <a16:creationId xmlns:a16="http://schemas.microsoft.com/office/drawing/2014/main" id="{670A3B8F-37FB-4001-9843-6E26739D34D1}"/>
              </a:ext>
            </a:extLst>
          </p:cNvPr>
          <p:cNvSpPr>
            <a:spLocks xmlns:a="http://schemas.openxmlformats.org/drawingml/2006/main" noGrp="1"/>
          </p:cNvSpPr>
          <p:nvPr/>
        </p:nvSpPr>
        <p:spPr>
          <a:xfrm xmlns:a="http://schemas.openxmlformats.org/drawingml/2006/main">
            <a:off x="8248650" y="5429250"/>
            <a:ext cx="3048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2E6B4A"/>
                </a:solidFill>
              </a:defRPr>
            </a:defPPr>
            <a:lvl1pPr>
              <a:defRPr sz="900" b="1">
                <a:solidFill>
                  <a:srgbClr val="2E6B4A"/>
                </a:solidFill>
              </a:defRPr>
            </a:lvl1pPr>
            <a:lvl2pPr>
              <a:defRPr sz="900" b="1">
                <a:solidFill>
                  <a:srgbClr val="2E6B4A"/>
                </a:solidFill>
              </a:defRPr>
            </a:lvl2pPr>
            <a:lvl3pPr>
              <a:defRPr sz="900" b="1">
                <a:solidFill>
                  <a:srgbClr val="2E6B4A"/>
                </a:solidFill>
              </a:defRPr>
            </a:lvl3pPr>
            <a:lvl4pPr>
              <a:defRPr sz="900" b="1">
                <a:solidFill>
                  <a:srgbClr val="2E6B4A"/>
                </a:solidFill>
              </a:defRPr>
            </a:lvl4pPr>
            <a:lvl5pPr>
              <a:defRPr sz="900" b="1">
                <a:solidFill>
                  <a:srgbClr val="2E6B4A"/>
                </a:solidFill>
              </a:defRPr>
            </a:lvl5pPr>
            <a:lvl6pPr>
              <a:defRPr sz="900" b="1">
                <a:solidFill>
                  <a:srgbClr val="2E6B4A"/>
                </a:solidFill>
              </a:defRPr>
            </a:lvl6pPr>
            <a:lvl7pPr>
              <a:defRPr sz="900" b="1">
                <a:solidFill>
                  <a:srgbClr val="2E6B4A"/>
                </a:solidFill>
              </a:defRPr>
            </a:lvl7pPr>
            <a:lvl8pPr>
              <a:defRPr sz="900" b="1">
                <a:solidFill>
                  <a:srgbClr val="2E6B4A"/>
                </a:solidFill>
              </a:defRPr>
            </a:lvl8pPr>
            <a:lvl9pPr>
              <a:defRPr sz="900" b="1">
                <a:solidFill>
                  <a:srgbClr val="2E6B4A"/>
                </a:solidFill>
              </a:defRPr>
            </a:lvl9pPr>
          </a:lstStyle>
          <a:p xmlns:a="http://schemas.openxmlformats.org/drawingml/2006/main">
            <a:pPr>
              <a:defRPr sz="900" b="1">
                <a:solidFill>
                  <a:srgbClr val="2E6B4A"/>
                </a:solidFill>
              </a:defRPr>
            </a:pPr>
            <a:r>
              <a:rPr sz="900" b="1">
                <a:solidFill>
                  <a:srgbClr val="2E6B4A"/>
                </a:solidFill>
              </a:rPr>
              <a:t>© OpenStreetMap contributors</a:t>
            </a:r>
          </a:p>
        </p:txBody>
      </p:sp>
      <p:sp>
        <p:nvSpPr>
          <p:cNvPr id="31" name="">
            <a:extLst xmlns:a="http://schemas.openxmlformats.org/drawingml/2006/main">
              <a:ext uri="{FF2B5EF4-FFF2-40B4-BE49-F238E27FC236}">
                <a16:creationId xmlns:a16="http://schemas.microsoft.com/office/drawing/2014/main" id="{C880EC49-B38C-47FE-934F-7CFE8EF586C4}"/>
              </a:ext>
            </a:extLst>
          </p:cNvPr>
          <p:cNvSpPr>
            <a:spLocks xmlns:a="http://schemas.openxmlformats.org/drawingml/2006/main" noGrp="1"/>
          </p:cNvSpPr>
          <p:nvPr/>
        </p:nvSpPr>
        <p:spPr>
          <a:xfrm xmlns:a="http://schemas.openxmlformats.org/drawingml/2006/main">
            <a:off x="685800" y="6429375"/>
            <a:ext cx="10820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64756A"/>
                </a:solidFill>
              </a:defRPr>
            </a:defPPr>
            <a:lvl1pPr>
              <a:defRPr sz="750" b="0">
                <a:solidFill>
                  <a:srgbClr val="64756A"/>
                </a:solidFill>
              </a:defRPr>
            </a:lvl1pPr>
            <a:lvl2pPr>
              <a:defRPr sz="750" b="0">
                <a:solidFill>
                  <a:srgbClr val="64756A"/>
                </a:solidFill>
              </a:defRPr>
            </a:lvl2pPr>
            <a:lvl3pPr>
              <a:defRPr sz="750" b="0">
                <a:solidFill>
                  <a:srgbClr val="64756A"/>
                </a:solidFill>
              </a:defRPr>
            </a:lvl3pPr>
            <a:lvl4pPr>
              <a:defRPr sz="750" b="0">
                <a:solidFill>
                  <a:srgbClr val="64756A"/>
                </a:solidFill>
              </a:defRPr>
            </a:lvl4pPr>
            <a:lvl5pPr>
              <a:defRPr sz="750" b="0">
                <a:solidFill>
                  <a:srgbClr val="64756A"/>
                </a:solidFill>
              </a:defRPr>
            </a:lvl5pPr>
            <a:lvl6pPr>
              <a:defRPr sz="750" b="0">
                <a:solidFill>
                  <a:srgbClr val="64756A"/>
                </a:solidFill>
              </a:defRPr>
            </a:lvl6pPr>
            <a:lvl7pPr>
              <a:defRPr sz="750" b="0">
                <a:solidFill>
                  <a:srgbClr val="64756A"/>
                </a:solidFill>
              </a:defRPr>
            </a:lvl7pPr>
            <a:lvl8pPr>
              <a:defRPr sz="750" b="0">
                <a:solidFill>
                  <a:srgbClr val="64756A"/>
                </a:solidFill>
              </a:defRPr>
            </a:lvl8pPr>
            <a:lvl9pPr>
              <a:defRPr sz="750" b="0">
                <a:solidFill>
                  <a:srgbClr val="64756A"/>
                </a:solidFill>
              </a:defRPr>
            </a:lvl9pPr>
          </a:lstStyle>
          <a:p xmlns:a="http://schemas.openxmlformats.org/drawingml/2006/main">
            <a:pPr>
              <a:defRPr sz="750" b="0">
                <a:solidFill>
                  <a:srgbClr val="64756A"/>
                </a:solidFill>
              </a:defRPr>
            </a:pPr>
            <a:r>
              <a:rPr sz="750" b="0">
                <a:solidFill>
                  <a:srgbClr val="64756A"/>
                </a:solidFill>
              </a:rPr>
              <a:t>GoWise · GeoAI Hackathon 2026</a:t>
            </a:r>
          </a:p>
        </p:txBody>
      </p:sp>
    </p:spTree>
    <p:extLst>
      <p:ext uri="{BB962C8B-B14F-4D97-AF65-F5344CB8AC3E}">
        <p14:creationId xmlns:p14="http://schemas.microsoft.com/office/powerpoint/2010/main" val="1302874354"/>
      </p:ext>
    </p:extLst>
  </p:cSld>
</p:sld>
</file>

<file path=ppt/slides/slide5.xml><?xml version="1.0" encoding="utf-8"?>
<p:sld xmlns:p="http://schemas.openxmlformats.org/presentationml/2006/main">
  <p:cSld>
    <p:bg>
      <p:bgPr>
        <a:solidFill xmlns:a="http://schemas.openxmlformats.org/drawingml/2006/main">
          <a:srgbClr val="14271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D5555A-DD83-4A4E-B395-D13037D13AEC}"/>
              </a:ext>
            </a:extLst>
          </p:cNvPr>
          <p:cNvSpPr>
            <a:spLocks xmlns:a="http://schemas.openxmlformats.org/drawingml/2006/main" noGrp="1"/>
          </p:cNvSpPr>
          <p:nvPr/>
        </p:nvSpPr>
        <p:spPr>
          <a:xfrm xmlns:a="http://schemas.openxmlformats.org/drawingml/2006/main">
            <a:off x="685800" y="45720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E3B65E"/>
                </a:solidFill>
              </a:defRPr>
            </a:defPPr>
            <a:lvl1pPr>
              <a:defRPr sz="975" b="1">
                <a:solidFill>
                  <a:srgbClr val="E3B65E"/>
                </a:solidFill>
              </a:defRPr>
            </a:lvl1pPr>
            <a:lvl2pPr>
              <a:defRPr sz="975" b="1">
                <a:solidFill>
                  <a:srgbClr val="E3B65E"/>
                </a:solidFill>
              </a:defRPr>
            </a:lvl2pPr>
            <a:lvl3pPr>
              <a:defRPr sz="975" b="1">
                <a:solidFill>
                  <a:srgbClr val="E3B65E"/>
                </a:solidFill>
              </a:defRPr>
            </a:lvl3pPr>
            <a:lvl4pPr>
              <a:defRPr sz="975" b="1">
                <a:solidFill>
                  <a:srgbClr val="E3B65E"/>
                </a:solidFill>
              </a:defRPr>
            </a:lvl4pPr>
            <a:lvl5pPr>
              <a:defRPr sz="975" b="1">
                <a:solidFill>
                  <a:srgbClr val="E3B65E"/>
                </a:solidFill>
              </a:defRPr>
            </a:lvl5pPr>
            <a:lvl6pPr>
              <a:defRPr sz="975" b="1">
                <a:solidFill>
                  <a:srgbClr val="E3B65E"/>
                </a:solidFill>
              </a:defRPr>
            </a:lvl6pPr>
            <a:lvl7pPr>
              <a:defRPr sz="975" b="1">
                <a:solidFill>
                  <a:srgbClr val="E3B65E"/>
                </a:solidFill>
              </a:defRPr>
            </a:lvl7pPr>
            <a:lvl8pPr>
              <a:defRPr sz="975" b="1">
                <a:solidFill>
                  <a:srgbClr val="E3B65E"/>
                </a:solidFill>
              </a:defRPr>
            </a:lvl8pPr>
            <a:lvl9pPr>
              <a:defRPr sz="975" b="1">
                <a:solidFill>
                  <a:srgbClr val="E3B65E"/>
                </a:solidFill>
              </a:defRPr>
            </a:lvl9pPr>
          </a:lstStyle>
          <a:p xmlns:a="http://schemas.openxmlformats.org/drawingml/2006/main">
            <a:pPr>
              <a:defRPr sz="975" b="1">
                <a:solidFill>
                  <a:srgbClr val="E3B65E"/>
                </a:solidFill>
              </a:defRPr>
            </a:pPr>
            <a:r>
              <a:rPr sz="975" b="1">
                <a:solidFill>
                  <a:srgbClr val="E3B65E"/>
                </a:solidFill>
              </a:rPr>
              <a:t>05  /  DELIVERY STATUS</a:t>
            </a:r>
          </a:p>
        </p:txBody>
      </p:sp>
      <p:sp>
        <p:nvSpPr>
          <p:cNvPr id="2" name="">
            <a:extLst xmlns:a="http://schemas.openxmlformats.org/drawingml/2006/main">
              <a:ext uri="{FF2B5EF4-FFF2-40B4-BE49-F238E27FC236}">
                <a16:creationId xmlns:a16="http://schemas.microsoft.com/office/drawing/2014/main" id="{FC2E7D86-72BC-4D65-A9E3-861174E34A53}"/>
              </a:ext>
            </a:extLst>
          </p:cNvPr>
          <p:cNvSpPr>
            <a:spLocks xmlns:a="http://schemas.openxmlformats.org/drawingml/2006/main" noGrp="1"/>
          </p:cNvSpPr>
          <p:nvPr/>
        </p:nvSpPr>
        <p:spPr>
          <a:xfrm xmlns:a="http://schemas.openxmlformats.org/drawingml/2006/main">
            <a:off x="685800" y="10096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3000" b="1">
                <a:solidFill>
                  <a:srgbClr val="FFFFFF"/>
                </a:solidFill>
              </a:defRPr>
            </a:defPPr>
            <a:lvl1pPr>
              <a:defRPr sz="3000" b="1">
                <a:solidFill>
                  <a:srgbClr val="FFFFFF"/>
                </a:solidFill>
              </a:defRPr>
            </a:lvl1pPr>
            <a:lvl2pPr>
              <a:defRPr sz="3000" b="1">
                <a:solidFill>
                  <a:srgbClr val="FFFFFF"/>
                </a:solidFill>
              </a:defRPr>
            </a:lvl2pPr>
            <a:lvl3pPr>
              <a:defRPr sz="3000" b="1">
                <a:solidFill>
                  <a:srgbClr val="FFFFFF"/>
                </a:solidFill>
              </a:defRPr>
            </a:lvl3pPr>
            <a:lvl4pPr>
              <a:defRPr sz="3000" b="1">
                <a:solidFill>
                  <a:srgbClr val="FFFFFF"/>
                </a:solidFill>
              </a:defRPr>
            </a:lvl4pPr>
            <a:lvl5pPr>
              <a:defRPr sz="3000" b="1">
                <a:solidFill>
                  <a:srgbClr val="FFFFFF"/>
                </a:solidFill>
              </a:defRPr>
            </a:lvl5pPr>
            <a:lvl6pPr>
              <a:defRPr sz="3000" b="1">
                <a:solidFill>
                  <a:srgbClr val="FFFFFF"/>
                </a:solidFill>
              </a:defRPr>
            </a:lvl6pPr>
            <a:lvl7pPr>
              <a:defRPr sz="3000" b="1">
                <a:solidFill>
                  <a:srgbClr val="FFFFFF"/>
                </a:solidFill>
              </a:defRPr>
            </a:lvl7pPr>
            <a:lvl8pPr>
              <a:defRPr sz="3000" b="1">
                <a:solidFill>
                  <a:srgbClr val="FFFFFF"/>
                </a:solidFill>
              </a:defRPr>
            </a:lvl8pPr>
            <a:lvl9pPr>
              <a:defRPr sz="3000" b="1">
                <a:solidFill>
                  <a:srgbClr val="FFFFFF"/>
                </a:solidFill>
              </a:defRPr>
            </a:lvl9pPr>
          </a:lstStyle>
          <a:p xmlns:a="http://schemas.openxmlformats.org/drawingml/2006/main">
            <a:pPr>
              <a:defRPr sz="3000" b="1">
                <a:solidFill>
                  <a:srgbClr val="FFFFFF"/>
                </a:solidFill>
              </a:defRPr>
            </a:pPr>
            <a:r>
              <a:rPr sz="3000" b="1">
                <a:solidFill>
                  <a:srgbClr val="FFFFFF"/>
                </a:solidFill>
              </a:rPr>
              <a:t>What is ready for review</a:t>
            </a:r>
          </a:p>
        </p:txBody>
      </p:sp>
      <p:sp>
        <p:nvSpPr>
          <p:cNvPr id="3" name="">
            <a:extLst xmlns:a="http://schemas.openxmlformats.org/drawingml/2006/main">
              <a:ext uri="{FF2B5EF4-FFF2-40B4-BE49-F238E27FC236}">
                <a16:creationId xmlns:a16="http://schemas.microsoft.com/office/drawing/2014/main" id="{47C3A32B-2629-4E55-A077-4D81149034C8}"/>
              </a:ext>
            </a:extLst>
          </p:cNvPr>
          <p:cNvSpPr>
            <a:spLocks xmlns:a="http://schemas.openxmlformats.org/drawingml/2006/main" noGrp="1"/>
          </p:cNvSpPr>
          <p:nvPr/>
        </p:nvSpPr>
        <p:spPr>
          <a:xfrm xmlns:a="http://schemas.openxmlformats.org/drawingml/2006/main">
            <a:off x="685800" y="1771650"/>
            <a:ext cx="10820400" cy="0"/>
          </a:xfrm>
          <a:prstGeom xmlns:a="http://schemas.openxmlformats.org/drawingml/2006/main" prst="line">
            <a:avLst/>
          </a:prstGeom>
          <a:noFill xmlns:a="http://schemas.openxmlformats.org/drawingml/2006/main"/>
          <a:ln xmlns:a="http://schemas.openxmlformats.org/drawingml/2006/main" w="9525">
            <a:solidFill>
              <a:srgbClr val="54715E"/>
            </a:solidFill>
            <a:prstDash val="solid"/>
          </a:ln>
        </p:spPr>
      </p:sp>
      <p:sp>
        <p:nvSpPr>
          <p:cNvPr id="4" name="">
            <a:extLst xmlns:a="http://schemas.openxmlformats.org/drawingml/2006/main">
              <a:ext uri="{FF2B5EF4-FFF2-40B4-BE49-F238E27FC236}">
                <a16:creationId xmlns:a16="http://schemas.microsoft.com/office/drawing/2014/main" id="{31049F3D-3DEA-41C0-91AD-FF15D8E7E531}"/>
              </a:ext>
            </a:extLst>
          </p:cNvPr>
          <p:cNvSpPr>
            <a:spLocks xmlns:a="http://schemas.openxmlformats.org/drawingml/2006/main" noGrp="1"/>
          </p:cNvSpPr>
          <p:nvPr/>
        </p:nvSpPr>
        <p:spPr>
          <a:xfrm xmlns:a="http://schemas.openxmlformats.org/drawingml/2006/main">
            <a:off x="685800" y="21717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A8D3AD"/>
                </a:solidFill>
              </a:defRPr>
            </a:defPPr>
            <a:lvl1pPr>
              <a:defRPr sz="900" b="1">
                <a:solidFill>
                  <a:srgbClr val="A8D3AD"/>
                </a:solidFill>
              </a:defRPr>
            </a:lvl1pPr>
            <a:lvl2pPr>
              <a:defRPr sz="900" b="1">
                <a:solidFill>
                  <a:srgbClr val="A8D3AD"/>
                </a:solidFill>
              </a:defRPr>
            </a:lvl2pPr>
            <a:lvl3pPr>
              <a:defRPr sz="900" b="1">
                <a:solidFill>
                  <a:srgbClr val="A8D3AD"/>
                </a:solidFill>
              </a:defRPr>
            </a:lvl3pPr>
            <a:lvl4pPr>
              <a:defRPr sz="900" b="1">
                <a:solidFill>
                  <a:srgbClr val="A8D3AD"/>
                </a:solidFill>
              </a:defRPr>
            </a:lvl4pPr>
            <a:lvl5pPr>
              <a:defRPr sz="900" b="1">
                <a:solidFill>
                  <a:srgbClr val="A8D3AD"/>
                </a:solidFill>
              </a:defRPr>
            </a:lvl5pPr>
            <a:lvl6pPr>
              <a:defRPr sz="900" b="1">
                <a:solidFill>
                  <a:srgbClr val="A8D3AD"/>
                </a:solidFill>
              </a:defRPr>
            </a:lvl6pPr>
            <a:lvl7pPr>
              <a:defRPr sz="900" b="1">
                <a:solidFill>
                  <a:srgbClr val="A8D3AD"/>
                </a:solidFill>
              </a:defRPr>
            </a:lvl7pPr>
            <a:lvl8pPr>
              <a:defRPr sz="900" b="1">
                <a:solidFill>
                  <a:srgbClr val="A8D3AD"/>
                </a:solidFill>
              </a:defRPr>
            </a:lvl8pPr>
            <a:lvl9pPr>
              <a:defRPr sz="900" b="1">
                <a:solidFill>
                  <a:srgbClr val="A8D3AD"/>
                </a:solidFill>
              </a:defRPr>
            </a:lvl9pPr>
          </a:lstStyle>
          <a:p xmlns:a="http://schemas.openxmlformats.org/drawingml/2006/main">
            <a:pPr>
              <a:defRPr sz="900" b="1">
                <a:solidFill>
                  <a:srgbClr val="A8D3AD"/>
                </a:solidFill>
              </a:defRPr>
            </a:pPr>
            <a:r>
              <a:rPr sz="900" b="1">
                <a:solidFill>
                  <a:srgbClr val="A8D3AD"/>
                </a:solidFill>
              </a:rPr>
              <a:t>IMPLEMENTED</a:t>
            </a:r>
          </a:p>
        </p:txBody>
      </p:sp>
      <p:sp>
        <p:nvSpPr>
          <p:cNvPr id="5" name="">
            <a:extLst xmlns:a="http://schemas.openxmlformats.org/drawingml/2006/main">
              <a:ext uri="{FF2B5EF4-FFF2-40B4-BE49-F238E27FC236}">
                <a16:creationId xmlns:a16="http://schemas.microsoft.com/office/drawing/2014/main" id="{0B3C1AC4-15F0-48D6-BF53-96B468FA02A7}"/>
              </a:ext>
            </a:extLst>
          </p:cNvPr>
          <p:cNvSpPr>
            <a:spLocks xmlns:a="http://schemas.openxmlformats.org/drawingml/2006/main" noGrp="1"/>
          </p:cNvSpPr>
          <p:nvPr/>
        </p:nvSpPr>
        <p:spPr>
          <a:xfrm xmlns:a="http://schemas.openxmlformats.org/drawingml/2006/main">
            <a:off x="685800" y="2609850"/>
            <a:ext cx="3905250" cy="2047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FFFFFF"/>
                </a:solidFill>
              </a:defRPr>
            </a:defPPr>
            <a:lvl1pPr>
              <a:defRPr sz="1575" b="0">
                <a:solidFill>
                  <a:srgbClr val="FFFFFF"/>
                </a:solidFill>
              </a:defRPr>
            </a:lvl1pPr>
            <a:lvl2pPr>
              <a:defRPr sz="1575" b="0">
                <a:solidFill>
                  <a:srgbClr val="FFFFFF"/>
                </a:solidFill>
              </a:defRPr>
            </a:lvl2pPr>
            <a:lvl3pPr>
              <a:defRPr sz="1575" b="0">
                <a:solidFill>
                  <a:srgbClr val="FFFFFF"/>
                </a:solidFill>
              </a:defRPr>
            </a:lvl3pPr>
            <a:lvl4pPr>
              <a:defRPr sz="1575" b="0">
                <a:solidFill>
                  <a:srgbClr val="FFFFFF"/>
                </a:solidFill>
              </a:defRPr>
            </a:lvl4pPr>
            <a:lvl5pPr>
              <a:defRPr sz="1575" b="0">
                <a:solidFill>
                  <a:srgbClr val="FFFFFF"/>
                </a:solidFill>
              </a:defRPr>
            </a:lvl5pPr>
            <a:lvl6pPr>
              <a:defRPr sz="1575" b="0">
                <a:solidFill>
                  <a:srgbClr val="FFFFFF"/>
                </a:solidFill>
              </a:defRPr>
            </a:lvl6pPr>
            <a:lvl7pPr>
              <a:defRPr sz="1575" b="0">
                <a:solidFill>
                  <a:srgbClr val="FFFFFF"/>
                </a:solidFill>
              </a:defRPr>
            </a:lvl7pPr>
            <a:lvl8pPr>
              <a:defRPr sz="1575" b="0">
                <a:solidFill>
                  <a:srgbClr val="FFFFFF"/>
                </a:solidFill>
              </a:defRPr>
            </a:lvl8pPr>
            <a:lvl9pPr>
              <a:defRPr sz="1575" b="0">
                <a:solidFill>
                  <a:srgbClr val="FFFFFF"/>
                </a:solidFill>
              </a:defRPr>
            </a:lvl9pPr>
          </a:lstStyle>
          <a:p xmlns:a="http://schemas.openxmlformats.org/drawingml/2006/main">
            <a:pPr>
              <a:defRPr sz="1575" b="0">
                <a:solidFill>
                  <a:srgbClr val="FFFFFF"/>
                </a:solidFill>
              </a:defRPr>
            </a:pPr>
            <a:r>
              <a:rPr sz="1575" b="0">
                <a:solidFill>
                  <a:srgbClr val="FFFFFF"/>
                </a:solidFill>
              </a:rPr>
              <a:t>React planner and map (build passes)</a:t>
            </a:r>
          </a:p>
          <a:p xmlns:a="http://schemas.openxmlformats.org/drawingml/2006/main">
            <a:pPr>
              <a:defRPr sz="1575" b="0">
                <a:solidFill>
                  <a:srgbClr val="FFFFFF"/>
                </a:solidFill>
              </a:defRPr>
            </a:pPr>
            <a:r>
              <a:rPr sz="1575" b="0">
                <a:solidFill>
                  <a:srgbClr val="FFFFFF"/>
                </a:solidFill>
              </a:rPr>
              <a:t>FastAPI pipeline in source</a:t>
            </a:r>
          </a:p>
          <a:p xmlns:a="http://schemas.openxmlformats.org/drawingml/2006/main">
            <a:pPr>
              <a:defRPr sz="1575" b="0">
                <a:solidFill>
                  <a:srgbClr val="FFFFFF"/>
                </a:solidFill>
              </a:defRPr>
            </a:pPr>
            <a:r>
              <a:rPr sz="1575" b="0">
                <a:solidFill>
                  <a:srgbClr val="FFFFFF"/>
                </a:solidFill>
              </a:rPr>
              <a:t>Ten activity configurations</a:t>
            </a:r>
          </a:p>
          <a:p xmlns:a="http://schemas.openxmlformats.org/drawingml/2006/main">
            <a:pPr>
              <a:defRPr sz="1575" b="0">
                <a:solidFill>
                  <a:srgbClr val="FFFFFF"/>
                </a:solidFill>
              </a:defRPr>
            </a:pPr>
            <a:r>
              <a:rPr sz="1575" b="0">
                <a:solidFill>
                  <a:srgbClr val="FFFFFF"/>
                </a:solidFill>
              </a:rPr>
              <a:t>Gradio Space with JSON endpoint</a:t>
            </a:r>
          </a:p>
          <a:p xmlns:a="http://schemas.openxmlformats.org/drawingml/2006/main">
            <a:pPr>
              <a:defRPr sz="1575" b="0">
                <a:solidFill>
                  <a:srgbClr val="FFFFFF"/>
                </a:solidFill>
              </a:defRPr>
            </a:pPr>
            <a:r>
              <a:rPr sz="1575" b="0">
                <a:solidFill>
                  <a:srgbClr val="FFFFFF"/>
                </a:solidFill>
              </a:rPr>
              <a:t>Friendly timeout and quota states</a:t>
            </a:r>
          </a:p>
        </p:txBody>
      </p:sp>
      <p:sp>
        <p:nvSpPr>
          <p:cNvPr id="6" name="">
            <a:extLst xmlns:a="http://schemas.openxmlformats.org/drawingml/2006/main">
              <a:ext uri="{FF2B5EF4-FFF2-40B4-BE49-F238E27FC236}">
                <a16:creationId xmlns:a16="http://schemas.microsoft.com/office/drawing/2014/main" id="{7AFCB73E-5611-4946-9EF4-590B830E67DE}"/>
              </a:ext>
            </a:extLst>
          </p:cNvPr>
          <p:cNvSpPr>
            <a:spLocks xmlns:a="http://schemas.openxmlformats.org/drawingml/2006/main" noGrp="1"/>
          </p:cNvSpPr>
          <p:nvPr/>
        </p:nvSpPr>
        <p:spPr>
          <a:xfrm xmlns:a="http://schemas.openxmlformats.org/drawingml/2006/main">
            <a:off x="5219700" y="2190750"/>
            <a:ext cx="0" cy="3276600"/>
          </a:xfrm>
          <a:prstGeom xmlns:a="http://schemas.openxmlformats.org/drawingml/2006/main" prst="line">
            <a:avLst/>
          </a:prstGeom>
          <a:noFill xmlns:a="http://schemas.openxmlformats.org/drawingml/2006/main"/>
          <a:ln xmlns:a="http://schemas.openxmlformats.org/drawingml/2006/main" w="9525">
            <a:solidFill>
              <a:srgbClr val="54715E"/>
            </a:solidFill>
            <a:prstDash val="solid"/>
          </a:ln>
        </p:spPr>
      </p:sp>
      <p:sp>
        <p:nvSpPr>
          <p:cNvPr id="7" name="">
            <a:extLst xmlns:a="http://schemas.openxmlformats.org/drawingml/2006/main">
              <a:ext uri="{FF2B5EF4-FFF2-40B4-BE49-F238E27FC236}">
                <a16:creationId xmlns:a16="http://schemas.microsoft.com/office/drawing/2014/main" id="{4FE01852-5662-4CBB-84AB-907B80559932}"/>
              </a:ext>
            </a:extLst>
          </p:cNvPr>
          <p:cNvSpPr>
            <a:spLocks xmlns:a="http://schemas.openxmlformats.org/drawingml/2006/main" noGrp="1"/>
          </p:cNvSpPr>
          <p:nvPr/>
        </p:nvSpPr>
        <p:spPr>
          <a:xfrm xmlns:a="http://schemas.openxmlformats.org/drawingml/2006/main">
            <a:off x="5867400" y="217170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1">
                <a:solidFill>
                  <a:srgbClr val="E3B65E"/>
                </a:solidFill>
              </a:defRPr>
            </a:defPPr>
            <a:lvl1pPr>
              <a:defRPr sz="900" b="1">
                <a:solidFill>
                  <a:srgbClr val="E3B65E"/>
                </a:solidFill>
              </a:defRPr>
            </a:lvl1pPr>
            <a:lvl2pPr>
              <a:defRPr sz="900" b="1">
                <a:solidFill>
                  <a:srgbClr val="E3B65E"/>
                </a:solidFill>
              </a:defRPr>
            </a:lvl2pPr>
            <a:lvl3pPr>
              <a:defRPr sz="900" b="1">
                <a:solidFill>
                  <a:srgbClr val="E3B65E"/>
                </a:solidFill>
              </a:defRPr>
            </a:lvl3pPr>
            <a:lvl4pPr>
              <a:defRPr sz="900" b="1">
                <a:solidFill>
                  <a:srgbClr val="E3B65E"/>
                </a:solidFill>
              </a:defRPr>
            </a:lvl4pPr>
            <a:lvl5pPr>
              <a:defRPr sz="900" b="1">
                <a:solidFill>
                  <a:srgbClr val="E3B65E"/>
                </a:solidFill>
              </a:defRPr>
            </a:lvl5pPr>
            <a:lvl6pPr>
              <a:defRPr sz="900" b="1">
                <a:solidFill>
                  <a:srgbClr val="E3B65E"/>
                </a:solidFill>
              </a:defRPr>
            </a:lvl6pPr>
            <a:lvl7pPr>
              <a:defRPr sz="900" b="1">
                <a:solidFill>
                  <a:srgbClr val="E3B65E"/>
                </a:solidFill>
              </a:defRPr>
            </a:lvl7pPr>
            <a:lvl8pPr>
              <a:defRPr sz="900" b="1">
                <a:solidFill>
                  <a:srgbClr val="E3B65E"/>
                </a:solidFill>
              </a:defRPr>
            </a:lvl8pPr>
            <a:lvl9pPr>
              <a:defRPr sz="900" b="1">
                <a:solidFill>
                  <a:srgbClr val="E3B65E"/>
                </a:solidFill>
              </a:defRPr>
            </a:lvl9pPr>
          </a:lstStyle>
          <a:p xmlns:a="http://schemas.openxmlformats.org/drawingml/2006/main">
            <a:pPr>
              <a:defRPr sz="900" b="1">
                <a:solidFill>
                  <a:srgbClr val="E3B65E"/>
                </a:solidFill>
              </a:defRPr>
            </a:pPr>
            <a:r>
              <a:rPr sz="900" b="1">
                <a:solidFill>
                  <a:srgbClr val="E3B65E"/>
                </a:solidFill>
              </a:rPr>
              <a:t>STILL TO VERIFY</a:t>
            </a:r>
          </a:p>
        </p:txBody>
      </p:sp>
      <p:sp>
        <p:nvSpPr>
          <p:cNvPr id="8" name="">
            <a:extLst xmlns:a="http://schemas.openxmlformats.org/drawingml/2006/main">
              <a:ext uri="{FF2B5EF4-FFF2-40B4-BE49-F238E27FC236}">
                <a16:creationId xmlns:a16="http://schemas.microsoft.com/office/drawing/2014/main" id="{7F25793A-01E2-4F7F-AB04-30130B9E4A5D}"/>
              </a:ext>
            </a:extLst>
          </p:cNvPr>
          <p:cNvSpPr>
            <a:spLocks xmlns:a="http://schemas.openxmlformats.org/drawingml/2006/main" noGrp="1"/>
          </p:cNvSpPr>
          <p:nvPr/>
        </p:nvSpPr>
        <p:spPr>
          <a:xfrm xmlns:a="http://schemas.openxmlformats.org/drawingml/2006/main">
            <a:off x="5867400" y="2609850"/>
            <a:ext cx="4953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FFFFFF"/>
                </a:solidFill>
              </a:defRPr>
            </a:defPPr>
            <a:lvl1pPr>
              <a:defRPr sz="1500" b="0">
                <a:solidFill>
                  <a:srgbClr val="FFFFFF"/>
                </a:solidFill>
              </a:defRPr>
            </a:lvl1pPr>
            <a:lvl2pPr>
              <a:defRPr sz="1500" b="0">
                <a:solidFill>
                  <a:srgbClr val="FFFFFF"/>
                </a:solidFill>
              </a:defRPr>
            </a:lvl2pPr>
            <a:lvl3pPr>
              <a:defRPr sz="1500" b="0">
                <a:solidFill>
                  <a:srgbClr val="FFFFFF"/>
                </a:solidFill>
              </a:defRPr>
            </a:lvl3pPr>
            <a:lvl4pPr>
              <a:defRPr sz="1500" b="0">
                <a:solidFill>
                  <a:srgbClr val="FFFFFF"/>
                </a:solidFill>
              </a:defRPr>
            </a:lvl4pPr>
            <a:lvl5pPr>
              <a:defRPr sz="1500" b="0">
                <a:solidFill>
                  <a:srgbClr val="FFFFFF"/>
                </a:solidFill>
              </a:defRPr>
            </a:lvl5pPr>
            <a:lvl6pPr>
              <a:defRPr sz="1500" b="0">
                <a:solidFill>
                  <a:srgbClr val="FFFFFF"/>
                </a:solidFill>
              </a:defRPr>
            </a:lvl6pPr>
            <a:lvl7pPr>
              <a:defRPr sz="1500" b="0">
                <a:solidFill>
                  <a:srgbClr val="FFFFFF"/>
                </a:solidFill>
              </a:defRPr>
            </a:lvl7pPr>
            <a:lvl8pPr>
              <a:defRPr sz="1500" b="0">
                <a:solidFill>
                  <a:srgbClr val="FFFFFF"/>
                </a:solidFill>
              </a:defRPr>
            </a:lvl8pPr>
            <a:lvl9pPr>
              <a:defRPr sz="1500" b="0">
                <a:solidFill>
                  <a:srgbClr val="FFFFFF"/>
                </a:solidFill>
              </a:defRPr>
            </a:lvl9pPr>
          </a:lstStyle>
          <a:p xmlns:a="http://schemas.openxmlformats.org/drawingml/2006/main">
            <a:pPr>
              <a:defRPr sz="1500" b="0">
                <a:solidFill>
                  <a:srgbClr val="FFFFFF"/>
                </a:solidFill>
              </a:defRPr>
            </a:pPr>
            <a:r>
              <a:rPr sz="1500" b="0">
                <a:solidFill>
                  <a:srgbClr val="FFFFFF"/>
                </a:solidFill>
              </a:rPr>
              <a:t>Successful live provider-backed recommendation</a:t>
            </a:r>
          </a:p>
          <a:p xmlns:a="http://schemas.openxmlformats.org/drawingml/2006/main">
            <a:pPr>
              <a:defRPr sz="1500" b="0">
                <a:solidFill>
                  <a:srgbClr val="FFFFFF"/>
                </a:solidFill>
              </a:defRPr>
            </a:pPr>
            <a:r>
              <a:rPr sz="1500" b="0">
                <a:solidFill>
                  <a:srgbClr val="FFFFFF"/>
                </a:solidFill>
              </a:rPr>
              <a:t>Scoring tests: 8 pass; full suite unverified</a:t>
            </a:r>
          </a:p>
          <a:p xmlns:a="http://schemas.openxmlformats.org/drawingml/2006/main">
            <a:pPr>
              <a:defRPr sz="1500" b="0">
                <a:solidFill>
                  <a:srgbClr val="FFFFFF"/>
                </a:solidFill>
              </a:defRPr>
            </a:pPr>
            <a:r>
              <a:rPr sz="1500" b="0">
                <a:solidFill>
                  <a:srgbClr val="FFFFFF"/>
                </a:solidFill>
              </a:rPr>
              <a:t>Hosted /health and /api routes</a:t>
            </a:r>
          </a:p>
          <a:p xmlns:a="http://schemas.openxmlformats.org/drawingml/2006/main">
            <a:pPr>
              <a:defRPr sz="1500" b="0">
                <a:solidFill>
                  <a:srgbClr val="FFFFFF"/>
                </a:solidFill>
              </a:defRPr>
            </a:pPr>
            <a:r>
              <a:rPr sz="1500" b="0">
                <a:solidFill>
                  <a:srgbClr val="FFFFFF"/>
                </a:solidFill>
              </a:rPr>
              <a:t>Team model card, licence, and fresh load</a:t>
            </a:r>
          </a:p>
          <a:p xmlns:a="http://schemas.openxmlformats.org/drawingml/2006/main">
            <a:pPr>
              <a:defRPr sz="1500" b="0">
                <a:solidFill>
                  <a:srgbClr val="FFFFFF"/>
                </a:solidFill>
              </a:defRPr>
            </a:pPr>
            <a:r>
              <a:rPr sz="1500" b="0">
                <a:solidFill>
                  <a:srgbClr val="FFFFFF"/>
                </a:solidFill>
              </a:rPr>
              <a:t>Docker cold start and judging availability</a:t>
            </a:r>
          </a:p>
        </p:txBody>
      </p:sp>
      <p:sp>
        <p:nvSpPr>
          <p:cNvPr id="9" name="">
            <a:extLst xmlns:a="http://schemas.openxmlformats.org/drawingml/2006/main">
              <a:ext uri="{FF2B5EF4-FFF2-40B4-BE49-F238E27FC236}">
                <a16:creationId xmlns:a16="http://schemas.microsoft.com/office/drawing/2014/main" id="{127EB970-2BEB-461E-8D66-D44A20C456F7}"/>
              </a:ext>
            </a:extLst>
          </p:cNvPr>
          <p:cNvSpPr>
            <a:spLocks xmlns:a="http://schemas.openxmlformats.org/drawingml/2006/main" noGrp="1"/>
          </p:cNvSpPr>
          <p:nvPr/>
        </p:nvSpPr>
        <p:spPr>
          <a:xfrm xmlns:a="http://schemas.openxmlformats.org/drawingml/2006/main">
            <a:off x="685800" y="56769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125" b="0">
                <a:solidFill>
                  <a:srgbClr val="C2D0C4"/>
                </a:solidFill>
              </a:defRPr>
            </a:defPPr>
            <a:lvl1pPr>
              <a:defRPr sz="1125" b="0">
                <a:solidFill>
                  <a:srgbClr val="C2D0C4"/>
                </a:solidFill>
              </a:defRPr>
            </a:lvl1pPr>
            <a:lvl2pPr>
              <a:defRPr sz="1125" b="0">
                <a:solidFill>
                  <a:srgbClr val="C2D0C4"/>
                </a:solidFill>
              </a:defRPr>
            </a:lvl2pPr>
            <a:lvl3pPr>
              <a:defRPr sz="1125" b="0">
                <a:solidFill>
                  <a:srgbClr val="C2D0C4"/>
                </a:solidFill>
              </a:defRPr>
            </a:lvl3pPr>
            <a:lvl4pPr>
              <a:defRPr sz="1125" b="0">
                <a:solidFill>
                  <a:srgbClr val="C2D0C4"/>
                </a:solidFill>
              </a:defRPr>
            </a:lvl4pPr>
            <a:lvl5pPr>
              <a:defRPr sz="1125" b="0">
                <a:solidFill>
                  <a:srgbClr val="C2D0C4"/>
                </a:solidFill>
              </a:defRPr>
            </a:lvl5pPr>
            <a:lvl6pPr>
              <a:defRPr sz="1125" b="0">
                <a:solidFill>
                  <a:srgbClr val="C2D0C4"/>
                </a:solidFill>
              </a:defRPr>
            </a:lvl6pPr>
            <a:lvl7pPr>
              <a:defRPr sz="1125" b="0">
                <a:solidFill>
                  <a:srgbClr val="C2D0C4"/>
                </a:solidFill>
              </a:defRPr>
            </a:lvl7pPr>
            <a:lvl8pPr>
              <a:defRPr sz="1125" b="0">
                <a:solidFill>
                  <a:srgbClr val="C2D0C4"/>
                </a:solidFill>
              </a:defRPr>
            </a:lvl8pPr>
            <a:lvl9pPr>
              <a:defRPr sz="1125" b="0">
                <a:solidFill>
                  <a:srgbClr val="C2D0C4"/>
                </a:solidFill>
              </a:defRPr>
            </a:lvl9pPr>
          </a:lstStyle>
          <a:p xmlns:a="http://schemas.openxmlformats.org/drawingml/2006/main">
            <a:pPr>
              <a:defRPr sz="1125" b="0">
                <a:solidFill>
                  <a:srgbClr val="C2D0C4"/>
                </a:solidFill>
              </a:defRPr>
            </a:pPr>
            <a:r>
              <a:rPr sz="1125" b="0">
                <a:solidFill>
                  <a:srgbClr val="C2D0C4"/>
                </a:solidFill>
              </a:rPr>
              <a:t>Space is deployed; last inference hit ZeroGPU quota. No live recommendation is verified. Frontend production build passes.</a:t>
            </a:r>
          </a:p>
        </p:txBody>
      </p:sp>
      <p:sp>
        <p:nvSpPr>
          <p:cNvPr id="10" name="">
            <a:extLst xmlns:a="http://schemas.openxmlformats.org/drawingml/2006/main">
              <a:ext uri="{FF2B5EF4-FFF2-40B4-BE49-F238E27FC236}">
                <a16:creationId xmlns:a16="http://schemas.microsoft.com/office/drawing/2014/main" id="{25B1495B-C3B7-403D-AE6F-46CD5A33D9F0}"/>
              </a:ext>
            </a:extLst>
          </p:cNvPr>
          <p:cNvSpPr>
            <a:spLocks xmlns:a="http://schemas.openxmlformats.org/drawingml/2006/main" noGrp="1"/>
          </p:cNvSpPr>
          <p:nvPr/>
        </p:nvSpPr>
        <p:spPr>
          <a:xfrm xmlns:a="http://schemas.openxmlformats.org/drawingml/2006/main">
            <a:off x="685800" y="6334125"/>
            <a:ext cx="10820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750" b="0">
                <a:solidFill>
                  <a:srgbClr val="AFC0B2"/>
                </a:solidFill>
              </a:defRPr>
            </a:defPPr>
            <a:lvl1pPr>
              <a:defRPr sz="750" b="0">
                <a:solidFill>
                  <a:srgbClr val="AFC0B2"/>
                </a:solidFill>
              </a:defRPr>
            </a:lvl1pPr>
            <a:lvl2pPr>
              <a:defRPr sz="750" b="0">
                <a:solidFill>
                  <a:srgbClr val="AFC0B2"/>
                </a:solidFill>
              </a:defRPr>
            </a:lvl2pPr>
            <a:lvl3pPr>
              <a:defRPr sz="750" b="0">
                <a:solidFill>
                  <a:srgbClr val="AFC0B2"/>
                </a:solidFill>
              </a:defRPr>
            </a:lvl3pPr>
            <a:lvl4pPr>
              <a:defRPr sz="750" b="0">
                <a:solidFill>
                  <a:srgbClr val="AFC0B2"/>
                </a:solidFill>
              </a:defRPr>
            </a:lvl4pPr>
            <a:lvl5pPr>
              <a:defRPr sz="750" b="0">
                <a:solidFill>
                  <a:srgbClr val="AFC0B2"/>
                </a:solidFill>
              </a:defRPr>
            </a:lvl5pPr>
            <a:lvl6pPr>
              <a:defRPr sz="750" b="0">
                <a:solidFill>
                  <a:srgbClr val="AFC0B2"/>
                </a:solidFill>
              </a:defRPr>
            </a:lvl6pPr>
            <a:lvl7pPr>
              <a:defRPr sz="750" b="0">
                <a:solidFill>
                  <a:srgbClr val="AFC0B2"/>
                </a:solidFill>
              </a:defRPr>
            </a:lvl7pPr>
            <a:lvl8pPr>
              <a:defRPr sz="750" b="0">
                <a:solidFill>
                  <a:srgbClr val="AFC0B2"/>
                </a:solidFill>
              </a:defRPr>
            </a:lvl8pPr>
            <a:lvl9pPr>
              <a:defRPr sz="750" b="0">
                <a:solidFill>
                  <a:srgbClr val="AFC0B2"/>
                </a:solidFill>
              </a:defRPr>
            </a:lvl9pPr>
          </a:lstStyle>
          <a:p xmlns:a="http://schemas.openxmlformats.org/drawingml/2006/main">
            <a:pPr>
              <a:defRPr sz="750" b="0">
                <a:solidFill>
                  <a:srgbClr val="AFC0B2"/>
                </a:solidFill>
              </a:defRPr>
            </a:pPr>
            <a:r>
              <a:rPr sz="750" b="0">
                <a:solidFill>
                  <a:srgbClr val="AFC0B2"/>
                </a:solidFill>
              </a:rPr>
              <a:t>Rules source: geosysiot.in/geoai-hackathon/#guidelines  ·  Status checked 24 Oct 2026</a:t>
            </a:r>
          </a:p>
        </p:txBody>
      </p:sp>
    </p:spTree>
    <p:extLst>
      <p:ext uri="{BB962C8B-B14F-4D97-AF65-F5344CB8AC3E}">
        <p14:creationId xmlns:p14="http://schemas.microsoft.com/office/powerpoint/2010/main" val="12746871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2026-10-24T17:19:18.7800000Z</dcterms:created>
  <dcterms:modified xsi:type="dcterms:W3CDTF">2026-10-24T17:19:18.7800000Z</dcterms:modified>
</coreProperties>
</file>