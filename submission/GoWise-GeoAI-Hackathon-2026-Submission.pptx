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e5e311eeb96473a" /><Relationship Type="http://schemas.openxmlformats.org/officeDocument/2006/relationships/extended-properties" Target="/docProps/app.xml" Id="R51cce38696f84e41" /><Relationship Type="http://schemas.openxmlformats.org/officeDocument/2006/relationships/officeDocument" Target="/ppt/presentation.xml" Id="R5da1c162fa1449ec" /></Relationships>
</file>

<file path=ppt/presentation.xml><?xml version="1.0" encoding="utf-8"?>
<p:presentation xmlns:p="http://schemas.openxmlformats.org/presentationml/2006/main">
  <p:sldMasterIdLst>
    <p:sldMasterId xmlns:r="http://schemas.openxmlformats.org/officeDocument/2006/relationships" id="2147483648" r:id="R0c65efec166d430a"/>
  </p:sldMasterIdLst>
  <p:notesMasterIdLst>
    <p:notesMasterId xmlns:r="http://schemas.openxmlformats.org/officeDocument/2006/relationships" r:id="R189d3578d66444b4"/>
  </p:notesMasterIdLst>
  <p:sldIdLst>
    <p:sldId xmlns:r="http://schemas.openxmlformats.org/officeDocument/2006/relationships" id="256" r:id="Rd68718adde434ff9"/>
    <p:sldId xmlns:r="http://schemas.openxmlformats.org/officeDocument/2006/relationships" id="257" r:id="R7a25ca6890274a9a"/>
    <p:sldId xmlns:r="http://schemas.openxmlformats.org/officeDocument/2006/relationships" id="258" r:id="Rf7740c9e8fa144d9"/>
    <p:sldId xmlns:r="http://schemas.openxmlformats.org/officeDocument/2006/relationships" id="259" r:id="Rbe052cb474244008"/>
    <p:sldId xmlns:r="http://schemas.openxmlformats.org/officeDocument/2006/relationships" id="260" r:id="Rd9498c91229a4a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d690fe1db94d6a" /><Relationship Type="http://schemas.openxmlformats.org/officeDocument/2006/relationships/slideMaster" Target="/ppt/slideMasters/slideMaster1.xml" Id="R0c65efec166d430a" /><Relationship Type="http://schemas.openxmlformats.org/officeDocument/2006/relationships/notesMaster" Target="/ppt/notesMasters/notesMaster1.xml" Id="R189d3578d66444b4" /><Relationship Type="http://schemas.openxmlformats.org/officeDocument/2006/relationships/presProps" Target="/ppt/presProps.xml" Id="R55eefc8b071e4e73" /><Relationship Type="http://schemas.openxmlformats.org/officeDocument/2006/relationships/tableStyles" Target="/ppt/tableStyles.xml" Id="R76b9138dfd5c4324" /><Relationship Type="http://schemas.openxmlformats.org/officeDocument/2006/relationships/slide" Target="/ppt/slides/slide1.xml" Id="Rd68718adde434ff9" /><Relationship Type="http://schemas.openxmlformats.org/officeDocument/2006/relationships/slide" Target="/ppt/slides/slide2.xml" Id="R7a25ca6890274a9a" /><Relationship Type="http://schemas.openxmlformats.org/officeDocument/2006/relationships/slide" Target="/ppt/slides/slide3.xml" Id="Rf7740c9e8fa144d9" /><Relationship Type="http://schemas.openxmlformats.org/officeDocument/2006/relationships/slide" Target="/ppt/slides/slide4.xml" Id="Rbe052cb474244008" /><Relationship Type="http://schemas.openxmlformats.org/officeDocument/2006/relationships/slide" Target="/ppt/slides/slide5.xml" Id="Rd9498c91229a4a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3876ad449b459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dc3481af6e847d9" /><Relationship Type="http://schemas.openxmlformats.org/officeDocument/2006/relationships/notesMaster" Target="/ppt/notesMasters/notesMaster1.xml" Id="R4c4c7619444a49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8daf6e6c53404b" /><Relationship Type="http://schemas.openxmlformats.org/officeDocument/2006/relationships/notesMaster" Target="/ppt/notesMasters/notesMaster1.xml" Id="R8999575407ca411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b25ba8a1394238" /><Relationship Type="http://schemas.openxmlformats.org/officeDocument/2006/relationships/notesMaster" Target="/ppt/notesMasters/notesMaster1.xml" Id="R5e9f592d56cb45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aed3c532f34348aa" /><Relationship Type="http://schemas.openxmlformats.org/officeDocument/2006/relationships/notesMaster" Target="/ppt/notesMasters/notesMaster1.xml" Id="Rc6ec98baba704b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b6de2d6f834488" /><Relationship Type="http://schemas.openxmlformats.org/officeDocument/2006/relationships/notesMaster" Target="/ppt/notesMasters/notesMaster1.xml" Id="R9d1802bc277d4b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GoWise project instructions and the official GeoAI Hackathon 2026 rulebook. Official brief: https://geosysiot.in/geoai-hackathon/#guidelines. Current verification status is documented in the project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GeoAI Hackathon 2026 rulebook for required outdoor activities. Query behavior reflects backend/app/model/query_extraction.py. Profile details remain request-scoped and are not written to storage.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ARCHITECTURE.md and DATA_SOURCES.md. Implemented providers are Nominatim, Overpass API / OpenStreetMap, Open-Meteo Forecast API, and Open-Meteo Air Quality API. The team repository mirrors Qwen2.5-1.5B-Instruct base weights; no project-specific fine-tuning is claimed. The runtime model is configured through Transformers AutoTokenizer and AutoModelForCausalLM.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for heuristic weights and missing-data behavior: backend/app/engine/scoring.py. Provider limitations and attribution policy: DATA_SOURCES.md. Open-Meteo air-quality forecast is regional model guidance. Road proximity is a map proxy, not live traffic. OSM credit: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as of 24 October 2026. The React production build passed and eight deterministic scoring tests passed. The full pytest suite did not complete in the Windows sandbox because an asyncio/socketpair path hung. The public team model repo reports Apache-2.0 and contains 1,543,714,304 BF16 parameters with a model card; the running Space displays the team model ID as loaded through Transformers. Its Gradio JSON endpoint is available, but the last inference attempt was blocked by ZeroGPU quota; no provider-backed recommendation is verified. The deployed Space does not expose the exact FastAPI /health and /api/recommendations routes. Competition requirements: https://geosysiot.in/geoai-hackathon/#guidelines.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9a79ade74c46d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0f3ead9bb264c2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6ba5561013c4e4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f10c2963ac9481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b5c4fcf3bf1458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bd147d42534ef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457129-78BE-485B-97DD-3C556801162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E679D9A-6C7D-4465-8F27-EDB8741F65B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45B4EA7-08D0-40C2-BDE5-82BB6FC5E28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6AE38A-D9FF-4735-A1D7-722FD5E862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B9AFD6B-EE82-42EC-8512-435D0743A3C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0C40906-9327-4BFD-A78E-A9F6BF83E2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F150234-B238-4B17-9356-2FD561DFE5F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0BABE66-2275-45A9-AA74-B1BB5FE409E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77919B-DB5D-4E4F-A5E5-AF32F2762D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16E6094-105C-484A-99F8-4D2B5BF07E5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aaabcc39f60413c" /><Relationship Type="http://schemas.openxmlformats.org/officeDocument/2006/relationships/slideLayout" Target="/ppt/slideLayouts/slideLayout1.xml" Id="Rbd7360586d964925" /><Relationship Type="http://schemas.openxmlformats.org/officeDocument/2006/relationships/slideLayout" Target="/ppt/slideLayouts/slideLayout2.xml" Id="R180a2e0ce8cc457c" /><Relationship Type="http://schemas.openxmlformats.org/officeDocument/2006/relationships/slideLayout" Target="/ppt/slideLayouts/slideLayout3.xml" Id="Re5ae598f2de14364" /><Relationship Type="http://schemas.openxmlformats.org/officeDocument/2006/relationships/slideLayout" Target="/ppt/slideLayouts/slideLayout4.xml" Id="R1aeeac425ae84c67" /><Relationship Type="http://schemas.openxmlformats.org/officeDocument/2006/relationships/slideLayout" Target="/ppt/slideLayouts/slideLayout5.xml" Id="R73faf35daca44d2e" /><Relationship Type="http://schemas.openxmlformats.org/officeDocument/2006/relationships/slideLayout" Target="/ppt/slideLayouts/slideLayout6.xml" Id="Re1bd6782583a43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7360586d964925"/>
    <p:sldLayoutId xmlns:r="http://schemas.openxmlformats.org/officeDocument/2006/relationships" id="2147483650" r:id="R180a2e0ce8cc457c"/>
    <p:sldLayoutId xmlns:r="http://schemas.openxmlformats.org/officeDocument/2006/relationships" id="2147483651" r:id="Re5ae598f2de14364"/>
    <p:sldLayoutId xmlns:r="http://schemas.openxmlformats.org/officeDocument/2006/relationships" id="2147483652" r:id="R1aeeac425ae84c67"/>
    <p:sldLayoutId xmlns:r="http://schemas.openxmlformats.org/officeDocument/2006/relationships" id="2147483653" r:id="R73faf35daca44d2e"/>
    <p:sldLayoutId xmlns:r="http://schemas.openxmlformats.org/officeDocument/2006/relationships" id="2147483654" r:id="Re1bd6782583a43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dab597edf974479" /><Relationship Type="http://schemas.openxmlformats.org/officeDocument/2006/relationships/notesSlide" Target="/ppt/notesSlides/notesSlide1.xml" Id="R49dbfcd374fb4f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d8136faf47d4e81" /><Relationship Type="http://schemas.openxmlformats.org/officeDocument/2006/relationships/notesSlide" Target="/ppt/notesSlides/notesSlide2.xml" Id="Ra96f6fa2559148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119c4443714459f" /><Relationship Type="http://schemas.openxmlformats.org/officeDocument/2006/relationships/notesSlide" Target="/ppt/notesSlides/notesSlide3.xml" Id="Rdf401011a7a34ac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362f581661644ed" /><Relationship Type="http://schemas.openxmlformats.org/officeDocument/2006/relationships/notesSlide" Target="/ppt/notesSlides/notesSlide4.xml" Id="R2965343e0ee6401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e0ba8b7426a41b5" /><Relationship Type="http://schemas.openxmlformats.org/officeDocument/2006/relationships/notesSlide" Target="/ppt/notesSlides/notesSlide5.xml" Id="Rd8850a9b1acc4e0c" /></Relationships>
</file>

<file path=ppt/slides/slide1.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9450D7-22E4-4F1D-896B-79BFB1A912A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B19E38B-D515-4C8E-B92E-1658F6845BDD}"/>
              </a:ext>
            </a:extLst>
          </p:cNvPr>
          <p:cNvSpPr>
            <a:spLocks xmlns:a="http://schemas.openxmlformats.org/drawingml/2006/main" noGrp="1"/>
          </p:cNvSpPr>
          <p:nvPr/>
        </p:nvSpPr>
        <p:spPr>
          <a:xfrm xmlns:a="http://schemas.openxmlformats.org/drawingml/2006/main">
            <a:off x="742950" y="742950"/>
            <a:ext cx="609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GOWISE  /  GEOAI HACKATHON 2026</a:t>
            </a:r>
          </a:p>
        </p:txBody>
      </p:sp>
      <p:sp>
        <p:nvSpPr>
          <p:cNvPr id="3" name="">
            <a:extLst xmlns:a="http://schemas.openxmlformats.org/drawingml/2006/main">
              <a:ext uri="{FF2B5EF4-FFF2-40B4-BE49-F238E27FC236}">
                <a16:creationId xmlns:a16="http://schemas.microsoft.com/office/drawing/2014/main" id="{94FFD4B2-7FAF-4A50-931A-608189AF251F}"/>
              </a:ext>
            </a:extLst>
          </p:cNvPr>
          <p:cNvSpPr>
            <a:spLocks xmlns:a="http://schemas.openxmlformats.org/drawingml/2006/main" noGrp="1"/>
          </p:cNvSpPr>
          <p:nvPr/>
        </p:nvSpPr>
        <p:spPr>
          <a:xfrm xmlns:a="http://schemas.openxmlformats.org/drawingml/2006/main">
            <a:off x="742950" y="1562100"/>
            <a:ext cx="800100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20392D"/>
                </a:solidFill>
              </a:defRPr>
            </a:defPPr>
            <a:lvl1pPr>
              <a:defRPr sz="4050" b="1">
                <a:solidFill>
                  <a:srgbClr val="20392D"/>
                </a:solidFill>
              </a:defRPr>
            </a:lvl1pPr>
            <a:lvl2pPr>
              <a:defRPr sz="4050" b="1">
                <a:solidFill>
                  <a:srgbClr val="20392D"/>
                </a:solidFill>
              </a:defRPr>
            </a:lvl2pPr>
            <a:lvl3pPr>
              <a:defRPr sz="4050" b="1">
                <a:solidFill>
                  <a:srgbClr val="20392D"/>
                </a:solidFill>
              </a:defRPr>
            </a:lvl3pPr>
            <a:lvl4pPr>
              <a:defRPr sz="4050" b="1">
                <a:solidFill>
                  <a:srgbClr val="20392D"/>
                </a:solidFill>
              </a:defRPr>
            </a:lvl4pPr>
            <a:lvl5pPr>
              <a:defRPr sz="4050" b="1">
                <a:solidFill>
                  <a:srgbClr val="20392D"/>
                </a:solidFill>
              </a:defRPr>
            </a:lvl5pPr>
            <a:lvl6pPr>
              <a:defRPr sz="4050" b="1">
                <a:solidFill>
                  <a:srgbClr val="20392D"/>
                </a:solidFill>
              </a:defRPr>
            </a:lvl6pPr>
            <a:lvl7pPr>
              <a:defRPr sz="4050" b="1">
                <a:solidFill>
                  <a:srgbClr val="20392D"/>
                </a:solidFill>
              </a:defRPr>
            </a:lvl7pPr>
            <a:lvl8pPr>
              <a:defRPr sz="4050" b="1">
                <a:solidFill>
                  <a:srgbClr val="20392D"/>
                </a:solidFill>
              </a:defRPr>
            </a:lvl8pPr>
            <a:lvl9pPr>
              <a:defRPr sz="4050" b="1">
                <a:solidFill>
                  <a:srgbClr val="20392D"/>
                </a:solidFill>
              </a:defRPr>
            </a:lvl9pPr>
          </a:lstStyle>
          <a:p xmlns:a="http://schemas.openxmlformats.org/drawingml/2006/main">
            <a:pPr>
              <a:defRPr sz="4050" b="1">
                <a:solidFill>
                  <a:srgbClr val="20392D"/>
                </a:solidFill>
              </a:defRPr>
            </a:pPr>
            <a:r>
              <a:rPr sz="4050" b="1">
                <a:solidFill>
                  <a:srgbClr val="20392D"/>
                </a:solidFill>
              </a:rPr>
              <a:t>Outdoor plans,</a:t>
            </a:r>
          </a:p>
          <a:p xmlns:a="http://schemas.openxmlformats.org/drawingml/2006/main">
            <a:pPr>
              <a:defRPr sz="4050" b="1">
                <a:solidFill>
                  <a:srgbClr val="20392D"/>
                </a:solidFill>
              </a:defRPr>
            </a:pPr>
            <a:r>
              <a:rPr sz="4050" b="1">
                <a:solidFill>
                  <a:srgbClr val="20392D"/>
                </a:solidFill>
              </a:rPr>
              <a:t>with a place and a time.</a:t>
            </a:r>
          </a:p>
        </p:txBody>
      </p:sp>
      <p:sp>
        <p:nvSpPr>
          <p:cNvPr id="4" name="">
            <a:extLst xmlns:a="http://schemas.openxmlformats.org/drawingml/2006/main">
              <a:ext uri="{FF2B5EF4-FFF2-40B4-BE49-F238E27FC236}">
                <a16:creationId xmlns:a16="http://schemas.microsoft.com/office/drawing/2014/main" id="{E12F750C-E519-454A-844A-333BF3DAAC64}"/>
              </a:ext>
            </a:extLst>
          </p:cNvPr>
          <p:cNvSpPr>
            <a:spLocks xmlns:a="http://schemas.openxmlformats.org/drawingml/2006/main" noGrp="1"/>
          </p:cNvSpPr>
          <p:nvPr/>
        </p:nvSpPr>
        <p:spPr>
          <a:xfrm xmlns:a="http://schemas.openxmlformats.org/drawingml/2006/main">
            <a:off x="781050" y="3638550"/>
            <a:ext cx="666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64756A"/>
                </a:solidFill>
              </a:defRPr>
            </a:defPPr>
            <a:lvl1pPr>
              <a:defRPr sz="1650" b="0">
                <a:solidFill>
                  <a:srgbClr val="64756A"/>
                </a:solidFill>
              </a:defRPr>
            </a:lvl1pPr>
            <a:lvl2pPr>
              <a:defRPr sz="1650" b="0">
                <a:solidFill>
                  <a:srgbClr val="64756A"/>
                </a:solidFill>
              </a:defRPr>
            </a:lvl2pPr>
            <a:lvl3pPr>
              <a:defRPr sz="1650" b="0">
                <a:solidFill>
                  <a:srgbClr val="64756A"/>
                </a:solidFill>
              </a:defRPr>
            </a:lvl3pPr>
            <a:lvl4pPr>
              <a:defRPr sz="1650" b="0">
                <a:solidFill>
                  <a:srgbClr val="64756A"/>
                </a:solidFill>
              </a:defRPr>
            </a:lvl4pPr>
            <a:lvl5pPr>
              <a:defRPr sz="1650" b="0">
                <a:solidFill>
                  <a:srgbClr val="64756A"/>
                </a:solidFill>
              </a:defRPr>
            </a:lvl5pPr>
            <a:lvl6pPr>
              <a:defRPr sz="1650" b="0">
                <a:solidFill>
                  <a:srgbClr val="64756A"/>
                </a:solidFill>
              </a:defRPr>
            </a:lvl6pPr>
            <a:lvl7pPr>
              <a:defRPr sz="1650" b="0">
                <a:solidFill>
                  <a:srgbClr val="64756A"/>
                </a:solidFill>
              </a:defRPr>
            </a:lvl7pPr>
            <a:lvl8pPr>
              <a:defRPr sz="1650" b="0">
                <a:solidFill>
                  <a:srgbClr val="64756A"/>
                </a:solidFill>
              </a:defRPr>
            </a:lvl8pPr>
            <a:lvl9pPr>
              <a:defRPr sz="1650" b="0">
                <a:solidFill>
                  <a:srgbClr val="64756A"/>
                </a:solidFill>
              </a:defRPr>
            </a:lvl9pPr>
          </a:lstStyle>
          <a:p xmlns:a="http://schemas.openxmlformats.org/drawingml/2006/main">
            <a:pPr>
              <a:defRPr sz="1650" b="0">
                <a:solidFill>
                  <a:srgbClr val="64756A"/>
                </a:solidFill>
              </a:defRPr>
            </a:pPr>
            <a:r>
              <a:rPr sz="1650" b="0">
                <a:solidFill>
                  <a:srgbClr val="64756A"/>
                </a:solidFill>
              </a:rPr>
              <a:t>A web assistant that compares mapped venues and forecast hours for ten outdoor activities.</a:t>
            </a:r>
          </a:p>
        </p:txBody>
      </p:sp>
      <p:sp>
        <p:nvSpPr>
          <p:cNvPr id="5" name="">
            <a:extLst xmlns:a="http://schemas.openxmlformats.org/drawingml/2006/main">
              <a:ext uri="{FF2B5EF4-FFF2-40B4-BE49-F238E27FC236}">
                <a16:creationId xmlns:a16="http://schemas.microsoft.com/office/drawing/2014/main" id="{BAB00ED1-902D-4176-A92A-FDFCA8370E1A}"/>
              </a:ext>
            </a:extLst>
          </p:cNvPr>
          <p:cNvSpPr>
            <a:spLocks xmlns:a="http://schemas.openxmlformats.org/drawingml/2006/main" noGrp="1"/>
          </p:cNvSpPr>
          <p:nvPr/>
        </p:nvSpPr>
        <p:spPr>
          <a:xfrm xmlns:a="http://schemas.openxmlformats.org/drawingml/2006/main">
            <a:off x="781050" y="4781550"/>
            <a:ext cx="5695950" cy="0"/>
          </a:xfrm>
          <a:prstGeom xmlns:a="http://schemas.openxmlformats.org/drawingml/2006/main" prst="line">
            <a:avLst/>
          </a:prstGeom>
          <a:noFill xmlns:a="http://schemas.openxmlformats.org/drawingml/2006/main"/>
          <a:ln xmlns:a="http://schemas.openxmlformats.org/drawingml/2006/main" w="19050">
            <a:solidFill>
              <a:srgbClr val="B8C8BA"/>
            </a:solidFill>
            <a:prstDash val="solid"/>
          </a:ln>
        </p:spPr>
      </p:sp>
      <p:sp>
        <p:nvSpPr>
          <p:cNvPr id="6" name="">
            <a:extLst xmlns:a="http://schemas.openxmlformats.org/drawingml/2006/main">
              <a:ext uri="{FF2B5EF4-FFF2-40B4-BE49-F238E27FC236}">
                <a16:creationId xmlns:a16="http://schemas.microsoft.com/office/drawing/2014/main" id="{48AD7428-CED3-447D-960B-74F87D087AC7}"/>
              </a:ext>
            </a:extLst>
          </p:cNvPr>
          <p:cNvSpPr>
            <a:spLocks xmlns:a="http://schemas.openxmlformats.org/drawingml/2006/main" noGrp="1"/>
          </p:cNvSpPr>
          <p:nvPr/>
        </p:nvSpPr>
        <p:spPr>
          <a:xfrm xmlns:a="http://schemas.openxmlformats.org/drawingml/2006/main">
            <a:off x="781050" y="50101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2E6B4A"/>
                </a:solidFill>
              </a:defRPr>
            </a:defPPr>
            <a:lvl1pPr>
              <a:defRPr sz="975" b="1">
                <a:solidFill>
                  <a:srgbClr val="2E6B4A"/>
                </a:solidFill>
              </a:defRPr>
            </a:lvl1pPr>
            <a:lvl2pPr>
              <a:defRPr sz="975" b="1">
                <a:solidFill>
                  <a:srgbClr val="2E6B4A"/>
                </a:solidFill>
              </a:defRPr>
            </a:lvl2pPr>
            <a:lvl3pPr>
              <a:defRPr sz="975" b="1">
                <a:solidFill>
                  <a:srgbClr val="2E6B4A"/>
                </a:solidFill>
              </a:defRPr>
            </a:lvl3pPr>
            <a:lvl4pPr>
              <a:defRPr sz="975" b="1">
                <a:solidFill>
                  <a:srgbClr val="2E6B4A"/>
                </a:solidFill>
              </a:defRPr>
            </a:lvl4pPr>
            <a:lvl5pPr>
              <a:defRPr sz="975" b="1">
                <a:solidFill>
                  <a:srgbClr val="2E6B4A"/>
                </a:solidFill>
              </a:defRPr>
            </a:lvl5pPr>
            <a:lvl6pPr>
              <a:defRPr sz="975" b="1">
                <a:solidFill>
                  <a:srgbClr val="2E6B4A"/>
                </a:solidFill>
              </a:defRPr>
            </a:lvl6pPr>
            <a:lvl7pPr>
              <a:defRPr sz="975" b="1">
                <a:solidFill>
                  <a:srgbClr val="2E6B4A"/>
                </a:solidFill>
              </a:defRPr>
            </a:lvl7pPr>
            <a:lvl8pPr>
              <a:defRPr sz="975" b="1">
                <a:solidFill>
                  <a:srgbClr val="2E6B4A"/>
                </a:solidFill>
              </a:defRPr>
            </a:lvl8pPr>
            <a:lvl9pPr>
              <a:defRPr sz="975" b="1">
                <a:solidFill>
                  <a:srgbClr val="2E6B4A"/>
                </a:solidFill>
              </a:defRPr>
            </a:lvl9pPr>
          </a:lstStyle>
          <a:p xmlns:a="http://schemas.openxmlformats.org/drawingml/2006/main">
            <a:pPr>
              <a:defRPr sz="975" b="1">
                <a:solidFill>
                  <a:srgbClr val="2E6B4A"/>
                </a:solidFill>
              </a:defRPr>
            </a:pPr>
            <a:r>
              <a:rPr sz="975" b="1">
                <a:solidFill>
                  <a:srgbClr val="2E6B4A"/>
                </a:solidFill>
              </a:rPr>
              <a:t>LIVE SOURCES  ·  LOCAL OPEN MODEL  ·  EXPLAINABLE HEURISTICS</a:t>
            </a:r>
          </a:p>
        </p:txBody>
      </p:sp>
      <p:sp>
        <p:nvSpPr>
          <p:cNvPr id="7" name="">
            <a:extLst xmlns:a="http://schemas.openxmlformats.org/drawingml/2006/main">
              <a:ext uri="{FF2B5EF4-FFF2-40B4-BE49-F238E27FC236}">
                <a16:creationId xmlns:a16="http://schemas.microsoft.com/office/drawing/2014/main" id="{D25589DC-9F95-4B3A-B964-52FF476DEFA4}"/>
              </a:ext>
            </a:extLst>
          </p:cNvPr>
          <p:cNvSpPr>
            <a:spLocks xmlns:a="http://schemas.openxmlformats.org/drawingml/2006/main" noGrp="1"/>
          </p:cNvSpPr>
          <p:nvPr/>
        </p:nvSpPr>
        <p:spPr>
          <a:xfrm xmlns:a="http://schemas.openxmlformats.org/drawingml/2006/main">
            <a:off x="781050" y="5638800"/>
            <a:ext cx="9239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0">
                <a:solidFill>
                  <a:srgbClr val="64756A"/>
                </a:solidFill>
              </a:defRPr>
            </a:defPPr>
            <a:lvl1pPr>
              <a:defRPr sz="1050" b="0">
                <a:solidFill>
                  <a:srgbClr val="64756A"/>
                </a:solidFill>
              </a:defRPr>
            </a:lvl1pPr>
            <a:lvl2pPr>
              <a:defRPr sz="1050" b="0">
                <a:solidFill>
                  <a:srgbClr val="64756A"/>
                </a:solidFill>
              </a:defRPr>
            </a:lvl2pPr>
            <a:lvl3pPr>
              <a:defRPr sz="1050" b="0">
                <a:solidFill>
                  <a:srgbClr val="64756A"/>
                </a:solidFill>
              </a:defRPr>
            </a:lvl3pPr>
            <a:lvl4pPr>
              <a:defRPr sz="1050" b="0">
                <a:solidFill>
                  <a:srgbClr val="64756A"/>
                </a:solidFill>
              </a:defRPr>
            </a:lvl4pPr>
            <a:lvl5pPr>
              <a:defRPr sz="1050" b="0">
                <a:solidFill>
                  <a:srgbClr val="64756A"/>
                </a:solidFill>
              </a:defRPr>
            </a:lvl5pPr>
            <a:lvl6pPr>
              <a:defRPr sz="1050" b="0">
                <a:solidFill>
                  <a:srgbClr val="64756A"/>
                </a:solidFill>
              </a:defRPr>
            </a:lvl6pPr>
            <a:lvl7pPr>
              <a:defRPr sz="1050" b="0">
                <a:solidFill>
                  <a:srgbClr val="64756A"/>
                </a:solidFill>
              </a:defRPr>
            </a:lvl7pPr>
            <a:lvl8pPr>
              <a:defRPr sz="1050" b="0">
                <a:solidFill>
                  <a:srgbClr val="64756A"/>
                </a:solidFill>
              </a:defRPr>
            </a:lvl8pPr>
            <a:lvl9pPr>
              <a:defRPr sz="1050" b="0">
                <a:solidFill>
                  <a:srgbClr val="64756A"/>
                </a:solidFill>
              </a:defRPr>
            </a:lvl9pPr>
          </a:lstStyle>
          <a:p xmlns:a="http://schemas.openxmlformats.org/drawingml/2006/main">
            <a:pPr>
              <a:defRPr sz="1050" b="0">
                <a:solidFill>
                  <a:srgbClr val="64756A"/>
                </a:solidFill>
              </a:defRPr>
            </a:pPr>
            <a:r>
              <a:rPr sz="1050" b="0">
                <a:solidFill>
                  <a:srgbClr val="64756A"/>
                </a:solidFill>
              </a:rPr>
              <a:t>Prototype status: React production build passes and the Hugging Face Space is deployed. A live recommendation and full backend checks remain unverified.</a:t>
            </a:r>
          </a:p>
        </p:txBody>
      </p:sp>
      <p:sp>
        <p:nvSpPr>
          <p:cNvPr id="8" name="">
            <a:extLst xmlns:a="http://schemas.openxmlformats.org/drawingml/2006/main">
              <a:ext uri="{FF2B5EF4-FFF2-40B4-BE49-F238E27FC236}">
                <a16:creationId xmlns:a16="http://schemas.microsoft.com/office/drawing/2014/main" id="{B6DA03F8-77E6-4622-9DA1-7CFF5CB19450}"/>
              </a:ext>
            </a:extLst>
          </p:cNvPr>
          <p:cNvSpPr>
            <a:spLocks xmlns:a="http://schemas.openxmlformats.org/drawingml/2006/main" noGrp="1"/>
          </p:cNvSpPr>
          <p:nvPr/>
        </p:nvSpPr>
        <p:spPr>
          <a:xfrm xmlns:a="http://schemas.openxmlformats.org/drawingml/2006/main">
            <a:off x="9525000" y="6381750"/>
            <a:ext cx="1981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64756A"/>
                </a:solidFill>
              </a:defRPr>
            </a:defPPr>
            <a:lvl1pPr>
              <a:defRPr sz="825" b="1">
                <a:solidFill>
                  <a:srgbClr val="64756A"/>
                </a:solidFill>
              </a:defRPr>
            </a:lvl1pPr>
            <a:lvl2pPr>
              <a:defRPr sz="825" b="1">
                <a:solidFill>
                  <a:srgbClr val="64756A"/>
                </a:solidFill>
              </a:defRPr>
            </a:lvl2pPr>
            <a:lvl3pPr>
              <a:defRPr sz="825" b="1">
                <a:solidFill>
                  <a:srgbClr val="64756A"/>
                </a:solidFill>
              </a:defRPr>
            </a:lvl3pPr>
            <a:lvl4pPr>
              <a:defRPr sz="825" b="1">
                <a:solidFill>
                  <a:srgbClr val="64756A"/>
                </a:solidFill>
              </a:defRPr>
            </a:lvl4pPr>
            <a:lvl5pPr>
              <a:defRPr sz="825" b="1">
                <a:solidFill>
                  <a:srgbClr val="64756A"/>
                </a:solidFill>
              </a:defRPr>
            </a:lvl5pPr>
            <a:lvl6pPr>
              <a:defRPr sz="825" b="1">
                <a:solidFill>
                  <a:srgbClr val="64756A"/>
                </a:solidFill>
              </a:defRPr>
            </a:lvl6pPr>
            <a:lvl7pPr>
              <a:defRPr sz="825" b="1">
                <a:solidFill>
                  <a:srgbClr val="64756A"/>
                </a:solidFill>
              </a:defRPr>
            </a:lvl7pPr>
            <a:lvl8pPr>
              <a:defRPr sz="825" b="1">
                <a:solidFill>
                  <a:srgbClr val="64756A"/>
                </a:solidFill>
              </a:defRPr>
            </a:lvl8pPr>
            <a:lvl9pPr>
              <a:defRPr sz="825" b="1">
                <a:solidFill>
                  <a:srgbClr val="64756A"/>
                </a:solidFill>
              </a:defRPr>
            </a:lvl9pPr>
          </a:lstStyle>
          <a:p xmlns:a="http://schemas.openxmlformats.org/drawingml/2006/main">
            <a:pPr>
              <a:defRPr sz="825" b="1">
                <a:solidFill>
                  <a:srgbClr val="64756A"/>
                </a:solidFill>
              </a:defRPr>
            </a:pPr>
            <a:r>
              <a:rPr sz="825" b="1">
                <a:solidFill>
                  <a:srgbClr val="64756A"/>
                </a:solidFill>
              </a:rPr>
              <a:t>24 OCTOBER 2026</a:t>
            </a:r>
          </a:p>
        </p:txBody>
      </p:sp>
    </p:spTree>
    <p:extLst>
      <p:ext uri="{BB962C8B-B14F-4D97-AF65-F5344CB8AC3E}">
        <p14:creationId xmlns:p14="http://schemas.microsoft.com/office/powerpoint/2010/main" val="252787042"/>
      </p:ext>
    </p:extLst>
  </p:cSld>
</p:sld>
</file>

<file path=ppt/slides/slide2.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50A7152-6B93-47BF-8CC5-7575A1052554}"/>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02</a:t>
            </a:r>
          </a:p>
        </p:txBody>
      </p:sp>
      <p:sp>
        <p:nvSpPr>
          <p:cNvPr id="2" name="">
            <a:extLst xmlns:a="http://schemas.openxmlformats.org/drawingml/2006/main">
              <a:ext uri="{FF2B5EF4-FFF2-40B4-BE49-F238E27FC236}">
                <a16:creationId xmlns:a16="http://schemas.microsoft.com/office/drawing/2014/main" id="{17C6E3D7-2A8A-460E-9FC0-08BCAF7A5F72}"/>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A request becomes a plan</a:t>
            </a:r>
          </a:p>
        </p:txBody>
      </p:sp>
      <p:sp>
        <p:nvSpPr>
          <p:cNvPr id="3" name="">
            <a:extLst xmlns:a="http://schemas.openxmlformats.org/drawingml/2006/main">
              <a:ext uri="{FF2B5EF4-FFF2-40B4-BE49-F238E27FC236}">
                <a16:creationId xmlns:a16="http://schemas.microsoft.com/office/drawing/2014/main" id="{7936D4E7-1539-4941-8556-246C66EEE788}"/>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The assistant asks for missing activity, place, or time instead of guessing.</a:t>
            </a:r>
          </a:p>
        </p:txBody>
      </p:sp>
      <p:sp>
        <p:nvSpPr>
          <p:cNvPr id="4" name="">
            <a:extLst xmlns:a="http://schemas.openxmlformats.org/drawingml/2006/main">
              <a:ext uri="{FF2B5EF4-FFF2-40B4-BE49-F238E27FC236}">
                <a16:creationId xmlns:a16="http://schemas.microsoft.com/office/drawing/2014/main" id="{99EDC790-A576-4C4B-AA4E-62CB0B3AEE4C}"/>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157FB09F-E135-4738-AA16-96FFAC5D41FD}"/>
              </a:ext>
            </a:extLst>
          </p:cNvPr>
          <p:cNvSpPr>
            <a:spLocks xmlns:a="http://schemas.openxmlformats.org/drawingml/2006/main" noGrp="1"/>
          </p:cNvSpPr>
          <p:nvPr/>
        </p:nvSpPr>
        <p:spPr>
          <a:xfrm xmlns:a="http://schemas.openxmlformats.org/drawingml/2006/main">
            <a:off x="685800" y="2238375"/>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USER INPUT</a:t>
            </a:r>
          </a:p>
        </p:txBody>
      </p:sp>
      <p:sp>
        <p:nvSpPr>
          <p:cNvPr id="6" name="">
            <a:extLst xmlns:a="http://schemas.openxmlformats.org/drawingml/2006/main">
              <a:ext uri="{FF2B5EF4-FFF2-40B4-BE49-F238E27FC236}">
                <a16:creationId xmlns:a16="http://schemas.microsoft.com/office/drawing/2014/main" id="{0F08D3FA-227D-421B-9CC2-80FDB1414C52}"/>
              </a:ext>
            </a:extLst>
          </p:cNvPr>
          <p:cNvSpPr>
            <a:spLocks xmlns:a="http://schemas.openxmlformats.org/drawingml/2006/main" noGrp="1"/>
          </p:cNvSpPr>
          <p:nvPr/>
        </p:nvSpPr>
        <p:spPr>
          <a:xfrm xmlns:a="http://schemas.openxmlformats.org/drawingml/2006/main">
            <a:off x="685800" y="2628900"/>
            <a:ext cx="4381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950" b="1">
                <a:solidFill>
                  <a:srgbClr val="20392D"/>
                </a:solidFill>
              </a:defRPr>
            </a:defPPr>
            <a:lvl1pPr>
              <a:defRPr sz="1950" b="1">
                <a:solidFill>
                  <a:srgbClr val="20392D"/>
                </a:solidFill>
              </a:defRPr>
            </a:lvl1pPr>
            <a:lvl2pPr>
              <a:defRPr sz="1950" b="1">
                <a:solidFill>
                  <a:srgbClr val="20392D"/>
                </a:solidFill>
              </a:defRPr>
            </a:lvl2pPr>
            <a:lvl3pPr>
              <a:defRPr sz="1950" b="1">
                <a:solidFill>
                  <a:srgbClr val="20392D"/>
                </a:solidFill>
              </a:defRPr>
            </a:lvl3pPr>
            <a:lvl4pPr>
              <a:defRPr sz="1950" b="1">
                <a:solidFill>
                  <a:srgbClr val="20392D"/>
                </a:solidFill>
              </a:defRPr>
            </a:lvl4pPr>
            <a:lvl5pPr>
              <a:defRPr sz="1950" b="1">
                <a:solidFill>
                  <a:srgbClr val="20392D"/>
                </a:solidFill>
              </a:defRPr>
            </a:lvl5pPr>
            <a:lvl6pPr>
              <a:defRPr sz="1950" b="1">
                <a:solidFill>
                  <a:srgbClr val="20392D"/>
                </a:solidFill>
              </a:defRPr>
            </a:lvl6pPr>
            <a:lvl7pPr>
              <a:defRPr sz="1950" b="1">
                <a:solidFill>
                  <a:srgbClr val="20392D"/>
                </a:solidFill>
              </a:defRPr>
            </a:lvl7pPr>
            <a:lvl8pPr>
              <a:defRPr sz="1950" b="1">
                <a:solidFill>
                  <a:srgbClr val="20392D"/>
                </a:solidFill>
              </a:defRPr>
            </a:lvl8pPr>
            <a:lvl9pPr>
              <a:defRPr sz="1950" b="1">
                <a:solidFill>
                  <a:srgbClr val="20392D"/>
                </a:solidFill>
              </a:defRPr>
            </a:lvl9pPr>
          </a:lstStyle>
          <a:p xmlns:a="http://schemas.openxmlformats.org/drawingml/2006/main">
            <a:pPr>
              <a:defRPr sz="1950" b="1">
                <a:solidFill>
                  <a:srgbClr val="20392D"/>
                </a:solidFill>
              </a:defRPr>
            </a:pPr>
            <a:r>
              <a:rPr sz="1950" b="1">
                <a:solidFill>
                  <a:srgbClr val="20392D"/>
                </a:solidFill>
              </a:rPr>
              <a:t>“Where can I run tomorrow morning near Powai?”</a:t>
            </a:r>
          </a:p>
        </p:txBody>
      </p:sp>
      <p:sp>
        <p:nvSpPr>
          <p:cNvPr id="7" name="">
            <a:extLst xmlns:a="http://schemas.openxmlformats.org/drawingml/2006/main">
              <a:ext uri="{FF2B5EF4-FFF2-40B4-BE49-F238E27FC236}">
                <a16:creationId xmlns:a16="http://schemas.microsoft.com/office/drawing/2014/main" id="{0EFBE938-FFAB-4E44-8874-DE62CE2A7193}"/>
              </a:ext>
            </a:extLst>
          </p:cNvPr>
          <p:cNvSpPr>
            <a:spLocks xmlns:a="http://schemas.openxmlformats.org/drawingml/2006/main" noGrp="1"/>
          </p:cNvSpPr>
          <p:nvPr/>
        </p:nvSpPr>
        <p:spPr>
          <a:xfrm xmlns:a="http://schemas.openxmlformats.org/drawingml/2006/main">
            <a:off x="5095875" y="3067050"/>
            <a:ext cx="714375"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8" name="">
            <a:extLst xmlns:a="http://schemas.openxmlformats.org/drawingml/2006/main">
              <a:ext uri="{FF2B5EF4-FFF2-40B4-BE49-F238E27FC236}">
                <a16:creationId xmlns:a16="http://schemas.microsoft.com/office/drawing/2014/main" id="{08A7E191-A83E-44CD-B532-31B8886D8369}"/>
              </a:ext>
            </a:extLst>
          </p:cNvPr>
          <p:cNvSpPr>
            <a:spLocks xmlns:a="http://schemas.openxmlformats.org/drawingml/2006/main" noGrp="1"/>
          </p:cNvSpPr>
          <p:nvPr/>
        </p:nvSpPr>
        <p:spPr>
          <a:xfrm xmlns:a="http://schemas.openxmlformats.org/drawingml/2006/main">
            <a:off x="6038850" y="2238375"/>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LOCAL QUERY PARSE</a:t>
            </a:r>
          </a:p>
        </p:txBody>
      </p:sp>
      <p:sp>
        <p:nvSpPr>
          <p:cNvPr id="9" name="">
            <a:extLst xmlns:a="http://schemas.openxmlformats.org/drawingml/2006/main">
              <a:ext uri="{FF2B5EF4-FFF2-40B4-BE49-F238E27FC236}">
                <a16:creationId xmlns:a16="http://schemas.microsoft.com/office/drawing/2014/main" id="{CA7AE563-C7CC-452C-9B00-375886163044}"/>
              </a:ext>
            </a:extLst>
          </p:cNvPr>
          <p:cNvSpPr>
            <a:spLocks xmlns:a="http://schemas.openxmlformats.org/drawingml/2006/main" noGrp="1"/>
          </p:cNvSpPr>
          <p:nvPr/>
        </p:nvSpPr>
        <p:spPr>
          <a:xfrm xmlns:a="http://schemas.openxmlformats.org/drawingml/2006/main">
            <a:off x="6038850" y="2628900"/>
            <a:ext cx="4762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20392D"/>
                </a:solidFill>
              </a:defRPr>
            </a:defPPr>
            <a:lvl1pPr>
              <a:defRPr sz="1575" b="1">
                <a:solidFill>
                  <a:srgbClr val="20392D"/>
                </a:solidFill>
              </a:defRPr>
            </a:lvl1pPr>
            <a:lvl2pPr>
              <a:defRPr sz="1575" b="1">
                <a:solidFill>
                  <a:srgbClr val="20392D"/>
                </a:solidFill>
              </a:defRPr>
            </a:lvl2pPr>
            <a:lvl3pPr>
              <a:defRPr sz="1575" b="1">
                <a:solidFill>
                  <a:srgbClr val="20392D"/>
                </a:solidFill>
              </a:defRPr>
            </a:lvl3pPr>
            <a:lvl4pPr>
              <a:defRPr sz="1575" b="1">
                <a:solidFill>
                  <a:srgbClr val="20392D"/>
                </a:solidFill>
              </a:defRPr>
            </a:lvl4pPr>
            <a:lvl5pPr>
              <a:defRPr sz="1575" b="1">
                <a:solidFill>
                  <a:srgbClr val="20392D"/>
                </a:solidFill>
              </a:defRPr>
            </a:lvl5pPr>
            <a:lvl6pPr>
              <a:defRPr sz="1575" b="1">
                <a:solidFill>
                  <a:srgbClr val="20392D"/>
                </a:solidFill>
              </a:defRPr>
            </a:lvl6pPr>
            <a:lvl7pPr>
              <a:defRPr sz="1575" b="1">
                <a:solidFill>
                  <a:srgbClr val="20392D"/>
                </a:solidFill>
              </a:defRPr>
            </a:lvl7pPr>
            <a:lvl8pPr>
              <a:defRPr sz="1575" b="1">
                <a:solidFill>
                  <a:srgbClr val="20392D"/>
                </a:solidFill>
              </a:defRPr>
            </a:lvl8pPr>
            <a:lvl9pPr>
              <a:defRPr sz="1575" b="1">
                <a:solidFill>
                  <a:srgbClr val="20392D"/>
                </a:solidFill>
              </a:defRPr>
            </a:lvl9pPr>
          </a:lstStyle>
          <a:p xmlns:a="http://schemas.openxmlformats.org/drawingml/2006/main">
            <a:pPr>
              <a:defRPr sz="1575" b="1">
                <a:solidFill>
                  <a:srgbClr val="20392D"/>
                </a:solidFill>
              </a:defRPr>
            </a:pPr>
            <a:r>
              <a:rPr sz="1575" b="1">
                <a:solidFill>
                  <a:srgbClr val="20392D"/>
                </a:solidFill>
              </a:rPr>
              <a:t>Activity · typed area · radius · time window · optional context</a:t>
            </a:r>
          </a:p>
        </p:txBody>
      </p:sp>
      <p:sp>
        <p:nvSpPr>
          <p:cNvPr id="10" name="">
            <a:extLst xmlns:a="http://schemas.openxmlformats.org/drawingml/2006/main">
              <a:ext uri="{FF2B5EF4-FFF2-40B4-BE49-F238E27FC236}">
                <a16:creationId xmlns:a16="http://schemas.microsoft.com/office/drawing/2014/main" id="{4BEFD44E-31B6-4AF9-918E-39BCFEA45983}"/>
              </a:ext>
            </a:extLst>
          </p:cNvPr>
          <p:cNvSpPr>
            <a:spLocks xmlns:a="http://schemas.openxmlformats.org/drawingml/2006/main" noGrp="1"/>
          </p:cNvSpPr>
          <p:nvPr/>
        </p:nvSpPr>
        <p:spPr>
          <a:xfrm xmlns:a="http://schemas.openxmlformats.org/drawingml/2006/main">
            <a:off x="685800" y="388620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11" name="">
            <a:extLst xmlns:a="http://schemas.openxmlformats.org/drawingml/2006/main">
              <a:ext uri="{FF2B5EF4-FFF2-40B4-BE49-F238E27FC236}">
                <a16:creationId xmlns:a16="http://schemas.microsoft.com/office/drawing/2014/main" id="{D407E8CE-6EFD-479B-9CA7-758515E1990A}"/>
              </a:ext>
            </a:extLst>
          </p:cNvPr>
          <p:cNvSpPr>
            <a:spLocks xmlns:a="http://schemas.openxmlformats.org/drawingml/2006/main" noGrp="1"/>
          </p:cNvSpPr>
          <p:nvPr/>
        </p:nvSpPr>
        <p:spPr>
          <a:xfrm xmlns:a="http://schemas.openxmlformats.org/drawingml/2006/main">
            <a:off x="685800" y="42481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TEN CONFIGURED ACTIVITIES</a:t>
            </a:r>
          </a:p>
        </p:txBody>
      </p:sp>
      <p:sp>
        <p:nvSpPr>
          <p:cNvPr id="12" name="">
            <a:extLst xmlns:a="http://schemas.openxmlformats.org/drawingml/2006/main">
              <a:ext uri="{FF2B5EF4-FFF2-40B4-BE49-F238E27FC236}">
                <a16:creationId xmlns:a16="http://schemas.microsoft.com/office/drawing/2014/main" id="{57CB6F5C-91F5-4EDC-8A27-533F73A9CC76}"/>
              </a:ext>
            </a:extLst>
          </p:cNvPr>
          <p:cNvSpPr>
            <a:spLocks xmlns:a="http://schemas.openxmlformats.org/drawingml/2006/main" noGrp="1"/>
          </p:cNvSpPr>
          <p:nvPr/>
        </p:nvSpPr>
        <p:spPr>
          <a:xfrm xmlns:a="http://schemas.openxmlformats.org/drawingml/2006/main">
            <a:off x="685800" y="4629150"/>
            <a:ext cx="1009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20392D"/>
                </a:solidFill>
              </a:defRPr>
            </a:defPPr>
            <a:lvl1pPr>
              <a:defRPr sz="1350" b="0">
                <a:solidFill>
                  <a:srgbClr val="20392D"/>
                </a:solidFill>
              </a:defRPr>
            </a:lvl1pPr>
            <a:lvl2pPr>
              <a:defRPr sz="1350" b="0">
                <a:solidFill>
                  <a:srgbClr val="20392D"/>
                </a:solidFill>
              </a:defRPr>
            </a:lvl2pPr>
            <a:lvl3pPr>
              <a:defRPr sz="1350" b="0">
                <a:solidFill>
                  <a:srgbClr val="20392D"/>
                </a:solidFill>
              </a:defRPr>
            </a:lvl3pPr>
            <a:lvl4pPr>
              <a:defRPr sz="1350" b="0">
                <a:solidFill>
                  <a:srgbClr val="20392D"/>
                </a:solidFill>
              </a:defRPr>
            </a:lvl4pPr>
            <a:lvl5pPr>
              <a:defRPr sz="1350" b="0">
                <a:solidFill>
                  <a:srgbClr val="20392D"/>
                </a:solidFill>
              </a:defRPr>
            </a:lvl5pPr>
            <a:lvl6pPr>
              <a:defRPr sz="1350" b="0">
                <a:solidFill>
                  <a:srgbClr val="20392D"/>
                </a:solidFill>
              </a:defRPr>
            </a:lvl6pPr>
            <a:lvl7pPr>
              <a:defRPr sz="1350" b="0">
                <a:solidFill>
                  <a:srgbClr val="20392D"/>
                </a:solidFill>
              </a:defRPr>
            </a:lvl7pPr>
            <a:lvl8pPr>
              <a:defRPr sz="1350" b="0">
                <a:solidFill>
                  <a:srgbClr val="20392D"/>
                </a:solidFill>
              </a:defRPr>
            </a:lvl8pPr>
            <a:lvl9pPr>
              <a:defRPr sz="1350" b="0">
                <a:solidFill>
                  <a:srgbClr val="20392D"/>
                </a:solidFill>
              </a:defRPr>
            </a:lvl9pPr>
          </a:lstStyle>
          <a:p xmlns:a="http://schemas.openxmlformats.org/drawingml/2006/main">
            <a:pPr>
              <a:defRPr sz="1350" b="0">
                <a:solidFill>
                  <a:srgbClr val="20392D"/>
                </a:solidFill>
              </a:defRPr>
            </a:pPr>
            <a:r>
              <a:rPr sz="1350" b="0">
                <a:solidFill>
                  <a:srgbClr val="20392D"/>
                </a:solidFill>
              </a:rPr>
              <a:t>Running / jogging     Cycling     Golf     Cricket     Outdoor football     Outdoor tennis</a:t>
            </a:r>
          </a:p>
        </p:txBody>
      </p:sp>
      <p:sp>
        <p:nvSpPr>
          <p:cNvPr id="13" name="">
            <a:extLst xmlns:a="http://schemas.openxmlformats.org/drawingml/2006/main">
              <a:ext uri="{FF2B5EF4-FFF2-40B4-BE49-F238E27FC236}">
                <a16:creationId xmlns:a16="http://schemas.microsoft.com/office/drawing/2014/main" id="{F7818D9B-3192-4B13-B3CC-8CAF3B003A29}"/>
              </a:ext>
            </a:extLst>
          </p:cNvPr>
          <p:cNvSpPr>
            <a:spLocks xmlns:a="http://schemas.openxmlformats.org/drawingml/2006/main" noGrp="1"/>
          </p:cNvSpPr>
          <p:nvPr/>
        </p:nvSpPr>
        <p:spPr>
          <a:xfrm xmlns:a="http://schemas.openxmlformats.org/drawingml/2006/main">
            <a:off x="685800" y="5067300"/>
            <a:ext cx="1009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20392D"/>
                </a:solidFill>
              </a:defRPr>
            </a:defPPr>
            <a:lvl1pPr>
              <a:defRPr sz="1350" b="0">
                <a:solidFill>
                  <a:srgbClr val="20392D"/>
                </a:solidFill>
              </a:defRPr>
            </a:lvl1pPr>
            <a:lvl2pPr>
              <a:defRPr sz="1350" b="0">
                <a:solidFill>
                  <a:srgbClr val="20392D"/>
                </a:solidFill>
              </a:defRPr>
            </a:lvl2pPr>
            <a:lvl3pPr>
              <a:defRPr sz="1350" b="0">
                <a:solidFill>
                  <a:srgbClr val="20392D"/>
                </a:solidFill>
              </a:defRPr>
            </a:lvl3pPr>
            <a:lvl4pPr>
              <a:defRPr sz="1350" b="0">
                <a:solidFill>
                  <a:srgbClr val="20392D"/>
                </a:solidFill>
              </a:defRPr>
            </a:lvl4pPr>
            <a:lvl5pPr>
              <a:defRPr sz="1350" b="0">
                <a:solidFill>
                  <a:srgbClr val="20392D"/>
                </a:solidFill>
              </a:defRPr>
            </a:lvl5pPr>
            <a:lvl6pPr>
              <a:defRPr sz="1350" b="0">
                <a:solidFill>
                  <a:srgbClr val="20392D"/>
                </a:solidFill>
              </a:defRPr>
            </a:lvl6pPr>
            <a:lvl7pPr>
              <a:defRPr sz="1350" b="0">
                <a:solidFill>
                  <a:srgbClr val="20392D"/>
                </a:solidFill>
              </a:defRPr>
            </a:lvl7pPr>
            <a:lvl8pPr>
              <a:defRPr sz="1350" b="0">
                <a:solidFill>
                  <a:srgbClr val="20392D"/>
                </a:solidFill>
              </a:defRPr>
            </a:lvl8pPr>
            <a:lvl9pPr>
              <a:defRPr sz="1350" b="0">
                <a:solidFill>
                  <a:srgbClr val="20392D"/>
                </a:solidFill>
              </a:defRPr>
            </a:lvl9pPr>
          </a:lstStyle>
          <a:p xmlns:a="http://schemas.openxmlformats.org/drawingml/2006/main">
            <a:pPr>
              <a:defRPr sz="1350" b="0">
                <a:solidFill>
                  <a:srgbClr val="20392D"/>
                </a:solidFill>
              </a:defRPr>
            </a:pPr>
            <a:r>
              <a:rPr sz="1350" b="0">
                <a:solidFill>
                  <a:srgbClr val="20392D"/>
                </a:solidFill>
              </a:rPr>
              <a:t>Hiking / nature walk     Picnic / park outing     Outdoor event     Outdoor photography</a:t>
            </a:r>
          </a:p>
        </p:txBody>
      </p:sp>
      <p:sp>
        <p:nvSpPr>
          <p:cNvPr id="14" name="">
            <a:extLst xmlns:a="http://schemas.openxmlformats.org/drawingml/2006/main">
              <a:ext uri="{FF2B5EF4-FFF2-40B4-BE49-F238E27FC236}">
                <a16:creationId xmlns:a16="http://schemas.microsoft.com/office/drawing/2014/main" id="{69B5466E-D7FD-4EE5-8B50-A92826EE6302}"/>
              </a:ext>
            </a:extLst>
          </p:cNvPr>
          <p:cNvSpPr>
            <a:spLocks xmlns:a="http://schemas.openxmlformats.org/drawingml/2006/main" noGrp="1"/>
          </p:cNvSpPr>
          <p:nvPr/>
        </p:nvSpPr>
        <p:spPr>
          <a:xfrm xmlns:a="http://schemas.openxmlformats.org/drawingml/2006/main">
            <a:off x="685800" y="573405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0">
                <a:solidFill>
                  <a:srgbClr val="64756A"/>
                </a:solidFill>
              </a:defRPr>
            </a:defPPr>
            <a:lvl1pPr>
              <a:defRPr sz="1050" b="0">
                <a:solidFill>
                  <a:srgbClr val="64756A"/>
                </a:solidFill>
              </a:defRPr>
            </a:lvl1pPr>
            <a:lvl2pPr>
              <a:defRPr sz="1050" b="0">
                <a:solidFill>
                  <a:srgbClr val="64756A"/>
                </a:solidFill>
              </a:defRPr>
            </a:lvl2pPr>
            <a:lvl3pPr>
              <a:defRPr sz="1050" b="0">
                <a:solidFill>
                  <a:srgbClr val="64756A"/>
                </a:solidFill>
              </a:defRPr>
            </a:lvl3pPr>
            <a:lvl4pPr>
              <a:defRPr sz="1050" b="0">
                <a:solidFill>
                  <a:srgbClr val="64756A"/>
                </a:solidFill>
              </a:defRPr>
            </a:lvl4pPr>
            <a:lvl5pPr>
              <a:defRPr sz="1050" b="0">
                <a:solidFill>
                  <a:srgbClr val="64756A"/>
                </a:solidFill>
              </a:defRPr>
            </a:lvl5pPr>
            <a:lvl6pPr>
              <a:defRPr sz="1050" b="0">
                <a:solidFill>
                  <a:srgbClr val="64756A"/>
                </a:solidFill>
              </a:defRPr>
            </a:lvl6pPr>
            <a:lvl7pPr>
              <a:defRPr sz="1050" b="0">
                <a:solidFill>
                  <a:srgbClr val="64756A"/>
                </a:solidFill>
              </a:defRPr>
            </a:lvl7pPr>
            <a:lvl8pPr>
              <a:defRPr sz="1050" b="0">
                <a:solidFill>
                  <a:srgbClr val="64756A"/>
                </a:solidFill>
              </a:defRPr>
            </a:lvl8pPr>
            <a:lvl9pPr>
              <a:defRPr sz="1050" b="0">
                <a:solidFill>
                  <a:srgbClr val="64756A"/>
                </a:solidFill>
              </a:defRPr>
            </a:lvl9pPr>
          </a:lstStyle>
          <a:p xmlns:a="http://schemas.openxmlformats.org/drawingml/2006/main">
            <a:pPr>
              <a:defRPr sz="1050" b="0">
                <a:solidFill>
                  <a:srgbClr val="64756A"/>
                </a:solidFill>
              </a:defRPr>
            </a:pPr>
            <a:r>
              <a:rPr sz="1050" b="0">
                <a:solidFill>
                  <a:srgbClr val="64756A"/>
                </a:solidFill>
              </a:rPr>
              <a:t>Sensitive details stay in the request and are not persisted. Precautions remain general planning information.</a:t>
            </a:r>
          </a:p>
        </p:txBody>
      </p:sp>
      <p:sp>
        <p:nvSpPr>
          <p:cNvPr id="15" name="">
            <a:extLst xmlns:a="http://schemas.openxmlformats.org/drawingml/2006/main">
              <a:ext uri="{FF2B5EF4-FFF2-40B4-BE49-F238E27FC236}">
                <a16:creationId xmlns:a16="http://schemas.microsoft.com/office/drawing/2014/main" id="{88870E3A-1101-4E46-99BF-F942A65272A0}"/>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124594647"/>
      </p:ext>
    </p:extLst>
  </p:cSld>
</p:sld>
</file>

<file path=ppt/slides/slide3.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55A1EA5-909F-4194-B9CC-4CF3B39D7993}"/>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03</a:t>
            </a:r>
          </a:p>
        </p:txBody>
      </p:sp>
      <p:sp>
        <p:nvSpPr>
          <p:cNvPr id="2" name="">
            <a:extLst xmlns:a="http://schemas.openxmlformats.org/drawingml/2006/main">
              <a:ext uri="{FF2B5EF4-FFF2-40B4-BE49-F238E27FC236}">
                <a16:creationId xmlns:a16="http://schemas.microsoft.com/office/drawing/2014/main" id="{2F15F5BB-ABFE-4B71-99C2-4B82E21EC8B5}"/>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Live data, deterministic ranking</a:t>
            </a:r>
          </a:p>
        </p:txBody>
      </p:sp>
      <p:sp>
        <p:nvSpPr>
          <p:cNvPr id="3" name="">
            <a:extLst xmlns:a="http://schemas.openxmlformats.org/drawingml/2006/main">
              <a:ext uri="{FF2B5EF4-FFF2-40B4-BE49-F238E27FC236}">
                <a16:creationId xmlns:a16="http://schemas.microsoft.com/office/drawing/2014/main" id="{216ED678-CD60-4452-B311-B5FB96CBC586}"/>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The model parses the request and selects evidence. Code fetches, validates, aligns, and scores.</a:t>
            </a:r>
          </a:p>
        </p:txBody>
      </p:sp>
      <p:sp>
        <p:nvSpPr>
          <p:cNvPr id="4" name="">
            <a:extLst xmlns:a="http://schemas.openxmlformats.org/drawingml/2006/main">
              <a:ext uri="{FF2B5EF4-FFF2-40B4-BE49-F238E27FC236}">
                <a16:creationId xmlns:a16="http://schemas.microsoft.com/office/drawing/2014/main" id="{17AD5446-3BA1-4BF9-AD85-057F2839B587}"/>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1C97C303-A446-497F-A1A5-655BF9D753EA}"/>
              </a:ext>
            </a:extLst>
          </p:cNvPr>
          <p:cNvSpPr>
            <a:spLocks xmlns:a="http://schemas.openxmlformats.org/drawingml/2006/main" noGrp="1"/>
          </p:cNvSpPr>
          <p:nvPr/>
        </p:nvSpPr>
        <p:spPr>
          <a:xfrm xmlns:a="http://schemas.openxmlformats.org/drawingml/2006/main">
            <a:off x="685800" y="2533650"/>
            <a:ext cx="20955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6" name="">
            <a:extLst xmlns:a="http://schemas.openxmlformats.org/drawingml/2006/main">
              <a:ext uri="{FF2B5EF4-FFF2-40B4-BE49-F238E27FC236}">
                <a16:creationId xmlns:a16="http://schemas.microsoft.com/office/drawing/2014/main" id="{6048B332-3167-4C97-8CDC-EFE573162957}"/>
              </a:ext>
            </a:extLst>
          </p:cNvPr>
          <p:cNvSpPr>
            <a:spLocks xmlns:a="http://schemas.openxmlformats.org/drawingml/2006/main" noGrp="1"/>
          </p:cNvSpPr>
          <p:nvPr/>
        </p:nvSpPr>
        <p:spPr>
          <a:xfrm xmlns:a="http://schemas.openxmlformats.org/drawingml/2006/main">
            <a:off x="857250" y="2724150"/>
            <a:ext cx="1752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QUESTION</a:t>
            </a:r>
          </a:p>
        </p:txBody>
      </p:sp>
      <p:sp>
        <p:nvSpPr>
          <p:cNvPr id="7" name="">
            <a:extLst xmlns:a="http://schemas.openxmlformats.org/drawingml/2006/main">
              <a:ext uri="{FF2B5EF4-FFF2-40B4-BE49-F238E27FC236}">
                <a16:creationId xmlns:a16="http://schemas.microsoft.com/office/drawing/2014/main" id="{4B6AB21B-0C51-4940-852E-4779C326F481}"/>
              </a:ext>
            </a:extLst>
          </p:cNvPr>
          <p:cNvSpPr>
            <a:spLocks xmlns:a="http://schemas.openxmlformats.org/drawingml/2006/main" noGrp="1"/>
          </p:cNvSpPr>
          <p:nvPr/>
        </p:nvSpPr>
        <p:spPr>
          <a:xfrm xmlns:a="http://schemas.openxmlformats.org/drawingml/2006/main">
            <a:off x="857250" y="3143250"/>
            <a:ext cx="1752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Explicit place,</a:t>
            </a:r>
          </a:p>
          <a:p xmlns:a="http://schemas.openxmlformats.org/drawingml/2006/main">
            <a:pPr>
              <a:defRPr sz="1425" b="1">
                <a:solidFill>
                  <a:srgbClr val="20392D"/>
                </a:solidFill>
              </a:defRPr>
            </a:pPr>
            <a:r>
              <a:rPr sz="1425" b="1">
                <a:solidFill>
                  <a:srgbClr val="20392D"/>
                </a:solidFill>
              </a:rPr>
              <a:t>activity, time</a:t>
            </a:r>
          </a:p>
        </p:txBody>
      </p:sp>
      <p:sp>
        <p:nvSpPr>
          <p:cNvPr id="8" name="">
            <a:extLst xmlns:a="http://schemas.openxmlformats.org/drawingml/2006/main">
              <a:ext uri="{FF2B5EF4-FFF2-40B4-BE49-F238E27FC236}">
                <a16:creationId xmlns:a16="http://schemas.microsoft.com/office/drawing/2014/main" id="{1F508C16-5AF8-4A0F-8F85-B5C642E85060}"/>
              </a:ext>
            </a:extLst>
          </p:cNvPr>
          <p:cNvSpPr>
            <a:spLocks xmlns:a="http://schemas.openxmlformats.org/drawingml/2006/main" noGrp="1"/>
          </p:cNvSpPr>
          <p:nvPr/>
        </p:nvSpPr>
        <p:spPr>
          <a:xfrm xmlns:a="http://schemas.openxmlformats.org/drawingml/2006/main">
            <a:off x="3143250" y="2533650"/>
            <a:ext cx="219075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9" name="">
            <a:extLst xmlns:a="http://schemas.openxmlformats.org/drawingml/2006/main">
              <a:ext uri="{FF2B5EF4-FFF2-40B4-BE49-F238E27FC236}">
                <a16:creationId xmlns:a16="http://schemas.microsoft.com/office/drawing/2014/main" id="{F3CA054D-C494-4A66-B90D-7D1F0F04F9DB}"/>
              </a:ext>
            </a:extLst>
          </p:cNvPr>
          <p:cNvSpPr>
            <a:spLocks xmlns:a="http://schemas.openxmlformats.org/drawingml/2006/main" noGrp="1"/>
          </p:cNvSpPr>
          <p:nvPr/>
        </p:nvSpPr>
        <p:spPr>
          <a:xfrm xmlns:a="http://schemas.openxmlformats.org/drawingml/2006/main">
            <a:off x="3314700" y="2724150"/>
            <a:ext cx="1847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LOCAL SLM</a:t>
            </a:r>
          </a:p>
        </p:txBody>
      </p:sp>
      <p:sp>
        <p:nvSpPr>
          <p:cNvPr id="10" name="">
            <a:extLst xmlns:a="http://schemas.openxmlformats.org/drawingml/2006/main">
              <a:ext uri="{FF2B5EF4-FFF2-40B4-BE49-F238E27FC236}">
                <a16:creationId xmlns:a16="http://schemas.microsoft.com/office/drawing/2014/main" id="{4FF4FBEA-120C-44F0-B230-4EF2C39A6BDA}"/>
              </a:ext>
            </a:extLst>
          </p:cNvPr>
          <p:cNvSpPr>
            <a:spLocks xmlns:a="http://schemas.openxmlformats.org/drawingml/2006/main" noGrp="1"/>
          </p:cNvSpPr>
          <p:nvPr/>
        </p:nvSpPr>
        <p:spPr>
          <a:xfrm xmlns:a="http://schemas.openxmlformats.org/drawingml/2006/main">
            <a:off x="3314700" y="3143250"/>
            <a:ext cx="1847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Qwen2.5 1.5B</a:t>
            </a:r>
          </a:p>
          <a:p xmlns:a="http://schemas.openxmlformats.org/drawingml/2006/main">
            <a:pPr>
              <a:defRPr sz="1425" b="1">
                <a:solidFill>
                  <a:srgbClr val="20392D"/>
                </a:solidFill>
              </a:defRPr>
            </a:pPr>
            <a:r>
              <a:rPr sz="1425" b="1">
                <a:solidFill>
                  <a:srgbClr val="20392D"/>
                </a:solidFill>
              </a:rPr>
              <a:t>base weights; no fine-tuning</a:t>
            </a:r>
          </a:p>
        </p:txBody>
      </p:sp>
      <p:sp>
        <p:nvSpPr>
          <p:cNvPr id="11" name="">
            <a:extLst xmlns:a="http://schemas.openxmlformats.org/drawingml/2006/main">
              <a:ext uri="{FF2B5EF4-FFF2-40B4-BE49-F238E27FC236}">
                <a16:creationId xmlns:a16="http://schemas.microsoft.com/office/drawing/2014/main" id="{5D667D24-4B02-4C75-8864-880C083B6C61}"/>
              </a:ext>
            </a:extLst>
          </p:cNvPr>
          <p:cNvSpPr>
            <a:spLocks xmlns:a="http://schemas.openxmlformats.org/drawingml/2006/main" noGrp="1"/>
          </p:cNvSpPr>
          <p:nvPr/>
        </p:nvSpPr>
        <p:spPr>
          <a:xfrm xmlns:a="http://schemas.openxmlformats.org/drawingml/2006/main">
            <a:off x="5695950" y="2533650"/>
            <a:ext cx="257175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12" name="">
            <a:extLst xmlns:a="http://schemas.openxmlformats.org/drawingml/2006/main">
              <a:ext uri="{FF2B5EF4-FFF2-40B4-BE49-F238E27FC236}">
                <a16:creationId xmlns:a16="http://schemas.microsoft.com/office/drawing/2014/main" id="{33AF1022-7469-4DCE-8433-AD2940F242B7}"/>
              </a:ext>
            </a:extLst>
          </p:cNvPr>
          <p:cNvSpPr>
            <a:spLocks xmlns:a="http://schemas.openxmlformats.org/drawingml/2006/main" noGrp="1"/>
          </p:cNvSpPr>
          <p:nvPr/>
        </p:nvSpPr>
        <p:spPr>
          <a:xfrm xmlns:a="http://schemas.openxmlformats.org/drawingml/2006/main">
            <a:off x="5867400" y="2724150"/>
            <a:ext cx="2228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OPEN PROVIDERS</a:t>
            </a:r>
          </a:p>
        </p:txBody>
      </p:sp>
      <p:sp>
        <p:nvSpPr>
          <p:cNvPr id="13" name="">
            <a:extLst xmlns:a="http://schemas.openxmlformats.org/drawingml/2006/main">
              <a:ext uri="{FF2B5EF4-FFF2-40B4-BE49-F238E27FC236}">
                <a16:creationId xmlns:a16="http://schemas.microsoft.com/office/drawing/2014/main" id="{96D6E5BE-914C-4C8F-91F0-7013DE148EC0}"/>
              </a:ext>
            </a:extLst>
          </p:cNvPr>
          <p:cNvSpPr>
            <a:spLocks xmlns:a="http://schemas.openxmlformats.org/drawingml/2006/main" noGrp="1"/>
          </p:cNvSpPr>
          <p:nvPr/>
        </p:nvSpPr>
        <p:spPr>
          <a:xfrm xmlns:a="http://schemas.openxmlformats.org/drawingml/2006/main">
            <a:off x="5867400" y="3143250"/>
            <a:ext cx="2228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Nominatim + Overpass</a:t>
            </a:r>
          </a:p>
          <a:p xmlns:a="http://schemas.openxmlformats.org/drawingml/2006/main">
            <a:pPr>
              <a:defRPr sz="1425" b="1">
                <a:solidFill>
                  <a:srgbClr val="20392D"/>
                </a:solidFill>
              </a:defRPr>
            </a:pPr>
            <a:r>
              <a:rPr sz="1425" b="1">
                <a:solidFill>
                  <a:srgbClr val="20392D"/>
                </a:solidFill>
              </a:rPr>
              <a:t>Open-Meteo forecast + AQ</a:t>
            </a:r>
          </a:p>
        </p:txBody>
      </p:sp>
      <p:sp>
        <p:nvSpPr>
          <p:cNvPr id="14" name="">
            <a:extLst xmlns:a="http://schemas.openxmlformats.org/drawingml/2006/main">
              <a:ext uri="{FF2B5EF4-FFF2-40B4-BE49-F238E27FC236}">
                <a16:creationId xmlns:a16="http://schemas.microsoft.com/office/drawing/2014/main" id="{C9C956B3-FEA6-4867-87C4-A1698C017B31}"/>
              </a:ext>
            </a:extLst>
          </p:cNvPr>
          <p:cNvSpPr>
            <a:spLocks xmlns:a="http://schemas.openxmlformats.org/drawingml/2006/main" noGrp="1"/>
          </p:cNvSpPr>
          <p:nvPr/>
        </p:nvSpPr>
        <p:spPr>
          <a:xfrm xmlns:a="http://schemas.openxmlformats.org/drawingml/2006/main">
            <a:off x="8629650" y="2533650"/>
            <a:ext cx="28575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15" name="">
            <a:extLst xmlns:a="http://schemas.openxmlformats.org/drawingml/2006/main">
              <a:ext uri="{FF2B5EF4-FFF2-40B4-BE49-F238E27FC236}">
                <a16:creationId xmlns:a16="http://schemas.microsoft.com/office/drawing/2014/main" id="{24D64DD1-F9F7-4EC5-827D-FAACA2554946}"/>
              </a:ext>
            </a:extLst>
          </p:cNvPr>
          <p:cNvSpPr>
            <a:spLocks xmlns:a="http://schemas.openxmlformats.org/drawingml/2006/main" noGrp="1"/>
          </p:cNvSpPr>
          <p:nvPr/>
        </p:nvSpPr>
        <p:spPr>
          <a:xfrm xmlns:a="http://schemas.openxmlformats.org/drawingml/2006/main">
            <a:off x="8801100" y="2724150"/>
            <a:ext cx="2514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DECISION ENGINE</a:t>
            </a:r>
          </a:p>
        </p:txBody>
      </p:sp>
      <p:sp>
        <p:nvSpPr>
          <p:cNvPr id="16" name="">
            <a:extLst xmlns:a="http://schemas.openxmlformats.org/drawingml/2006/main">
              <a:ext uri="{FF2B5EF4-FFF2-40B4-BE49-F238E27FC236}">
                <a16:creationId xmlns:a16="http://schemas.microsoft.com/office/drawing/2014/main" id="{21AD73C2-921B-421A-BF88-BF1468A9113C}"/>
              </a:ext>
            </a:extLst>
          </p:cNvPr>
          <p:cNvSpPr>
            <a:spLocks xmlns:a="http://schemas.openxmlformats.org/drawingml/2006/main" noGrp="1"/>
          </p:cNvSpPr>
          <p:nvPr/>
        </p:nvSpPr>
        <p:spPr>
          <a:xfrm xmlns:a="http://schemas.openxmlformats.org/drawingml/2006/main">
            <a:off x="8801100" y="3143250"/>
            <a:ext cx="2514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Venue tags + hourly data</a:t>
            </a:r>
          </a:p>
          <a:p xmlns:a="http://schemas.openxmlformats.org/drawingml/2006/main">
            <a:pPr>
              <a:defRPr sz="1425" b="1">
                <a:solidFill>
                  <a:srgbClr val="20392D"/>
                </a:solidFill>
              </a:defRPr>
            </a:pPr>
            <a:r>
              <a:rPr sz="1425" b="1">
                <a:solidFill>
                  <a:srgbClr val="20392D"/>
                </a:solidFill>
              </a:rPr>
              <a:t>Heuristic score + evidence</a:t>
            </a:r>
          </a:p>
        </p:txBody>
      </p:sp>
      <p:sp>
        <p:nvSpPr>
          <p:cNvPr id="17" name="">
            <a:extLst xmlns:a="http://schemas.openxmlformats.org/drawingml/2006/main">
              <a:ext uri="{FF2B5EF4-FFF2-40B4-BE49-F238E27FC236}">
                <a16:creationId xmlns:a16="http://schemas.microsoft.com/office/drawing/2014/main" id="{979F8FA3-C68B-4D8A-B243-DA55DA34ED2C}"/>
              </a:ext>
            </a:extLst>
          </p:cNvPr>
          <p:cNvSpPr>
            <a:spLocks xmlns:a="http://schemas.openxmlformats.org/drawingml/2006/main" noGrp="1"/>
          </p:cNvSpPr>
          <p:nvPr/>
        </p:nvSpPr>
        <p:spPr>
          <a:xfrm xmlns:a="http://schemas.openxmlformats.org/drawingml/2006/main">
            <a:off x="28765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18" name="">
            <a:extLst xmlns:a="http://schemas.openxmlformats.org/drawingml/2006/main">
              <a:ext uri="{FF2B5EF4-FFF2-40B4-BE49-F238E27FC236}">
                <a16:creationId xmlns:a16="http://schemas.microsoft.com/office/drawing/2014/main" id="{8508F799-7D1F-46BC-BF52-446E2684AFC7}"/>
              </a:ext>
            </a:extLst>
          </p:cNvPr>
          <p:cNvSpPr>
            <a:spLocks xmlns:a="http://schemas.openxmlformats.org/drawingml/2006/main" noGrp="1"/>
          </p:cNvSpPr>
          <p:nvPr/>
        </p:nvSpPr>
        <p:spPr>
          <a:xfrm xmlns:a="http://schemas.openxmlformats.org/drawingml/2006/main">
            <a:off x="54292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19" name="">
            <a:extLst xmlns:a="http://schemas.openxmlformats.org/drawingml/2006/main">
              <a:ext uri="{FF2B5EF4-FFF2-40B4-BE49-F238E27FC236}">
                <a16:creationId xmlns:a16="http://schemas.microsoft.com/office/drawing/2014/main" id="{5F829E89-86C6-497A-976D-524FCF5AF00A}"/>
              </a:ext>
            </a:extLst>
          </p:cNvPr>
          <p:cNvSpPr>
            <a:spLocks xmlns:a="http://schemas.openxmlformats.org/drawingml/2006/main" noGrp="1"/>
          </p:cNvSpPr>
          <p:nvPr/>
        </p:nvSpPr>
        <p:spPr>
          <a:xfrm xmlns:a="http://schemas.openxmlformats.org/drawingml/2006/main">
            <a:off x="83629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20" name="">
            <a:extLst xmlns:a="http://schemas.openxmlformats.org/drawingml/2006/main">
              <a:ext uri="{FF2B5EF4-FFF2-40B4-BE49-F238E27FC236}">
                <a16:creationId xmlns:a16="http://schemas.microsoft.com/office/drawing/2014/main" id="{22EAC340-B076-43F9-873A-4DC70385BC5F}"/>
              </a:ext>
            </a:extLst>
          </p:cNvPr>
          <p:cNvSpPr>
            <a:spLocks xmlns:a="http://schemas.openxmlformats.org/drawingml/2006/main" noGrp="1"/>
          </p:cNvSpPr>
          <p:nvPr/>
        </p:nvSpPr>
        <p:spPr>
          <a:xfrm xmlns:a="http://schemas.openxmlformats.org/drawingml/2006/main">
            <a:off x="10058400" y="4286250"/>
            <a:ext cx="0" cy="666750"/>
          </a:xfrm>
          <a:prstGeom xmlns:a="http://schemas.openxmlformats.org/drawingml/2006/main" prst="line">
            <a:avLst/>
          </a:prstGeom>
          <a:noFill xmlns:a="http://schemas.openxmlformats.org/drawingml/2006/main"/>
          <a:ln xmlns:a="http://schemas.openxmlformats.org/drawingml/2006/main" w="19050">
            <a:solidFill>
              <a:srgbClr val="2E6B4A"/>
            </a:solidFill>
            <a:prstDash val="solid"/>
          </a:ln>
        </p:spPr>
      </p:sp>
      <p:sp>
        <p:nvSpPr>
          <p:cNvPr id="21" name="">
            <a:extLst xmlns:a="http://schemas.openxmlformats.org/drawingml/2006/main">
              <a:ext uri="{FF2B5EF4-FFF2-40B4-BE49-F238E27FC236}">
                <a16:creationId xmlns:a16="http://schemas.microsoft.com/office/drawing/2014/main" id="{E0804F40-D49F-456C-B4D9-5FBE62F0E702}"/>
              </a:ext>
            </a:extLst>
          </p:cNvPr>
          <p:cNvSpPr>
            <a:spLocks xmlns:a="http://schemas.openxmlformats.org/drawingml/2006/main" noGrp="1"/>
          </p:cNvSpPr>
          <p:nvPr/>
        </p:nvSpPr>
        <p:spPr>
          <a:xfrm xmlns:a="http://schemas.openxmlformats.org/drawingml/2006/main">
            <a:off x="8858250" y="501015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RESULT</a:t>
            </a:r>
          </a:p>
        </p:txBody>
      </p:sp>
      <p:sp>
        <p:nvSpPr>
          <p:cNvPr id="22" name="">
            <a:extLst xmlns:a="http://schemas.openxmlformats.org/drawingml/2006/main">
              <a:ext uri="{FF2B5EF4-FFF2-40B4-BE49-F238E27FC236}">
                <a16:creationId xmlns:a16="http://schemas.microsoft.com/office/drawing/2014/main" id="{3EC081F8-9431-45CE-9442-7C7CF33578E2}"/>
              </a:ext>
            </a:extLst>
          </p:cNvPr>
          <p:cNvSpPr>
            <a:spLocks xmlns:a="http://schemas.openxmlformats.org/drawingml/2006/main" noGrp="1"/>
          </p:cNvSpPr>
          <p:nvPr/>
        </p:nvSpPr>
        <p:spPr>
          <a:xfrm xmlns:a="http://schemas.openxmlformats.org/drawingml/2006/main">
            <a:off x="8858250" y="5314950"/>
            <a:ext cx="266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20392D"/>
                </a:solidFill>
              </a:defRPr>
            </a:defPPr>
            <a:lvl1pPr>
              <a:defRPr sz="1350" b="1">
                <a:solidFill>
                  <a:srgbClr val="20392D"/>
                </a:solidFill>
              </a:defRPr>
            </a:lvl1pPr>
            <a:lvl2pPr>
              <a:defRPr sz="1350" b="1">
                <a:solidFill>
                  <a:srgbClr val="20392D"/>
                </a:solidFill>
              </a:defRPr>
            </a:lvl2pPr>
            <a:lvl3pPr>
              <a:defRPr sz="1350" b="1">
                <a:solidFill>
                  <a:srgbClr val="20392D"/>
                </a:solidFill>
              </a:defRPr>
            </a:lvl3pPr>
            <a:lvl4pPr>
              <a:defRPr sz="1350" b="1">
                <a:solidFill>
                  <a:srgbClr val="20392D"/>
                </a:solidFill>
              </a:defRPr>
            </a:lvl4pPr>
            <a:lvl5pPr>
              <a:defRPr sz="1350" b="1">
                <a:solidFill>
                  <a:srgbClr val="20392D"/>
                </a:solidFill>
              </a:defRPr>
            </a:lvl5pPr>
            <a:lvl6pPr>
              <a:defRPr sz="1350" b="1">
                <a:solidFill>
                  <a:srgbClr val="20392D"/>
                </a:solidFill>
              </a:defRPr>
            </a:lvl6pPr>
            <a:lvl7pPr>
              <a:defRPr sz="1350" b="1">
                <a:solidFill>
                  <a:srgbClr val="20392D"/>
                </a:solidFill>
              </a:defRPr>
            </a:lvl7pPr>
            <a:lvl8pPr>
              <a:defRPr sz="1350" b="1">
                <a:solidFill>
                  <a:srgbClr val="20392D"/>
                </a:solidFill>
              </a:defRPr>
            </a:lvl8pPr>
            <a:lvl9pPr>
              <a:defRPr sz="1350" b="1">
                <a:solidFill>
                  <a:srgbClr val="20392D"/>
                </a:solidFill>
              </a:defRPr>
            </a:lvl9pPr>
          </a:lstStyle>
          <a:p xmlns:a="http://schemas.openxmlformats.org/drawingml/2006/main">
            <a:pPr>
              <a:defRPr sz="1350" b="1">
                <a:solidFill>
                  <a:srgbClr val="20392D"/>
                </a:solidFill>
              </a:defRPr>
            </a:pPr>
            <a:r>
              <a:rPr sz="1350" b="1">
                <a:solidFill>
                  <a:srgbClr val="20392D"/>
                </a:solidFill>
              </a:rPr>
              <a:t>Ranked place / hour options</a:t>
            </a:r>
          </a:p>
          <a:p xmlns:a="http://schemas.openxmlformats.org/drawingml/2006/main">
            <a:pPr>
              <a:defRPr sz="1350" b="1">
                <a:solidFill>
                  <a:srgbClr val="20392D"/>
                </a:solidFill>
              </a:defRPr>
            </a:pPr>
            <a:r>
              <a:rPr sz="1350" b="1">
                <a:solidFill>
                  <a:srgbClr val="20392D"/>
                </a:solidFill>
              </a:rPr>
              <a:t>Map pins · source facts · warnings</a:t>
            </a:r>
          </a:p>
        </p:txBody>
      </p:sp>
      <p:sp>
        <p:nvSpPr>
          <p:cNvPr id="23" name="">
            <a:extLst xmlns:a="http://schemas.openxmlformats.org/drawingml/2006/main">
              <a:ext uri="{FF2B5EF4-FFF2-40B4-BE49-F238E27FC236}">
                <a16:creationId xmlns:a16="http://schemas.microsoft.com/office/drawing/2014/main" id="{ABB859DB-CB91-4F92-BA69-C5A537B41E5D}"/>
              </a:ext>
            </a:extLst>
          </p:cNvPr>
          <p:cNvSpPr>
            <a:spLocks xmlns:a="http://schemas.openxmlformats.org/drawingml/2006/main" noGrp="1"/>
          </p:cNvSpPr>
          <p:nvPr/>
        </p:nvSpPr>
        <p:spPr>
          <a:xfrm xmlns:a="http://schemas.openxmlformats.org/drawingml/2006/main">
            <a:off x="685800" y="5619750"/>
            <a:ext cx="752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125" b="0">
                <a:solidFill>
                  <a:srgbClr val="64756A"/>
                </a:solidFill>
              </a:defRPr>
            </a:defPPr>
            <a:lvl1pPr>
              <a:defRPr sz="1125" b="0">
                <a:solidFill>
                  <a:srgbClr val="64756A"/>
                </a:solidFill>
              </a:defRPr>
            </a:lvl1pPr>
            <a:lvl2pPr>
              <a:defRPr sz="1125" b="0">
                <a:solidFill>
                  <a:srgbClr val="64756A"/>
                </a:solidFill>
              </a:defRPr>
            </a:lvl2pPr>
            <a:lvl3pPr>
              <a:defRPr sz="1125" b="0">
                <a:solidFill>
                  <a:srgbClr val="64756A"/>
                </a:solidFill>
              </a:defRPr>
            </a:lvl3pPr>
            <a:lvl4pPr>
              <a:defRPr sz="1125" b="0">
                <a:solidFill>
                  <a:srgbClr val="64756A"/>
                </a:solidFill>
              </a:defRPr>
            </a:lvl4pPr>
            <a:lvl5pPr>
              <a:defRPr sz="1125" b="0">
                <a:solidFill>
                  <a:srgbClr val="64756A"/>
                </a:solidFill>
              </a:defRPr>
            </a:lvl5pPr>
            <a:lvl6pPr>
              <a:defRPr sz="1125" b="0">
                <a:solidFill>
                  <a:srgbClr val="64756A"/>
                </a:solidFill>
              </a:defRPr>
            </a:lvl6pPr>
            <a:lvl7pPr>
              <a:defRPr sz="1125" b="0">
                <a:solidFill>
                  <a:srgbClr val="64756A"/>
                </a:solidFill>
              </a:defRPr>
            </a:lvl7pPr>
            <a:lvl8pPr>
              <a:defRPr sz="1125" b="0">
                <a:solidFill>
                  <a:srgbClr val="64756A"/>
                </a:solidFill>
              </a:defRPr>
            </a:lvl8pPr>
            <a:lvl9pPr>
              <a:defRPr sz="1125" b="0">
                <a:solidFill>
                  <a:srgbClr val="64756A"/>
                </a:solidFill>
              </a:defRPr>
            </a:lvl9pPr>
          </a:lstStyle>
          <a:p xmlns:a="http://schemas.openxmlformats.org/drawingml/2006/main">
            <a:pPr>
              <a:defRPr sz="1125" b="0">
                <a:solidFill>
                  <a:srgbClr val="64756A"/>
                </a:solidFill>
              </a:defRPr>
            </a:pPr>
            <a:r>
              <a:rPr sz="1125" b="0">
                <a:solidFill>
                  <a:srgbClr val="64756A"/>
                </a:solidFill>
              </a:rPr>
              <a:t>Provider requests are bounded and cached. No hosted inference API supplies the runtime answer.</a:t>
            </a:r>
          </a:p>
        </p:txBody>
      </p:sp>
      <p:sp>
        <p:nvSpPr>
          <p:cNvPr id="24" name="">
            <a:extLst xmlns:a="http://schemas.openxmlformats.org/drawingml/2006/main">
              <a:ext uri="{FF2B5EF4-FFF2-40B4-BE49-F238E27FC236}">
                <a16:creationId xmlns:a16="http://schemas.microsoft.com/office/drawing/2014/main" id="{040BC6B2-5DCE-4573-8537-2760642990D9}"/>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419334688"/>
      </p:ext>
    </p:extLst>
  </p:cSld>
</p:sld>
</file>

<file path=ppt/slides/slide4.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73255EC-682A-40A7-84D5-B261393360D9}"/>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04</a:t>
            </a:r>
          </a:p>
        </p:txBody>
      </p:sp>
      <p:sp>
        <p:nvSpPr>
          <p:cNvPr id="2" name="">
            <a:extLst xmlns:a="http://schemas.openxmlformats.org/drawingml/2006/main">
              <a:ext uri="{FF2B5EF4-FFF2-40B4-BE49-F238E27FC236}">
                <a16:creationId xmlns:a16="http://schemas.microsoft.com/office/drawing/2014/main" id="{3249CDBF-9813-4027-8D49-3AE92210E68F}"/>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Every recommendation has limits</a:t>
            </a:r>
          </a:p>
        </p:txBody>
      </p:sp>
      <p:sp>
        <p:nvSpPr>
          <p:cNvPr id="3" name="">
            <a:extLst xmlns:a="http://schemas.openxmlformats.org/drawingml/2006/main">
              <a:ext uri="{FF2B5EF4-FFF2-40B4-BE49-F238E27FC236}">
                <a16:creationId xmlns:a16="http://schemas.microsoft.com/office/drawing/2014/main" id="{F214B652-BB81-4D0B-A044-31ED83EAC679}"/>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Scores describe available evidence, not certified safety or health.</a:t>
            </a:r>
          </a:p>
        </p:txBody>
      </p:sp>
      <p:sp>
        <p:nvSpPr>
          <p:cNvPr id="4" name="">
            <a:extLst xmlns:a="http://schemas.openxmlformats.org/drawingml/2006/main">
              <a:ext uri="{FF2B5EF4-FFF2-40B4-BE49-F238E27FC236}">
                <a16:creationId xmlns:a16="http://schemas.microsoft.com/office/drawing/2014/main" id="{A1B47A71-DFC2-49ED-87A0-EB62C2DA8E28}"/>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C2D5478C-C969-4988-A14B-3788E9340DFE}"/>
              </a:ext>
            </a:extLst>
          </p:cNvPr>
          <p:cNvSpPr>
            <a:spLocks xmlns:a="http://schemas.openxmlformats.org/drawingml/2006/main" noGrp="1"/>
          </p:cNvSpPr>
          <p:nvPr/>
        </p:nvSpPr>
        <p:spPr>
          <a:xfrm xmlns:a="http://schemas.openxmlformats.org/drawingml/2006/main">
            <a:off x="685800" y="21907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HEURISTIC WEIGHTS</a:t>
            </a:r>
          </a:p>
        </p:txBody>
      </p:sp>
      <p:sp>
        <p:nvSpPr>
          <p:cNvPr id="6" name="">
            <a:extLst xmlns:a="http://schemas.openxmlformats.org/drawingml/2006/main">
              <a:ext uri="{FF2B5EF4-FFF2-40B4-BE49-F238E27FC236}">
                <a16:creationId xmlns:a16="http://schemas.microsoft.com/office/drawing/2014/main" id="{95C3EDCC-ADEE-403D-BA01-20E37E51B460}"/>
              </a:ext>
            </a:extLst>
          </p:cNvPr>
          <p:cNvSpPr>
            <a:spLocks xmlns:a="http://schemas.openxmlformats.org/drawingml/2006/main" noGrp="1"/>
          </p:cNvSpPr>
          <p:nvPr/>
        </p:nvSpPr>
        <p:spPr>
          <a:xfrm xmlns:a="http://schemas.openxmlformats.org/drawingml/2006/main">
            <a:off x="685800" y="2628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Weather</a:t>
            </a:r>
          </a:p>
        </p:txBody>
      </p:sp>
      <p:sp>
        <p:nvSpPr>
          <p:cNvPr id="7" name="">
            <a:extLst xmlns:a="http://schemas.openxmlformats.org/drawingml/2006/main">
              <a:ext uri="{FF2B5EF4-FFF2-40B4-BE49-F238E27FC236}">
                <a16:creationId xmlns:a16="http://schemas.microsoft.com/office/drawing/2014/main" id="{B6ED80F1-411B-4021-8B85-ECDE6A553C78}"/>
              </a:ext>
            </a:extLst>
          </p:cNvPr>
          <p:cNvSpPr>
            <a:spLocks xmlns:a="http://schemas.openxmlformats.org/drawingml/2006/main" noGrp="1"/>
          </p:cNvSpPr>
          <p:nvPr/>
        </p:nvSpPr>
        <p:spPr>
          <a:xfrm xmlns:a="http://schemas.openxmlformats.org/drawingml/2006/main">
            <a:off x="2647950" y="2657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D9C21C-2AED-446E-AEFC-1DCCCD2DE07A}"/>
              </a:ext>
            </a:extLst>
          </p:cNvPr>
          <p:cNvSpPr>
            <a:spLocks xmlns:a="http://schemas.openxmlformats.org/drawingml/2006/main" noGrp="1"/>
          </p:cNvSpPr>
          <p:nvPr/>
        </p:nvSpPr>
        <p:spPr>
          <a:xfrm xmlns:a="http://schemas.openxmlformats.org/drawingml/2006/main">
            <a:off x="2647950" y="2657475"/>
            <a:ext cx="3905250"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CD79D19-06BF-4402-8F36-9F06CCDC9F86}"/>
              </a:ext>
            </a:extLst>
          </p:cNvPr>
          <p:cNvSpPr>
            <a:spLocks xmlns:a="http://schemas.openxmlformats.org/drawingml/2006/main" noGrp="1"/>
          </p:cNvSpPr>
          <p:nvPr/>
        </p:nvSpPr>
        <p:spPr>
          <a:xfrm xmlns:a="http://schemas.openxmlformats.org/drawingml/2006/main">
            <a:off x="6762750" y="2609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40%</a:t>
            </a:r>
          </a:p>
        </p:txBody>
      </p:sp>
      <p:sp>
        <p:nvSpPr>
          <p:cNvPr id="10" name="">
            <a:extLst xmlns:a="http://schemas.openxmlformats.org/drawingml/2006/main">
              <a:ext uri="{FF2B5EF4-FFF2-40B4-BE49-F238E27FC236}">
                <a16:creationId xmlns:a16="http://schemas.microsoft.com/office/drawing/2014/main" id="{7FB21133-368A-4874-8640-B98BCF702738}"/>
              </a:ext>
            </a:extLst>
          </p:cNvPr>
          <p:cNvSpPr>
            <a:spLocks xmlns:a="http://schemas.openxmlformats.org/drawingml/2006/main" noGrp="1"/>
          </p:cNvSpPr>
          <p:nvPr/>
        </p:nvSpPr>
        <p:spPr>
          <a:xfrm xmlns:a="http://schemas.openxmlformats.org/drawingml/2006/main">
            <a:off x="685800" y="32004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Activity fit</a:t>
            </a:r>
          </a:p>
        </p:txBody>
      </p:sp>
      <p:sp>
        <p:nvSpPr>
          <p:cNvPr id="11" name="">
            <a:extLst xmlns:a="http://schemas.openxmlformats.org/drawingml/2006/main">
              <a:ext uri="{FF2B5EF4-FFF2-40B4-BE49-F238E27FC236}">
                <a16:creationId xmlns:a16="http://schemas.microsoft.com/office/drawing/2014/main" id="{CB479311-AAB1-41EB-8346-C314CAA4B96E}"/>
              </a:ext>
            </a:extLst>
          </p:cNvPr>
          <p:cNvSpPr>
            <a:spLocks xmlns:a="http://schemas.openxmlformats.org/drawingml/2006/main" noGrp="1"/>
          </p:cNvSpPr>
          <p:nvPr/>
        </p:nvSpPr>
        <p:spPr>
          <a:xfrm xmlns:a="http://schemas.openxmlformats.org/drawingml/2006/main">
            <a:off x="2647950" y="32289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889FCD4-62E6-4378-8FA9-1160528D99A1}"/>
              </a:ext>
            </a:extLst>
          </p:cNvPr>
          <p:cNvSpPr>
            <a:spLocks xmlns:a="http://schemas.openxmlformats.org/drawingml/2006/main" noGrp="1"/>
          </p:cNvSpPr>
          <p:nvPr/>
        </p:nvSpPr>
        <p:spPr>
          <a:xfrm xmlns:a="http://schemas.openxmlformats.org/drawingml/2006/main">
            <a:off x="2647950" y="3228975"/>
            <a:ext cx="2440781"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863AC76-9324-4160-919D-D4152F174C34}"/>
              </a:ext>
            </a:extLst>
          </p:cNvPr>
          <p:cNvSpPr>
            <a:spLocks xmlns:a="http://schemas.openxmlformats.org/drawingml/2006/main" noGrp="1"/>
          </p:cNvSpPr>
          <p:nvPr/>
        </p:nvSpPr>
        <p:spPr>
          <a:xfrm xmlns:a="http://schemas.openxmlformats.org/drawingml/2006/main">
            <a:off x="6762750" y="31813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25%</a:t>
            </a:r>
          </a:p>
        </p:txBody>
      </p:sp>
      <p:sp>
        <p:nvSpPr>
          <p:cNvPr id="14" name="">
            <a:extLst xmlns:a="http://schemas.openxmlformats.org/drawingml/2006/main">
              <a:ext uri="{FF2B5EF4-FFF2-40B4-BE49-F238E27FC236}">
                <a16:creationId xmlns:a16="http://schemas.microsoft.com/office/drawing/2014/main" id="{F84A094B-40B9-42BF-8B13-B7760A63E0F6}"/>
              </a:ext>
            </a:extLst>
          </p:cNvPr>
          <p:cNvSpPr>
            <a:spLocks xmlns:a="http://schemas.openxmlformats.org/drawingml/2006/main" noGrp="1"/>
          </p:cNvSpPr>
          <p:nvPr/>
        </p:nvSpPr>
        <p:spPr>
          <a:xfrm xmlns:a="http://schemas.openxmlformats.org/drawingml/2006/main">
            <a:off x="685800" y="3771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Air quality</a:t>
            </a:r>
          </a:p>
        </p:txBody>
      </p:sp>
      <p:sp>
        <p:nvSpPr>
          <p:cNvPr id="15" name="">
            <a:extLst xmlns:a="http://schemas.openxmlformats.org/drawingml/2006/main">
              <a:ext uri="{FF2B5EF4-FFF2-40B4-BE49-F238E27FC236}">
                <a16:creationId xmlns:a16="http://schemas.microsoft.com/office/drawing/2014/main" id="{5501F65B-B0AE-45E5-958A-EDC5BE737E9A}"/>
              </a:ext>
            </a:extLst>
          </p:cNvPr>
          <p:cNvSpPr>
            <a:spLocks xmlns:a="http://schemas.openxmlformats.org/drawingml/2006/main" noGrp="1"/>
          </p:cNvSpPr>
          <p:nvPr/>
        </p:nvSpPr>
        <p:spPr>
          <a:xfrm xmlns:a="http://schemas.openxmlformats.org/drawingml/2006/main">
            <a:off x="2647950" y="3800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1737773-F398-4DE0-A14D-B6B3B69B1D43}"/>
              </a:ext>
            </a:extLst>
          </p:cNvPr>
          <p:cNvSpPr>
            <a:spLocks xmlns:a="http://schemas.openxmlformats.org/drawingml/2006/main" noGrp="1"/>
          </p:cNvSpPr>
          <p:nvPr/>
        </p:nvSpPr>
        <p:spPr>
          <a:xfrm xmlns:a="http://schemas.openxmlformats.org/drawingml/2006/main">
            <a:off x="2647950" y="3800475"/>
            <a:ext cx="1952625"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6BF96D0-CCD3-463C-B817-9FE5B1EDA581}"/>
              </a:ext>
            </a:extLst>
          </p:cNvPr>
          <p:cNvSpPr>
            <a:spLocks xmlns:a="http://schemas.openxmlformats.org/drawingml/2006/main" noGrp="1"/>
          </p:cNvSpPr>
          <p:nvPr/>
        </p:nvSpPr>
        <p:spPr>
          <a:xfrm xmlns:a="http://schemas.openxmlformats.org/drawingml/2006/main">
            <a:off x="6762750" y="3752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20%</a:t>
            </a:r>
          </a:p>
        </p:txBody>
      </p:sp>
      <p:sp>
        <p:nvSpPr>
          <p:cNvPr id="18" name="">
            <a:extLst xmlns:a="http://schemas.openxmlformats.org/drawingml/2006/main">
              <a:ext uri="{FF2B5EF4-FFF2-40B4-BE49-F238E27FC236}">
                <a16:creationId xmlns:a16="http://schemas.microsoft.com/office/drawing/2014/main" id="{9AD87291-27E8-438E-AB8C-AC6ED62B2895}"/>
              </a:ext>
            </a:extLst>
          </p:cNvPr>
          <p:cNvSpPr>
            <a:spLocks xmlns:a="http://schemas.openxmlformats.org/drawingml/2006/main" noGrp="1"/>
          </p:cNvSpPr>
          <p:nvPr/>
        </p:nvSpPr>
        <p:spPr>
          <a:xfrm xmlns:a="http://schemas.openxmlformats.org/drawingml/2006/main">
            <a:off x="685800" y="43434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Mapped context</a:t>
            </a:r>
          </a:p>
        </p:txBody>
      </p:sp>
      <p:sp>
        <p:nvSpPr>
          <p:cNvPr id="19" name="">
            <a:extLst xmlns:a="http://schemas.openxmlformats.org/drawingml/2006/main">
              <a:ext uri="{FF2B5EF4-FFF2-40B4-BE49-F238E27FC236}">
                <a16:creationId xmlns:a16="http://schemas.microsoft.com/office/drawing/2014/main" id="{C79346E0-CCEF-4990-91DA-C3DAB8F68737}"/>
              </a:ext>
            </a:extLst>
          </p:cNvPr>
          <p:cNvSpPr>
            <a:spLocks xmlns:a="http://schemas.openxmlformats.org/drawingml/2006/main" noGrp="1"/>
          </p:cNvSpPr>
          <p:nvPr/>
        </p:nvSpPr>
        <p:spPr>
          <a:xfrm xmlns:a="http://schemas.openxmlformats.org/drawingml/2006/main">
            <a:off x="2647950" y="43719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E716A24-7AC6-46F6-BB22-37BC324C621B}"/>
              </a:ext>
            </a:extLst>
          </p:cNvPr>
          <p:cNvSpPr>
            <a:spLocks xmlns:a="http://schemas.openxmlformats.org/drawingml/2006/main" noGrp="1"/>
          </p:cNvSpPr>
          <p:nvPr/>
        </p:nvSpPr>
        <p:spPr>
          <a:xfrm xmlns:a="http://schemas.openxmlformats.org/drawingml/2006/main">
            <a:off x="2647950" y="4371975"/>
            <a:ext cx="976313"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54A317C-1079-4418-AF82-30F1094C749B}"/>
              </a:ext>
            </a:extLst>
          </p:cNvPr>
          <p:cNvSpPr>
            <a:spLocks xmlns:a="http://schemas.openxmlformats.org/drawingml/2006/main" noGrp="1"/>
          </p:cNvSpPr>
          <p:nvPr/>
        </p:nvSpPr>
        <p:spPr>
          <a:xfrm xmlns:a="http://schemas.openxmlformats.org/drawingml/2006/main">
            <a:off x="6762750" y="43243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10%</a:t>
            </a:r>
          </a:p>
        </p:txBody>
      </p:sp>
      <p:sp>
        <p:nvSpPr>
          <p:cNvPr id="22" name="">
            <a:extLst xmlns:a="http://schemas.openxmlformats.org/drawingml/2006/main">
              <a:ext uri="{FF2B5EF4-FFF2-40B4-BE49-F238E27FC236}">
                <a16:creationId xmlns:a16="http://schemas.microsoft.com/office/drawing/2014/main" id="{4D4E8E93-D5EB-4E0B-9D19-ACF6D64C9F2D}"/>
              </a:ext>
            </a:extLst>
          </p:cNvPr>
          <p:cNvSpPr>
            <a:spLocks xmlns:a="http://schemas.openxmlformats.org/drawingml/2006/main" noGrp="1"/>
          </p:cNvSpPr>
          <p:nvPr/>
        </p:nvSpPr>
        <p:spPr>
          <a:xfrm xmlns:a="http://schemas.openxmlformats.org/drawingml/2006/main">
            <a:off x="685800" y="4914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Daylight</a:t>
            </a:r>
          </a:p>
        </p:txBody>
      </p:sp>
      <p:sp>
        <p:nvSpPr>
          <p:cNvPr id="23" name="">
            <a:extLst xmlns:a="http://schemas.openxmlformats.org/drawingml/2006/main">
              <a:ext uri="{FF2B5EF4-FFF2-40B4-BE49-F238E27FC236}">
                <a16:creationId xmlns:a16="http://schemas.microsoft.com/office/drawing/2014/main" id="{AC48B126-178B-4D6A-B165-DA004CF995C8}"/>
              </a:ext>
            </a:extLst>
          </p:cNvPr>
          <p:cNvSpPr>
            <a:spLocks xmlns:a="http://schemas.openxmlformats.org/drawingml/2006/main" noGrp="1"/>
          </p:cNvSpPr>
          <p:nvPr/>
        </p:nvSpPr>
        <p:spPr>
          <a:xfrm xmlns:a="http://schemas.openxmlformats.org/drawingml/2006/main">
            <a:off x="2647950" y="4943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A85791C-1EFB-46BD-B10E-F885E4BADD39}"/>
              </a:ext>
            </a:extLst>
          </p:cNvPr>
          <p:cNvSpPr>
            <a:spLocks xmlns:a="http://schemas.openxmlformats.org/drawingml/2006/main" noGrp="1"/>
          </p:cNvSpPr>
          <p:nvPr/>
        </p:nvSpPr>
        <p:spPr>
          <a:xfrm xmlns:a="http://schemas.openxmlformats.org/drawingml/2006/main">
            <a:off x="2647950" y="4943475"/>
            <a:ext cx="488156"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36ECCED-787D-4A69-8927-4BE54CB95021}"/>
              </a:ext>
            </a:extLst>
          </p:cNvPr>
          <p:cNvSpPr>
            <a:spLocks xmlns:a="http://schemas.openxmlformats.org/drawingml/2006/main" noGrp="1"/>
          </p:cNvSpPr>
          <p:nvPr/>
        </p:nvSpPr>
        <p:spPr>
          <a:xfrm xmlns:a="http://schemas.openxmlformats.org/drawingml/2006/main">
            <a:off x="6762750" y="4895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5%</a:t>
            </a:r>
          </a:p>
        </p:txBody>
      </p:sp>
      <p:sp>
        <p:nvSpPr>
          <p:cNvPr id="26" name="">
            <a:extLst xmlns:a="http://schemas.openxmlformats.org/drawingml/2006/main">
              <a:ext uri="{FF2B5EF4-FFF2-40B4-BE49-F238E27FC236}">
                <a16:creationId xmlns:a16="http://schemas.microsoft.com/office/drawing/2014/main" id="{2FAE1A24-0DBA-4549-B938-2758DD607B15}"/>
              </a:ext>
            </a:extLst>
          </p:cNvPr>
          <p:cNvSpPr>
            <a:spLocks xmlns:a="http://schemas.openxmlformats.org/drawingml/2006/main" noGrp="1"/>
          </p:cNvSpPr>
          <p:nvPr/>
        </p:nvSpPr>
        <p:spPr>
          <a:xfrm xmlns:a="http://schemas.openxmlformats.org/drawingml/2006/main">
            <a:off x="7810500" y="2190750"/>
            <a:ext cx="0" cy="342900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27" name="">
            <a:extLst xmlns:a="http://schemas.openxmlformats.org/drawingml/2006/main">
              <a:ext uri="{FF2B5EF4-FFF2-40B4-BE49-F238E27FC236}">
                <a16:creationId xmlns:a16="http://schemas.microsoft.com/office/drawing/2014/main" id="{716A34A4-B588-4AD0-807F-F46319ED94B0}"/>
              </a:ext>
            </a:extLst>
          </p:cNvPr>
          <p:cNvSpPr>
            <a:spLocks xmlns:a="http://schemas.openxmlformats.org/drawingml/2006/main" noGrp="1"/>
          </p:cNvSpPr>
          <p:nvPr/>
        </p:nvSpPr>
        <p:spPr>
          <a:xfrm xmlns:a="http://schemas.openxmlformats.org/drawingml/2006/main">
            <a:off x="8248650" y="219075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EVIDENCE SHOWN</a:t>
            </a:r>
          </a:p>
        </p:txBody>
      </p:sp>
      <p:sp>
        <p:nvSpPr>
          <p:cNvPr id="28" name="">
            <a:extLst xmlns:a="http://schemas.openxmlformats.org/drawingml/2006/main">
              <a:ext uri="{FF2B5EF4-FFF2-40B4-BE49-F238E27FC236}">
                <a16:creationId xmlns:a16="http://schemas.microsoft.com/office/drawing/2014/main" id="{8BEFC7A2-064A-4038-B013-2F545EBB5850}"/>
              </a:ext>
            </a:extLst>
          </p:cNvPr>
          <p:cNvSpPr>
            <a:spLocks xmlns:a="http://schemas.openxmlformats.org/drawingml/2006/main" noGrp="1"/>
          </p:cNvSpPr>
          <p:nvPr/>
        </p:nvSpPr>
        <p:spPr>
          <a:xfrm xmlns:a="http://schemas.openxmlformats.org/drawingml/2006/main">
            <a:off x="8248650" y="262890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0">
                <a:solidFill>
                  <a:srgbClr val="20392D"/>
                </a:solidFill>
              </a:defRPr>
            </a:defPPr>
            <a:lvl1pPr>
              <a:defRPr sz="1425" b="0">
                <a:solidFill>
                  <a:srgbClr val="20392D"/>
                </a:solidFill>
              </a:defRPr>
            </a:lvl1pPr>
            <a:lvl2pPr>
              <a:defRPr sz="1425" b="0">
                <a:solidFill>
                  <a:srgbClr val="20392D"/>
                </a:solidFill>
              </a:defRPr>
            </a:lvl2pPr>
            <a:lvl3pPr>
              <a:defRPr sz="1425" b="0">
                <a:solidFill>
                  <a:srgbClr val="20392D"/>
                </a:solidFill>
              </a:defRPr>
            </a:lvl3pPr>
            <a:lvl4pPr>
              <a:defRPr sz="1425" b="0">
                <a:solidFill>
                  <a:srgbClr val="20392D"/>
                </a:solidFill>
              </a:defRPr>
            </a:lvl4pPr>
            <a:lvl5pPr>
              <a:defRPr sz="1425" b="0">
                <a:solidFill>
                  <a:srgbClr val="20392D"/>
                </a:solidFill>
              </a:defRPr>
            </a:lvl5pPr>
            <a:lvl6pPr>
              <a:defRPr sz="1425" b="0">
                <a:solidFill>
                  <a:srgbClr val="20392D"/>
                </a:solidFill>
              </a:defRPr>
            </a:lvl6pPr>
            <a:lvl7pPr>
              <a:defRPr sz="1425" b="0">
                <a:solidFill>
                  <a:srgbClr val="20392D"/>
                </a:solidFill>
              </a:defRPr>
            </a:lvl7pPr>
            <a:lvl8pPr>
              <a:defRPr sz="1425" b="0">
                <a:solidFill>
                  <a:srgbClr val="20392D"/>
                </a:solidFill>
              </a:defRPr>
            </a:lvl8pPr>
            <a:lvl9pPr>
              <a:defRPr sz="1425" b="0">
                <a:solidFill>
                  <a:srgbClr val="20392D"/>
                </a:solidFill>
              </a:defRPr>
            </a:lvl9pPr>
          </a:lstStyle>
          <a:p xmlns:a="http://schemas.openxmlformats.org/drawingml/2006/main">
            <a:pPr>
              <a:defRPr sz="1425" b="0">
                <a:solidFill>
                  <a:srgbClr val="20392D"/>
                </a:solidFill>
              </a:defRPr>
            </a:pPr>
            <a:r>
              <a:rPr sz="1425" b="0">
                <a:solidFill>
                  <a:srgbClr val="20392D"/>
                </a:solidFill>
              </a:rPr>
              <a:t>Forecast values include source, valid time, and fetch time. Missing weather blocks a recommendation. Missing AQ or context lowers coverage.</a:t>
            </a:r>
          </a:p>
        </p:txBody>
      </p:sp>
      <p:sp>
        <p:nvSpPr>
          <p:cNvPr id="29" name="">
            <a:extLst xmlns:a="http://schemas.openxmlformats.org/drawingml/2006/main">
              <a:ext uri="{FF2B5EF4-FFF2-40B4-BE49-F238E27FC236}">
                <a16:creationId xmlns:a16="http://schemas.microsoft.com/office/drawing/2014/main" id="{629B4A2A-E6A8-4E47-A97A-3573B106D3A7}"/>
              </a:ext>
            </a:extLst>
          </p:cNvPr>
          <p:cNvSpPr>
            <a:spLocks xmlns:a="http://schemas.openxmlformats.org/drawingml/2006/main" noGrp="1"/>
          </p:cNvSpPr>
          <p:nvPr/>
        </p:nvSpPr>
        <p:spPr>
          <a:xfrm xmlns:a="http://schemas.openxmlformats.org/drawingml/2006/main">
            <a:off x="8248650" y="4057650"/>
            <a:ext cx="3238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64756A"/>
                </a:solidFill>
              </a:defRPr>
            </a:defPPr>
            <a:lvl1pPr>
              <a:defRPr sz="1275" b="0">
                <a:solidFill>
                  <a:srgbClr val="64756A"/>
                </a:solidFill>
              </a:defRPr>
            </a:lvl1pPr>
            <a:lvl2pPr>
              <a:defRPr sz="1275" b="0">
                <a:solidFill>
                  <a:srgbClr val="64756A"/>
                </a:solidFill>
              </a:defRPr>
            </a:lvl2pPr>
            <a:lvl3pPr>
              <a:defRPr sz="1275" b="0">
                <a:solidFill>
                  <a:srgbClr val="64756A"/>
                </a:solidFill>
              </a:defRPr>
            </a:lvl3pPr>
            <a:lvl4pPr>
              <a:defRPr sz="1275" b="0">
                <a:solidFill>
                  <a:srgbClr val="64756A"/>
                </a:solidFill>
              </a:defRPr>
            </a:lvl4pPr>
            <a:lvl5pPr>
              <a:defRPr sz="1275" b="0">
                <a:solidFill>
                  <a:srgbClr val="64756A"/>
                </a:solidFill>
              </a:defRPr>
            </a:lvl5pPr>
            <a:lvl6pPr>
              <a:defRPr sz="1275" b="0">
                <a:solidFill>
                  <a:srgbClr val="64756A"/>
                </a:solidFill>
              </a:defRPr>
            </a:lvl6pPr>
            <a:lvl7pPr>
              <a:defRPr sz="1275" b="0">
                <a:solidFill>
                  <a:srgbClr val="64756A"/>
                </a:solidFill>
              </a:defRPr>
            </a:lvl7pPr>
            <a:lvl8pPr>
              <a:defRPr sz="1275" b="0">
                <a:solidFill>
                  <a:srgbClr val="64756A"/>
                </a:solidFill>
              </a:defRPr>
            </a:lvl8pPr>
            <a:lvl9pPr>
              <a:defRPr sz="1275" b="0">
                <a:solidFill>
                  <a:srgbClr val="64756A"/>
                </a:solidFill>
              </a:defRPr>
            </a:lvl9pPr>
          </a:lstStyle>
          <a:p xmlns:a="http://schemas.openxmlformats.org/drawingml/2006/main">
            <a:pPr>
              <a:defRPr sz="1275" b="0">
                <a:solidFill>
                  <a:srgbClr val="64756A"/>
                </a:solidFill>
              </a:defRPr>
            </a:pPr>
            <a:r>
              <a:rPr sz="1275" b="0">
                <a:solidFill>
                  <a:srgbClr val="64756A"/>
                </a:solidFill>
              </a:rPr>
              <a:t>OSM tags establish mapped venue fit. Road distance is a proximity proxy, never live traffic. Air quality is regional model guidance.</a:t>
            </a:r>
          </a:p>
        </p:txBody>
      </p:sp>
      <p:sp>
        <p:nvSpPr>
          <p:cNvPr id="30" name="">
            <a:extLst xmlns:a="http://schemas.openxmlformats.org/drawingml/2006/main">
              <a:ext uri="{FF2B5EF4-FFF2-40B4-BE49-F238E27FC236}">
                <a16:creationId xmlns:a16="http://schemas.microsoft.com/office/drawing/2014/main" id="{F7D9FDBA-9136-4167-AE4A-D92831327D1C}"/>
              </a:ext>
            </a:extLst>
          </p:cNvPr>
          <p:cNvSpPr>
            <a:spLocks xmlns:a="http://schemas.openxmlformats.org/drawingml/2006/main" noGrp="1"/>
          </p:cNvSpPr>
          <p:nvPr/>
        </p:nvSpPr>
        <p:spPr>
          <a:xfrm xmlns:a="http://schemas.openxmlformats.org/drawingml/2006/main">
            <a:off x="8248650" y="5429250"/>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 OpenStreetMap contributors</a:t>
            </a:r>
          </a:p>
        </p:txBody>
      </p:sp>
      <p:sp>
        <p:nvSpPr>
          <p:cNvPr id="31" name="">
            <a:extLst xmlns:a="http://schemas.openxmlformats.org/drawingml/2006/main">
              <a:ext uri="{FF2B5EF4-FFF2-40B4-BE49-F238E27FC236}">
                <a16:creationId xmlns:a16="http://schemas.microsoft.com/office/drawing/2014/main" id="{F9168985-8F73-438B-A175-21DB8BF8A661}"/>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1450188947"/>
      </p:ext>
    </p:extLst>
  </p:cSld>
</p:sld>
</file>

<file path=ppt/slides/slide5.xml><?xml version="1.0" encoding="utf-8"?>
<p:sld xmlns:p="http://schemas.openxmlformats.org/presentationml/2006/main">
  <p:cSld>
    <p:bg>
      <p:bgPr>
        <a:solidFill xmlns:a="http://schemas.openxmlformats.org/drawingml/2006/main">
          <a:srgbClr val="14271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EFA8D1-B559-4A9D-841C-847016B9AA85}"/>
              </a:ext>
            </a:extLst>
          </p:cNvPr>
          <p:cNvSpPr>
            <a:spLocks xmlns:a="http://schemas.openxmlformats.org/drawingml/2006/main" noGrp="1"/>
          </p:cNvSpPr>
          <p:nvPr/>
        </p:nvSpPr>
        <p:spPr>
          <a:xfrm xmlns:a="http://schemas.openxmlformats.org/drawingml/2006/main">
            <a:off x="685800" y="45720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E3B65E"/>
                </a:solidFill>
              </a:defRPr>
            </a:defPPr>
            <a:lvl1pPr>
              <a:defRPr sz="975" b="1">
                <a:solidFill>
                  <a:srgbClr val="E3B65E"/>
                </a:solidFill>
              </a:defRPr>
            </a:lvl1pPr>
            <a:lvl2pPr>
              <a:defRPr sz="975" b="1">
                <a:solidFill>
                  <a:srgbClr val="E3B65E"/>
                </a:solidFill>
              </a:defRPr>
            </a:lvl2pPr>
            <a:lvl3pPr>
              <a:defRPr sz="975" b="1">
                <a:solidFill>
                  <a:srgbClr val="E3B65E"/>
                </a:solidFill>
              </a:defRPr>
            </a:lvl3pPr>
            <a:lvl4pPr>
              <a:defRPr sz="975" b="1">
                <a:solidFill>
                  <a:srgbClr val="E3B65E"/>
                </a:solidFill>
              </a:defRPr>
            </a:lvl4pPr>
            <a:lvl5pPr>
              <a:defRPr sz="975" b="1">
                <a:solidFill>
                  <a:srgbClr val="E3B65E"/>
                </a:solidFill>
              </a:defRPr>
            </a:lvl5pPr>
            <a:lvl6pPr>
              <a:defRPr sz="975" b="1">
                <a:solidFill>
                  <a:srgbClr val="E3B65E"/>
                </a:solidFill>
              </a:defRPr>
            </a:lvl6pPr>
            <a:lvl7pPr>
              <a:defRPr sz="975" b="1">
                <a:solidFill>
                  <a:srgbClr val="E3B65E"/>
                </a:solidFill>
              </a:defRPr>
            </a:lvl7pPr>
            <a:lvl8pPr>
              <a:defRPr sz="975" b="1">
                <a:solidFill>
                  <a:srgbClr val="E3B65E"/>
                </a:solidFill>
              </a:defRPr>
            </a:lvl8pPr>
            <a:lvl9pPr>
              <a:defRPr sz="975" b="1">
                <a:solidFill>
                  <a:srgbClr val="E3B65E"/>
                </a:solidFill>
              </a:defRPr>
            </a:lvl9pPr>
          </a:lstStyle>
          <a:p xmlns:a="http://schemas.openxmlformats.org/drawingml/2006/main">
            <a:pPr>
              <a:defRPr sz="975" b="1">
                <a:solidFill>
                  <a:srgbClr val="E3B65E"/>
                </a:solidFill>
              </a:defRPr>
            </a:pPr>
            <a:r>
              <a:rPr sz="975" b="1">
                <a:solidFill>
                  <a:srgbClr val="E3B65E"/>
                </a:solidFill>
              </a:rPr>
              <a:t>05  /  DELIVERY STATUS</a:t>
            </a:r>
          </a:p>
        </p:txBody>
      </p:sp>
      <p:sp>
        <p:nvSpPr>
          <p:cNvPr id="2" name="">
            <a:extLst xmlns:a="http://schemas.openxmlformats.org/drawingml/2006/main">
              <a:ext uri="{FF2B5EF4-FFF2-40B4-BE49-F238E27FC236}">
                <a16:creationId xmlns:a16="http://schemas.microsoft.com/office/drawing/2014/main" id="{9441F9FC-701C-4EB4-8739-3E133599E5DD}"/>
              </a:ext>
            </a:extLst>
          </p:cNvPr>
          <p:cNvSpPr>
            <a:spLocks xmlns:a="http://schemas.openxmlformats.org/drawingml/2006/main" noGrp="1"/>
          </p:cNvSpPr>
          <p:nvPr/>
        </p:nvSpPr>
        <p:spPr>
          <a:xfrm xmlns:a="http://schemas.openxmlformats.org/drawingml/2006/main">
            <a:off x="685800" y="10096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000" b="1">
                <a:solidFill>
                  <a:srgbClr val="FFFFFF"/>
                </a:solidFill>
              </a:defRPr>
            </a:defPPr>
            <a:lvl1pPr>
              <a:defRPr sz="3000" b="1">
                <a:solidFill>
                  <a:srgbClr val="FFFFFF"/>
                </a:solidFill>
              </a:defRPr>
            </a:lvl1pPr>
            <a:lvl2pPr>
              <a:defRPr sz="3000" b="1">
                <a:solidFill>
                  <a:srgbClr val="FFFFFF"/>
                </a:solidFill>
              </a:defRPr>
            </a:lvl2pPr>
            <a:lvl3pPr>
              <a:defRPr sz="3000" b="1">
                <a:solidFill>
                  <a:srgbClr val="FFFFFF"/>
                </a:solidFill>
              </a:defRPr>
            </a:lvl3pPr>
            <a:lvl4pPr>
              <a:defRPr sz="3000" b="1">
                <a:solidFill>
                  <a:srgbClr val="FFFFFF"/>
                </a:solidFill>
              </a:defRPr>
            </a:lvl4pPr>
            <a:lvl5pPr>
              <a:defRPr sz="3000" b="1">
                <a:solidFill>
                  <a:srgbClr val="FFFFFF"/>
                </a:solidFill>
              </a:defRPr>
            </a:lvl5pPr>
            <a:lvl6pPr>
              <a:defRPr sz="3000" b="1">
                <a:solidFill>
                  <a:srgbClr val="FFFFFF"/>
                </a:solidFill>
              </a:defRPr>
            </a:lvl6pPr>
            <a:lvl7pPr>
              <a:defRPr sz="3000" b="1">
                <a:solidFill>
                  <a:srgbClr val="FFFFFF"/>
                </a:solidFill>
              </a:defRPr>
            </a:lvl7pPr>
            <a:lvl8pPr>
              <a:defRPr sz="3000" b="1">
                <a:solidFill>
                  <a:srgbClr val="FFFFFF"/>
                </a:solidFill>
              </a:defRPr>
            </a:lvl8pPr>
            <a:lvl9pPr>
              <a:defRPr sz="3000" b="1">
                <a:solidFill>
                  <a:srgbClr val="FFFFFF"/>
                </a:solidFill>
              </a:defRPr>
            </a:lvl9pPr>
          </a:lstStyle>
          <a:p xmlns:a="http://schemas.openxmlformats.org/drawingml/2006/main">
            <a:pPr>
              <a:defRPr sz="3000" b="1">
                <a:solidFill>
                  <a:srgbClr val="FFFFFF"/>
                </a:solidFill>
              </a:defRPr>
            </a:pPr>
            <a:r>
              <a:rPr sz="3000" b="1">
                <a:solidFill>
                  <a:srgbClr val="FFFFFF"/>
                </a:solidFill>
              </a:rPr>
              <a:t>What is ready for review</a:t>
            </a:r>
          </a:p>
        </p:txBody>
      </p:sp>
      <p:sp>
        <p:nvSpPr>
          <p:cNvPr id="3" name="">
            <a:extLst xmlns:a="http://schemas.openxmlformats.org/drawingml/2006/main">
              <a:ext uri="{FF2B5EF4-FFF2-40B4-BE49-F238E27FC236}">
                <a16:creationId xmlns:a16="http://schemas.microsoft.com/office/drawing/2014/main" id="{39411B8D-F609-42C4-940B-BE56CD451B56}"/>
              </a:ext>
            </a:extLst>
          </p:cNvPr>
          <p:cNvSpPr>
            <a:spLocks xmlns:a="http://schemas.openxmlformats.org/drawingml/2006/main" noGrp="1"/>
          </p:cNvSpPr>
          <p:nvPr/>
        </p:nvSpPr>
        <p:spPr>
          <a:xfrm xmlns:a="http://schemas.openxmlformats.org/drawingml/2006/main">
            <a:off x="685800" y="1771650"/>
            <a:ext cx="10820400" cy="0"/>
          </a:xfrm>
          <a:prstGeom xmlns:a="http://schemas.openxmlformats.org/drawingml/2006/main" prst="line">
            <a:avLst/>
          </a:prstGeom>
          <a:noFill xmlns:a="http://schemas.openxmlformats.org/drawingml/2006/main"/>
          <a:ln xmlns:a="http://schemas.openxmlformats.org/drawingml/2006/main" w="9525">
            <a:solidFill>
              <a:srgbClr val="54715E"/>
            </a:solidFill>
            <a:prstDash val="solid"/>
          </a:ln>
        </p:spPr>
      </p:sp>
      <p:sp>
        <p:nvSpPr>
          <p:cNvPr id="4" name="">
            <a:extLst xmlns:a="http://schemas.openxmlformats.org/drawingml/2006/main">
              <a:ext uri="{FF2B5EF4-FFF2-40B4-BE49-F238E27FC236}">
                <a16:creationId xmlns:a16="http://schemas.microsoft.com/office/drawing/2014/main" id="{509220C7-CB88-4A5C-919F-EF5DEA9BDB3F}"/>
              </a:ext>
            </a:extLst>
          </p:cNvPr>
          <p:cNvSpPr>
            <a:spLocks xmlns:a="http://schemas.openxmlformats.org/drawingml/2006/main" noGrp="1"/>
          </p:cNvSpPr>
          <p:nvPr/>
        </p:nvSpPr>
        <p:spPr>
          <a:xfrm xmlns:a="http://schemas.openxmlformats.org/drawingml/2006/main">
            <a:off x="685800" y="21717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A8D3AD"/>
                </a:solidFill>
              </a:defRPr>
            </a:defPPr>
            <a:lvl1pPr>
              <a:defRPr sz="900" b="1">
                <a:solidFill>
                  <a:srgbClr val="A8D3AD"/>
                </a:solidFill>
              </a:defRPr>
            </a:lvl1pPr>
            <a:lvl2pPr>
              <a:defRPr sz="900" b="1">
                <a:solidFill>
                  <a:srgbClr val="A8D3AD"/>
                </a:solidFill>
              </a:defRPr>
            </a:lvl2pPr>
            <a:lvl3pPr>
              <a:defRPr sz="900" b="1">
                <a:solidFill>
                  <a:srgbClr val="A8D3AD"/>
                </a:solidFill>
              </a:defRPr>
            </a:lvl3pPr>
            <a:lvl4pPr>
              <a:defRPr sz="900" b="1">
                <a:solidFill>
                  <a:srgbClr val="A8D3AD"/>
                </a:solidFill>
              </a:defRPr>
            </a:lvl4pPr>
            <a:lvl5pPr>
              <a:defRPr sz="900" b="1">
                <a:solidFill>
                  <a:srgbClr val="A8D3AD"/>
                </a:solidFill>
              </a:defRPr>
            </a:lvl5pPr>
            <a:lvl6pPr>
              <a:defRPr sz="900" b="1">
                <a:solidFill>
                  <a:srgbClr val="A8D3AD"/>
                </a:solidFill>
              </a:defRPr>
            </a:lvl6pPr>
            <a:lvl7pPr>
              <a:defRPr sz="900" b="1">
                <a:solidFill>
                  <a:srgbClr val="A8D3AD"/>
                </a:solidFill>
              </a:defRPr>
            </a:lvl7pPr>
            <a:lvl8pPr>
              <a:defRPr sz="900" b="1">
                <a:solidFill>
                  <a:srgbClr val="A8D3AD"/>
                </a:solidFill>
              </a:defRPr>
            </a:lvl8pPr>
            <a:lvl9pPr>
              <a:defRPr sz="900" b="1">
                <a:solidFill>
                  <a:srgbClr val="A8D3AD"/>
                </a:solidFill>
              </a:defRPr>
            </a:lvl9pPr>
          </a:lstStyle>
          <a:p xmlns:a="http://schemas.openxmlformats.org/drawingml/2006/main">
            <a:pPr>
              <a:defRPr sz="900" b="1">
                <a:solidFill>
                  <a:srgbClr val="A8D3AD"/>
                </a:solidFill>
              </a:defRPr>
            </a:pPr>
            <a:r>
              <a:rPr sz="900" b="1">
                <a:solidFill>
                  <a:srgbClr val="A8D3AD"/>
                </a:solidFill>
              </a:rPr>
              <a:t>IMPLEMENTED</a:t>
            </a:r>
          </a:p>
        </p:txBody>
      </p:sp>
      <p:sp>
        <p:nvSpPr>
          <p:cNvPr id="5" name="">
            <a:extLst xmlns:a="http://schemas.openxmlformats.org/drawingml/2006/main">
              <a:ext uri="{FF2B5EF4-FFF2-40B4-BE49-F238E27FC236}">
                <a16:creationId xmlns:a16="http://schemas.microsoft.com/office/drawing/2014/main" id="{6AF8EE19-291F-47B3-AE3E-8A735DC8C8C2}"/>
              </a:ext>
            </a:extLst>
          </p:cNvPr>
          <p:cNvSpPr>
            <a:spLocks xmlns:a="http://schemas.openxmlformats.org/drawingml/2006/main" noGrp="1"/>
          </p:cNvSpPr>
          <p:nvPr/>
        </p:nvSpPr>
        <p:spPr>
          <a:xfrm xmlns:a="http://schemas.openxmlformats.org/drawingml/2006/main">
            <a:off x="685800" y="2609850"/>
            <a:ext cx="3905250" cy="2047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FFFFFF"/>
                </a:solidFill>
              </a:defRPr>
            </a:defPPr>
            <a:lvl1pPr>
              <a:defRPr sz="1575" b="0">
                <a:solidFill>
                  <a:srgbClr val="FFFFFF"/>
                </a:solidFill>
              </a:defRPr>
            </a:lvl1pPr>
            <a:lvl2pPr>
              <a:defRPr sz="1575" b="0">
                <a:solidFill>
                  <a:srgbClr val="FFFFFF"/>
                </a:solidFill>
              </a:defRPr>
            </a:lvl2pPr>
            <a:lvl3pPr>
              <a:defRPr sz="1575" b="0">
                <a:solidFill>
                  <a:srgbClr val="FFFFFF"/>
                </a:solidFill>
              </a:defRPr>
            </a:lvl3pPr>
            <a:lvl4pPr>
              <a:defRPr sz="1575" b="0">
                <a:solidFill>
                  <a:srgbClr val="FFFFFF"/>
                </a:solidFill>
              </a:defRPr>
            </a:lvl4pPr>
            <a:lvl5pPr>
              <a:defRPr sz="1575" b="0">
                <a:solidFill>
                  <a:srgbClr val="FFFFFF"/>
                </a:solidFill>
              </a:defRPr>
            </a:lvl5pPr>
            <a:lvl6pPr>
              <a:defRPr sz="1575" b="0">
                <a:solidFill>
                  <a:srgbClr val="FFFFFF"/>
                </a:solidFill>
              </a:defRPr>
            </a:lvl6pPr>
            <a:lvl7pPr>
              <a:defRPr sz="1575" b="0">
                <a:solidFill>
                  <a:srgbClr val="FFFFFF"/>
                </a:solidFill>
              </a:defRPr>
            </a:lvl7pPr>
            <a:lvl8pPr>
              <a:defRPr sz="1575" b="0">
                <a:solidFill>
                  <a:srgbClr val="FFFFFF"/>
                </a:solidFill>
              </a:defRPr>
            </a:lvl8pPr>
            <a:lvl9pPr>
              <a:defRPr sz="1575" b="0">
                <a:solidFill>
                  <a:srgbClr val="FFFFFF"/>
                </a:solidFill>
              </a:defRPr>
            </a:lvl9pPr>
          </a:lstStyle>
          <a:p xmlns:a="http://schemas.openxmlformats.org/drawingml/2006/main">
            <a:pPr>
              <a:defRPr sz="1575" b="0">
                <a:solidFill>
                  <a:srgbClr val="FFFFFF"/>
                </a:solidFill>
              </a:defRPr>
            </a:pPr>
            <a:r>
              <a:rPr sz="1575" b="0">
                <a:solidFill>
                  <a:srgbClr val="FFFFFF"/>
                </a:solidFill>
              </a:rPr>
              <a:t>React planner and map (build passes)</a:t>
            </a:r>
          </a:p>
          <a:p xmlns:a="http://schemas.openxmlformats.org/drawingml/2006/main">
            <a:pPr>
              <a:defRPr sz="1575" b="0">
                <a:solidFill>
                  <a:srgbClr val="FFFFFF"/>
                </a:solidFill>
              </a:defRPr>
            </a:pPr>
            <a:r>
              <a:rPr sz="1575" b="0">
                <a:solidFill>
                  <a:srgbClr val="FFFFFF"/>
                </a:solidFill>
              </a:rPr>
              <a:t>FastAPI pipeline in source</a:t>
            </a:r>
          </a:p>
          <a:p xmlns:a="http://schemas.openxmlformats.org/drawingml/2006/main">
            <a:pPr>
              <a:defRPr sz="1575" b="0">
                <a:solidFill>
                  <a:srgbClr val="FFFFFF"/>
                </a:solidFill>
              </a:defRPr>
            </a:pPr>
            <a:r>
              <a:rPr sz="1575" b="0">
                <a:solidFill>
                  <a:srgbClr val="FFFFFF"/>
                </a:solidFill>
              </a:rPr>
              <a:t>Ten activity configurations</a:t>
            </a:r>
          </a:p>
          <a:p xmlns:a="http://schemas.openxmlformats.org/drawingml/2006/main">
            <a:pPr>
              <a:defRPr sz="1575" b="0">
                <a:solidFill>
                  <a:srgbClr val="FFFFFF"/>
                </a:solidFill>
              </a:defRPr>
            </a:pPr>
            <a:r>
              <a:rPr sz="1575" b="0">
                <a:solidFill>
                  <a:srgbClr val="FFFFFF"/>
                </a:solidFill>
              </a:rPr>
              <a:t>Gradio Space with JSON endpoint</a:t>
            </a:r>
          </a:p>
          <a:p xmlns:a="http://schemas.openxmlformats.org/drawingml/2006/main">
            <a:pPr>
              <a:defRPr sz="1575" b="0">
                <a:solidFill>
                  <a:srgbClr val="FFFFFF"/>
                </a:solidFill>
              </a:defRPr>
            </a:pPr>
            <a:r>
              <a:rPr sz="1575" b="0">
                <a:solidFill>
                  <a:srgbClr val="FFFFFF"/>
                </a:solidFill>
              </a:rPr>
              <a:t>Public 1.54B Apache-2.0 model loaded</a:t>
            </a:r>
          </a:p>
        </p:txBody>
      </p:sp>
      <p:sp>
        <p:nvSpPr>
          <p:cNvPr id="6" name="">
            <a:extLst xmlns:a="http://schemas.openxmlformats.org/drawingml/2006/main">
              <a:ext uri="{FF2B5EF4-FFF2-40B4-BE49-F238E27FC236}">
                <a16:creationId xmlns:a16="http://schemas.microsoft.com/office/drawing/2014/main" id="{4B283543-0B57-4D67-A717-F474CAA0F0A5}"/>
              </a:ext>
            </a:extLst>
          </p:cNvPr>
          <p:cNvSpPr>
            <a:spLocks xmlns:a="http://schemas.openxmlformats.org/drawingml/2006/main" noGrp="1"/>
          </p:cNvSpPr>
          <p:nvPr/>
        </p:nvSpPr>
        <p:spPr>
          <a:xfrm xmlns:a="http://schemas.openxmlformats.org/drawingml/2006/main">
            <a:off x="5219700" y="2190750"/>
            <a:ext cx="0" cy="3276600"/>
          </a:xfrm>
          <a:prstGeom xmlns:a="http://schemas.openxmlformats.org/drawingml/2006/main" prst="line">
            <a:avLst/>
          </a:prstGeom>
          <a:noFill xmlns:a="http://schemas.openxmlformats.org/drawingml/2006/main"/>
          <a:ln xmlns:a="http://schemas.openxmlformats.org/drawingml/2006/main" w="9525">
            <a:solidFill>
              <a:srgbClr val="54715E"/>
            </a:solidFill>
            <a:prstDash val="solid"/>
          </a:ln>
        </p:spPr>
      </p:sp>
      <p:sp>
        <p:nvSpPr>
          <p:cNvPr id="7" name="">
            <a:extLst xmlns:a="http://schemas.openxmlformats.org/drawingml/2006/main">
              <a:ext uri="{FF2B5EF4-FFF2-40B4-BE49-F238E27FC236}">
                <a16:creationId xmlns:a16="http://schemas.microsoft.com/office/drawing/2014/main" id="{68E1346D-322B-482A-80D2-7BA5A08A1EAB}"/>
              </a:ext>
            </a:extLst>
          </p:cNvPr>
          <p:cNvSpPr>
            <a:spLocks xmlns:a="http://schemas.openxmlformats.org/drawingml/2006/main" noGrp="1"/>
          </p:cNvSpPr>
          <p:nvPr/>
        </p:nvSpPr>
        <p:spPr>
          <a:xfrm xmlns:a="http://schemas.openxmlformats.org/drawingml/2006/main">
            <a:off x="5867400" y="217170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E3B65E"/>
                </a:solidFill>
              </a:defRPr>
            </a:defPPr>
            <a:lvl1pPr>
              <a:defRPr sz="900" b="1">
                <a:solidFill>
                  <a:srgbClr val="E3B65E"/>
                </a:solidFill>
              </a:defRPr>
            </a:lvl1pPr>
            <a:lvl2pPr>
              <a:defRPr sz="900" b="1">
                <a:solidFill>
                  <a:srgbClr val="E3B65E"/>
                </a:solidFill>
              </a:defRPr>
            </a:lvl2pPr>
            <a:lvl3pPr>
              <a:defRPr sz="900" b="1">
                <a:solidFill>
                  <a:srgbClr val="E3B65E"/>
                </a:solidFill>
              </a:defRPr>
            </a:lvl3pPr>
            <a:lvl4pPr>
              <a:defRPr sz="900" b="1">
                <a:solidFill>
                  <a:srgbClr val="E3B65E"/>
                </a:solidFill>
              </a:defRPr>
            </a:lvl4pPr>
            <a:lvl5pPr>
              <a:defRPr sz="900" b="1">
                <a:solidFill>
                  <a:srgbClr val="E3B65E"/>
                </a:solidFill>
              </a:defRPr>
            </a:lvl5pPr>
            <a:lvl6pPr>
              <a:defRPr sz="900" b="1">
                <a:solidFill>
                  <a:srgbClr val="E3B65E"/>
                </a:solidFill>
              </a:defRPr>
            </a:lvl6pPr>
            <a:lvl7pPr>
              <a:defRPr sz="900" b="1">
                <a:solidFill>
                  <a:srgbClr val="E3B65E"/>
                </a:solidFill>
              </a:defRPr>
            </a:lvl7pPr>
            <a:lvl8pPr>
              <a:defRPr sz="900" b="1">
                <a:solidFill>
                  <a:srgbClr val="E3B65E"/>
                </a:solidFill>
              </a:defRPr>
            </a:lvl8pPr>
            <a:lvl9pPr>
              <a:defRPr sz="900" b="1">
                <a:solidFill>
                  <a:srgbClr val="E3B65E"/>
                </a:solidFill>
              </a:defRPr>
            </a:lvl9pPr>
          </a:lstStyle>
          <a:p xmlns:a="http://schemas.openxmlformats.org/drawingml/2006/main">
            <a:pPr>
              <a:defRPr sz="900" b="1">
                <a:solidFill>
                  <a:srgbClr val="E3B65E"/>
                </a:solidFill>
              </a:defRPr>
            </a:pPr>
            <a:r>
              <a:rPr sz="900" b="1">
                <a:solidFill>
                  <a:srgbClr val="E3B65E"/>
                </a:solidFill>
              </a:rPr>
              <a:t>STILL TO VERIFY</a:t>
            </a:r>
          </a:p>
        </p:txBody>
      </p:sp>
      <p:sp>
        <p:nvSpPr>
          <p:cNvPr id="8" name="">
            <a:extLst xmlns:a="http://schemas.openxmlformats.org/drawingml/2006/main">
              <a:ext uri="{FF2B5EF4-FFF2-40B4-BE49-F238E27FC236}">
                <a16:creationId xmlns:a16="http://schemas.microsoft.com/office/drawing/2014/main" id="{33B5C43D-50FF-4ED8-9162-6AA5C462D058}"/>
              </a:ext>
            </a:extLst>
          </p:cNvPr>
          <p:cNvSpPr>
            <a:spLocks xmlns:a="http://schemas.openxmlformats.org/drawingml/2006/main" noGrp="1"/>
          </p:cNvSpPr>
          <p:nvPr/>
        </p:nvSpPr>
        <p:spPr>
          <a:xfrm xmlns:a="http://schemas.openxmlformats.org/drawingml/2006/main">
            <a:off x="5867400" y="2609850"/>
            <a:ext cx="4953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FFFFFF"/>
                </a:solidFill>
              </a:defRPr>
            </a:defPPr>
            <a:lvl1pPr>
              <a:defRPr sz="1500" b="0">
                <a:solidFill>
                  <a:srgbClr val="FFFFFF"/>
                </a:solidFill>
              </a:defRPr>
            </a:lvl1pPr>
            <a:lvl2pPr>
              <a:defRPr sz="1500" b="0">
                <a:solidFill>
                  <a:srgbClr val="FFFFFF"/>
                </a:solidFill>
              </a:defRPr>
            </a:lvl2pPr>
            <a:lvl3pPr>
              <a:defRPr sz="1500" b="0">
                <a:solidFill>
                  <a:srgbClr val="FFFFFF"/>
                </a:solidFill>
              </a:defRPr>
            </a:lvl3pPr>
            <a:lvl4pPr>
              <a:defRPr sz="1500" b="0">
                <a:solidFill>
                  <a:srgbClr val="FFFFFF"/>
                </a:solidFill>
              </a:defRPr>
            </a:lvl4pPr>
            <a:lvl5pPr>
              <a:defRPr sz="1500" b="0">
                <a:solidFill>
                  <a:srgbClr val="FFFFFF"/>
                </a:solidFill>
              </a:defRPr>
            </a:lvl5pPr>
            <a:lvl6pPr>
              <a:defRPr sz="1500" b="0">
                <a:solidFill>
                  <a:srgbClr val="FFFFFF"/>
                </a:solidFill>
              </a:defRPr>
            </a:lvl6pPr>
            <a:lvl7pPr>
              <a:defRPr sz="1500" b="0">
                <a:solidFill>
                  <a:srgbClr val="FFFFFF"/>
                </a:solidFill>
              </a:defRPr>
            </a:lvl7pPr>
            <a:lvl8pPr>
              <a:defRPr sz="1500" b="0">
                <a:solidFill>
                  <a:srgbClr val="FFFFFF"/>
                </a:solidFill>
              </a:defRPr>
            </a:lvl8pPr>
            <a:lvl9pPr>
              <a:defRPr sz="1500" b="0">
                <a:solidFill>
                  <a:srgbClr val="FFFFFF"/>
                </a:solidFill>
              </a:defRPr>
            </a:lvl9pPr>
          </a:lstStyle>
          <a:p xmlns:a="http://schemas.openxmlformats.org/drawingml/2006/main">
            <a:pPr>
              <a:defRPr sz="1500" b="0">
                <a:solidFill>
                  <a:srgbClr val="FFFFFF"/>
                </a:solidFill>
              </a:defRPr>
            </a:pPr>
            <a:r>
              <a:rPr sz="1500" b="0">
                <a:solidFill>
                  <a:srgbClr val="FFFFFF"/>
                </a:solidFill>
              </a:rPr>
              <a:t>Live provider-backed recommendation after quota</a:t>
            </a:r>
          </a:p>
          <a:p xmlns:a="http://schemas.openxmlformats.org/drawingml/2006/main">
            <a:pPr>
              <a:defRPr sz="1500" b="0">
                <a:solidFill>
                  <a:srgbClr val="FFFFFF"/>
                </a:solidFill>
              </a:defRPr>
            </a:pPr>
            <a:r>
              <a:rPr sz="1500" b="0">
                <a:solidFill>
                  <a:srgbClr val="FFFFFF"/>
                </a:solidFill>
              </a:rPr>
              <a:t>Scoring tests: 8 pass; full suite unverified</a:t>
            </a:r>
          </a:p>
          <a:p xmlns:a="http://schemas.openxmlformats.org/drawingml/2006/main">
            <a:pPr>
              <a:defRPr sz="1500" b="0">
                <a:solidFill>
                  <a:srgbClr val="FFFFFF"/>
                </a:solidFill>
              </a:defRPr>
            </a:pPr>
            <a:r>
              <a:rPr sz="1500" b="0">
                <a:solidFill>
                  <a:srgbClr val="FFFFFF"/>
                </a:solidFill>
              </a:rPr>
              <a:t>Hosted /health and /api routes</a:t>
            </a:r>
          </a:p>
          <a:p xmlns:a="http://schemas.openxmlformats.org/drawingml/2006/main">
            <a:pPr>
              <a:defRPr sz="1500" b="0">
                <a:solidFill>
                  <a:srgbClr val="FFFFFF"/>
                </a:solidFill>
              </a:defRPr>
            </a:pPr>
            <a:r>
              <a:rPr sz="1500" b="0">
                <a:solidFill>
                  <a:srgbClr val="FFFFFF"/>
                </a:solidFill>
              </a:rPr>
              <a:t>Root Docker image and cold start</a:t>
            </a:r>
          </a:p>
          <a:p xmlns:a="http://schemas.openxmlformats.org/drawingml/2006/main">
            <a:pPr>
              <a:defRPr sz="1500" b="0">
                <a:solidFill>
                  <a:srgbClr val="FFFFFF"/>
                </a:solidFill>
              </a:defRPr>
            </a:pPr>
            <a:r>
              <a:rPr sz="1500" b="0">
                <a:solidFill>
                  <a:srgbClr val="FFFFFF"/>
                </a:solidFill>
              </a:rPr>
              <a:t>Keep endpoint available for judging</a:t>
            </a:r>
          </a:p>
        </p:txBody>
      </p:sp>
      <p:sp>
        <p:nvSpPr>
          <p:cNvPr id="9" name="">
            <a:extLst xmlns:a="http://schemas.openxmlformats.org/drawingml/2006/main">
              <a:ext uri="{FF2B5EF4-FFF2-40B4-BE49-F238E27FC236}">
                <a16:creationId xmlns:a16="http://schemas.microsoft.com/office/drawing/2014/main" id="{F91A0C49-5BB7-4B71-A233-A8EA5A6AD277}"/>
              </a:ext>
            </a:extLst>
          </p:cNvPr>
          <p:cNvSpPr>
            <a:spLocks xmlns:a="http://schemas.openxmlformats.org/drawingml/2006/main" noGrp="1"/>
          </p:cNvSpPr>
          <p:nvPr/>
        </p:nvSpPr>
        <p:spPr>
          <a:xfrm xmlns:a="http://schemas.openxmlformats.org/drawingml/2006/main">
            <a:off x="685800" y="56769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125" b="0">
                <a:solidFill>
                  <a:srgbClr val="C2D0C4"/>
                </a:solidFill>
              </a:defRPr>
            </a:defPPr>
            <a:lvl1pPr>
              <a:defRPr sz="1125" b="0">
                <a:solidFill>
                  <a:srgbClr val="C2D0C4"/>
                </a:solidFill>
              </a:defRPr>
            </a:lvl1pPr>
            <a:lvl2pPr>
              <a:defRPr sz="1125" b="0">
                <a:solidFill>
                  <a:srgbClr val="C2D0C4"/>
                </a:solidFill>
              </a:defRPr>
            </a:lvl2pPr>
            <a:lvl3pPr>
              <a:defRPr sz="1125" b="0">
                <a:solidFill>
                  <a:srgbClr val="C2D0C4"/>
                </a:solidFill>
              </a:defRPr>
            </a:lvl3pPr>
            <a:lvl4pPr>
              <a:defRPr sz="1125" b="0">
                <a:solidFill>
                  <a:srgbClr val="C2D0C4"/>
                </a:solidFill>
              </a:defRPr>
            </a:lvl4pPr>
            <a:lvl5pPr>
              <a:defRPr sz="1125" b="0">
                <a:solidFill>
                  <a:srgbClr val="C2D0C4"/>
                </a:solidFill>
              </a:defRPr>
            </a:lvl5pPr>
            <a:lvl6pPr>
              <a:defRPr sz="1125" b="0">
                <a:solidFill>
                  <a:srgbClr val="C2D0C4"/>
                </a:solidFill>
              </a:defRPr>
            </a:lvl6pPr>
            <a:lvl7pPr>
              <a:defRPr sz="1125" b="0">
                <a:solidFill>
                  <a:srgbClr val="C2D0C4"/>
                </a:solidFill>
              </a:defRPr>
            </a:lvl7pPr>
            <a:lvl8pPr>
              <a:defRPr sz="1125" b="0">
                <a:solidFill>
                  <a:srgbClr val="C2D0C4"/>
                </a:solidFill>
              </a:defRPr>
            </a:lvl8pPr>
            <a:lvl9pPr>
              <a:defRPr sz="1125" b="0">
                <a:solidFill>
                  <a:srgbClr val="C2D0C4"/>
                </a:solidFill>
              </a:defRPr>
            </a:lvl9pPr>
          </a:lstStyle>
          <a:p xmlns:a="http://schemas.openxmlformats.org/drawingml/2006/main">
            <a:pPr>
              <a:defRPr sz="1125" b="0">
                <a:solidFill>
                  <a:srgbClr val="C2D0C4"/>
                </a:solidFill>
              </a:defRPr>
            </a:pPr>
            <a:r>
              <a:rPr sz="1125" b="0">
                <a:solidFill>
                  <a:srgbClr val="C2D0C4"/>
                </a:solidFill>
              </a:rPr>
              <a:t>Space is deployed; last inference hit ZeroGPU quota. No live recommendation is verified. Frontend production build passes.</a:t>
            </a:r>
          </a:p>
        </p:txBody>
      </p:sp>
      <p:sp>
        <p:nvSpPr>
          <p:cNvPr id="10" name="">
            <a:extLst xmlns:a="http://schemas.openxmlformats.org/drawingml/2006/main">
              <a:ext uri="{FF2B5EF4-FFF2-40B4-BE49-F238E27FC236}">
                <a16:creationId xmlns:a16="http://schemas.microsoft.com/office/drawing/2014/main" id="{12B7BA4E-36F2-49B0-B7D7-2A6974BD5934}"/>
              </a:ext>
            </a:extLst>
          </p:cNvPr>
          <p:cNvSpPr>
            <a:spLocks xmlns:a="http://schemas.openxmlformats.org/drawingml/2006/main" noGrp="1"/>
          </p:cNvSpPr>
          <p:nvPr/>
        </p:nvSpPr>
        <p:spPr>
          <a:xfrm xmlns:a="http://schemas.openxmlformats.org/drawingml/2006/main">
            <a:off x="685800" y="6334125"/>
            <a:ext cx="10820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AFC0B2"/>
                </a:solidFill>
              </a:defRPr>
            </a:defPPr>
            <a:lvl1pPr>
              <a:defRPr sz="750" b="0">
                <a:solidFill>
                  <a:srgbClr val="AFC0B2"/>
                </a:solidFill>
              </a:defRPr>
            </a:lvl1pPr>
            <a:lvl2pPr>
              <a:defRPr sz="750" b="0">
                <a:solidFill>
                  <a:srgbClr val="AFC0B2"/>
                </a:solidFill>
              </a:defRPr>
            </a:lvl2pPr>
            <a:lvl3pPr>
              <a:defRPr sz="750" b="0">
                <a:solidFill>
                  <a:srgbClr val="AFC0B2"/>
                </a:solidFill>
              </a:defRPr>
            </a:lvl3pPr>
            <a:lvl4pPr>
              <a:defRPr sz="750" b="0">
                <a:solidFill>
                  <a:srgbClr val="AFC0B2"/>
                </a:solidFill>
              </a:defRPr>
            </a:lvl4pPr>
            <a:lvl5pPr>
              <a:defRPr sz="750" b="0">
                <a:solidFill>
                  <a:srgbClr val="AFC0B2"/>
                </a:solidFill>
              </a:defRPr>
            </a:lvl5pPr>
            <a:lvl6pPr>
              <a:defRPr sz="750" b="0">
                <a:solidFill>
                  <a:srgbClr val="AFC0B2"/>
                </a:solidFill>
              </a:defRPr>
            </a:lvl6pPr>
            <a:lvl7pPr>
              <a:defRPr sz="750" b="0">
                <a:solidFill>
                  <a:srgbClr val="AFC0B2"/>
                </a:solidFill>
              </a:defRPr>
            </a:lvl7pPr>
            <a:lvl8pPr>
              <a:defRPr sz="750" b="0">
                <a:solidFill>
                  <a:srgbClr val="AFC0B2"/>
                </a:solidFill>
              </a:defRPr>
            </a:lvl8pPr>
            <a:lvl9pPr>
              <a:defRPr sz="750" b="0">
                <a:solidFill>
                  <a:srgbClr val="AFC0B2"/>
                </a:solidFill>
              </a:defRPr>
            </a:lvl9pPr>
          </a:lstStyle>
          <a:p xmlns:a="http://schemas.openxmlformats.org/drawingml/2006/main">
            <a:pPr>
              <a:defRPr sz="750" b="0">
                <a:solidFill>
                  <a:srgbClr val="AFC0B2"/>
                </a:solidFill>
              </a:defRPr>
            </a:pPr>
            <a:r>
              <a:rPr sz="750" b="0">
                <a:solidFill>
                  <a:srgbClr val="AFC0B2"/>
                </a:solidFill>
              </a:rPr>
              <a:t>Rules source: geosysiot.in/geoai-hackathon/#guidelines  ·  Status checked 24 Oct 2026</a:t>
            </a:r>
          </a:p>
        </p:txBody>
      </p:sp>
    </p:spTree>
    <p:extLst>
      <p:ext uri="{BB962C8B-B14F-4D97-AF65-F5344CB8AC3E}">
        <p14:creationId xmlns:p14="http://schemas.microsoft.com/office/powerpoint/2010/main" val="8743331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2026-10-24T17:26:58.1820000Z</dcterms:created>
  <dcterms:modified xsi:type="dcterms:W3CDTF">2026-10-24T17:26:58.1830000Z</dcterms:modified>
</coreProperties>
</file>