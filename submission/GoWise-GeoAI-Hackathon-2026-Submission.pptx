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32e21492202433e" /><Relationship Type="http://schemas.openxmlformats.org/officeDocument/2006/relationships/extended-properties" Target="/docProps/app.xml" Id="Rf9f4ac537ff747f1" /><Relationship Type="http://schemas.openxmlformats.org/officeDocument/2006/relationships/officeDocument" Target="/ppt/presentation.xml" Id="Rcf27e7bdbbc144f4" /></Relationships>
</file>

<file path=ppt/presentation.xml><?xml version="1.0" encoding="utf-8"?>
<p:presentation xmlns:p="http://schemas.openxmlformats.org/presentationml/2006/main">
  <p:sldMasterIdLst>
    <p:sldMasterId xmlns:r="http://schemas.openxmlformats.org/officeDocument/2006/relationships" id="2147483648" r:id="R463f0feca6784a46"/>
  </p:sldMasterIdLst>
  <p:notesMasterIdLst>
    <p:notesMasterId xmlns:r="http://schemas.openxmlformats.org/officeDocument/2006/relationships" r:id="R4d92e985df72460e"/>
  </p:notesMasterIdLst>
  <p:sldIdLst>
    <p:sldId xmlns:r="http://schemas.openxmlformats.org/officeDocument/2006/relationships" id="256" r:id="Rbdb401ffbc7c4b5a"/>
    <p:sldId xmlns:r="http://schemas.openxmlformats.org/officeDocument/2006/relationships" id="257" r:id="R1f59e059d257413b"/>
    <p:sldId xmlns:r="http://schemas.openxmlformats.org/officeDocument/2006/relationships" id="258" r:id="R9c1f7ce91e7f4bd4"/>
    <p:sldId xmlns:r="http://schemas.openxmlformats.org/officeDocument/2006/relationships" id="259" r:id="Rfae2606ef63c4d93"/>
    <p:sldId xmlns:r="http://schemas.openxmlformats.org/officeDocument/2006/relationships" id="260" r:id="R110a88f6de9c44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3cd90e28004e4a" /><Relationship Type="http://schemas.openxmlformats.org/officeDocument/2006/relationships/slideMaster" Target="/ppt/slideMasters/slideMaster1.xml" Id="R463f0feca6784a46" /><Relationship Type="http://schemas.openxmlformats.org/officeDocument/2006/relationships/notesMaster" Target="/ppt/notesMasters/notesMaster1.xml" Id="R4d92e985df72460e" /><Relationship Type="http://schemas.openxmlformats.org/officeDocument/2006/relationships/presProps" Target="/ppt/presProps.xml" Id="Rabc7df2aeb6c46cd" /><Relationship Type="http://schemas.openxmlformats.org/officeDocument/2006/relationships/tableStyles" Target="/ppt/tableStyles.xml" Id="R36ab8cfa2af34cd4" /><Relationship Type="http://schemas.openxmlformats.org/officeDocument/2006/relationships/slide" Target="/ppt/slides/slide1.xml" Id="Rbdb401ffbc7c4b5a" /><Relationship Type="http://schemas.openxmlformats.org/officeDocument/2006/relationships/slide" Target="/ppt/slides/slide2.xml" Id="R1f59e059d257413b" /><Relationship Type="http://schemas.openxmlformats.org/officeDocument/2006/relationships/slide" Target="/ppt/slides/slide3.xml" Id="R9c1f7ce91e7f4bd4" /><Relationship Type="http://schemas.openxmlformats.org/officeDocument/2006/relationships/slide" Target="/ppt/slides/slide4.xml" Id="Rfae2606ef63c4d93" /><Relationship Type="http://schemas.openxmlformats.org/officeDocument/2006/relationships/slide" Target="/ppt/slides/slide5.xml" Id="R110a88f6de9c44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309c3b2c554c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5190ae0458459d" /><Relationship Type="http://schemas.openxmlformats.org/officeDocument/2006/relationships/notesMaster" Target="/ppt/notesMasters/notesMaster1.xml" Id="R7b214f45d8dc4a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88c56889c3742ba" /><Relationship Type="http://schemas.openxmlformats.org/officeDocument/2006/relationships/notesMaster" Target="/ppt/notesMasters/notesMaster1.xml" Id="R3fe8b21748cf4a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f18e0b4ee149c9" /><Relationship Type="http://schemas.openxmlformats.org/officeDocument/2006/relationships/notesMaster" Target="/ppt/notesMasters/notesMaster1.xml" Id="R158c02c1926247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990fd72c5014603" /><Relationship Type="http://schemas.openxmlformats.org/officeDocument/2006/relationships/notesMaster" Target="/ppt/notesMasters/notesMaster1.xml" Id="R27733ad958904d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8e4ee1d454643a9" /><Relationship Type="http://schemas.openxmlformats.org/officeDocument/2006/relationships/notesMaster" Target="/ppt/notesMasters/notesMaster1.xml" Id="R2b71994505c54a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GoWise project instructions and the official GeoAI Hackathon 2026 rulebook. Official brief: https://geosysiot.in/geoai-hackathon/#guidelines. Current verification status is documented in the project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example query was submitted to the deployed GoWise Space and its deterministic named-weekday parser resolved Monday evening near Powai to 26 October 2026, 17:00–20:00 IST. The later inference attempt was blocked by ZeroGPU quota; this slide therefore shows only the verified parsed request and no invented live venue or forecast output. The supported activity list comes from backend/app/engine/activities.py.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ARCHITECTURE.md and DATA_SOURCES.md. Implemented providers are Nominatim, Overpass API / OpenStreetMap, Open-Meteo Forecast API, and Open-Meteo Air Quality API. The team repository mirrors Qwen2.5-1.5B-Instruct base weights; no project-specific fine-tuning is claimed. The runtime model is configured through Transformers AutoTokenizer and AutoModelForCausalLM.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for heuristic weights and missing-data behavior: backend/app/engine/scoring.py. Provider limitations and attribution policy: DATA_SOURCES.md. Open-Meteo air-quality forecast is regional model guidance. Road proximity is a map proxy, not live traffic. OSM credit: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as of 24 October 2026. The React production build passed and eight deterministic scoring tests passed. The full pytest suite did not complete in the Windows sandbox because an asyncio/socketpair path hung. The public team model repo reports Apache-2.0 and contains 1,543,714,304 BF16 parameters with a model card; the running Space displays the team model ID as loaded through Transformers. Its Gradio JSON endpoint is available, but the last inference attempt was blocked by ZeroGPU quota; no provider-backed recommendation is verified. The deployed Space does not expose the exact FastAPI /health and /api/recommendations routes. Competition requirements: https://geosysiot.in/geoai-hackathon/#guidelines.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74e5a57d4448a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69d771972d431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54f5b1212dd4ee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2da300eb4714f9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37dfbd615684c6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5311e22791c40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1FB4AF-0755-4D9C-80B9-465E50435BF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9B19D9F-3775-4703-B29C-CF3DA33DFD3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3792CB4-A455-4E60-899E-6A7BBEFC6CB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BCC3F9-233C-4AED-938B-61D816C39F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B78B58-1857-48B9-B1AE-8423A3AA162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8FFECA7-C8F3-4A0D-BB5C-11B5F92B5D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27E955-69C2-45AC-957E-914BC627D91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CB2178E-A5A4-4E02-BB0A-3F9D741A765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6C095E-E26F-4DC5-8244-76507182F7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FE6151-11FC-4D98-90FF-886E2EF944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7fa3f843514ec0" /><Relationship Type="http://schemas.openxmlformats.org/officeDocument/2006/relationships/slideLayout" Target="/ppt/slideLayouts/slideLayout1.xml" Id="R75059d10f9174eba" /><Relationship Type="http://schemas.openxmlformats.org/officeDocument/2006/relationships/slideLayout" Target="/ppt/slideLayouts/slideLayout2.xml" Id="R66b0efae59c14e79" /><Relationship Type="http://schemas.openxmlformats.org/officeDocument/2006/relationships/slideLayout" Target="/ppt/slideLayouts/slideLayout3.xml" Id="R5e5ba588d79040a4" /><Relationship Type="http://schemas.openxmlformats.org/officeDocument/2006/relationships/slideLayout" Target="/ppt/slideLayouts/slideLayout4.xml" Id="R018a2b480d4f4834" /><Relationship Type="http://schemas.openxmlformats.org/officeDocument/2006/relationships/slideLayout" Target="/ppt/slideLayouts/slideLayout5.xml" Id="R81e5fdf545d441bc" /><Relationship Type="http://schemas.openxmlformats.org/officeDocument/2006/relationships/slideLayout" Target="/ppt/slideLayouts/slideLayout6.xml" Id="R40cf6d1ab4d74e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059d10f9174eba"/>
    <p:sldLayoutId xmlns:r="http://schemas.openxmlformats.org/officeDocument/2006/relationships" id="2147483650" r:id="R66b0efae59c14e79"/>
    <p:sldLayoutId xmlns:r="http://schemas.openxmlformats.org/officeDocument/2006/relationships" id="2147483651" r:id="R5e5ba588d79040a4"/>
    <p:sldLayoutId xmlns:r="http://schemas.openxmlformats.org/officeDocument/2006/relationships" id="2147483652" r:id="R018a2b480d4f4834"/>
    <p:sldLayoutId xmlns:r="http://schemas.openxmlformats.org/officeDocument/2006/relationships" id="2147483653" r:id="R81e5fdf545d441bc"/>
    <p:sldLayoutId xmlns:r="http://schemas.openxmlformats.org/officeDocument/2006/relationships" id="2147483654" r:id="R40cf6d1ab4d74e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6396610565e4e4f" /><Relationship Type="http://schemas.openxmlformats.org/officeDocument/2006/relationships/notesSlide" Target="/ppt/notesSlides/notesSlide1.xml" Id="R85646a5585994b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8b99ccc06d94e1e" /><Relationship Type="http://schemas.openxmlformats.org/officeDocument/2006/relationships/notesSlide" Target="/ppt/notesSlides/notesSlide2.xml" Id="Reedbcd6f15244f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e3d9dcd3d64372" /><Relationship Type="http://schemas.openxmlformats.org/officeDocument/2006/relationships/notesSlide" Target="/ppt/notesSlides/notesSlide3.xml" Id="R4e56b03898834e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01d481256a84667" /><Relationship Type="http://schemas.openxmlformats.org/officeDocument/2006/relationships/notesSlide" Target="/ppt/notesSlides/notesSlide4.xml" Id="Rae4c47fc7f4846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57f8e60b1a648e0" /><Relationship Type="http://schemas.openxmlformats.org/officeDocument/2006/relationships/notesSlide" Target="/ppt/notesSlides/notesSlide5.xml" Id="R8815ed9ce25a4b83" /></Relationships>
</file>

<file path=ppt/slides/slide1.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57349C-E0F6-4C72-B121-E439270A711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31B90BF-06F3-4537-94E2-4E2B136C4550}"/>
              </a:ext>
            </a:extLst>
          </p:cNvPr>
          <p:cNvSpPr>
            <a:spLocks xmlns:a="http://schemas.openxmlformats.org/drawingml/2006/main" noGrp="1"/>
          </p:cNvSpPr>
          <p:nvPr/>
        </p:nvSpPr>
        <p:spPr>
          <a:xfrm xmlns:a="http://schemas.openxmlformats.org/drawingml/2006/main">
            <a:off x="742950" y="742950"/>
            <a:ext cx="609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GOWISE  /  GEOAI HACKATHON 2026</a:t>
            </a:r>
          </a:p>
        </p:txBody>
      </p:sp>
      <p:sp>
        <p:nvSpPr>
          <p:cNvPr id="3" name="">
            <a:extLst xmlns:a="http://schemas.openxmlformats.org/drawingml/2006/main">
              <a:ext uri="{FF2B5EF4-FFF2-40B4-BE49-F238E27FC236}">
                <a16:creationId xmlns:a16="http://schemas.microsoft.com/office/drawing/2014/main" id="{04F458A5-1DCD-44E1-89AE-8842DA13FD9F}"/>
              </a:ext>
            </a:extLst>
          </p:cNvPr>
          <p:cNvSpPr>
            <a:spLocks xmlns:a="http://schemas.openxmlformats.org/drawingml/2006/main" noGrp="1"/>
          </p:cNvSpPr>
          <p:nvPr/>
        </p:nvSpPr>
        <p:spPr>
          <a:xfrm xmlns:a="http://schemas.openxmlformats.org/drawingml/2006/main">
            <a:off x="742950" y="1562100"/>
            <a:ext cx="800100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20392D"/>
                </a:solidFill>
              </a:defRPr>
            </a:defPPr>
            <a:lvl1pPr>
              <a:defRPr sz="4050" b="1">
                <a:solidFill>
                  <a:srgbClr val="20392D"/>
                </a:solidFill>
              </a:defRPr>
            </a:lvl1pPr>
            <a:lvl2pPr>
              <a:defRPr sz="4050" b="1">
                <a:solidFill>
                  <a:srgbClr val="20392D"/>
                </a:solidFill>
              </a:defRPr>
            </a:lvl2pPr>
            <a:lvl3pPr>
              <a:defRPr sz="4050" b="1">
                <a:solidFill>
                  <a:srgbClr val="20392D"/>
                </a:solidFill>
              </a:defRPr>
            </a:lvl3pPr>
            <a:lvl4pPr>
              <a:defRPr sz="4050" b="1">
                <a:solidFill>
                  <a:srgbClr val="20392D"/>
                </a:solidFill>
              </a:defRPr>
            </a:lvl4pPr>
            <a:lvl5pPr>
              <a:defRPr sz="4050" b="1">
                <a:solidFill>
                  <a:srgbClr val="20392D"/>
                </a:solidFill>
              </a:defRPr>
            </a:lvl5pPr>
            <a:lvl6pPr>
              <a:defRPr sz="4050" b="1">
                <a:solidFill>
                  <a:srgbClr val="20392D"/>
                </a:solidFill>
              </a:defRPr>
            </a:lvl6pPr>
            <a:lvl7pPr>
              <a:defRPr sz="4050" b="1">
                <a:solidFill>
                  <a:srgbClr val="20392D"/>
                </a:solidFill>
              </a:defRPr>
            </a:lvl7pPr>
            <a:lvl8pPr>
              <a:defRPr sz="4050" b="1">
                <a:solidFill>
                  <a:srgbClr val="20392D"/>
                </a:solidFill>
              </a:defRPr>
            </a:lvl8pPr>
            <a:lvl9pPr>
              <a:defRPr sz="4050" b="1">
                <a:solidFill>
                  <a:srgbClr val="20392D"/>
                </a:solidFill>
              </a:defRPr>
            </a:lvl9pPr>
          </a:lstStyle>
          <a:p xmlns:a="http://schemas.openxmlformats.org/drawingml/2006/main">
            <a:pPr>
              <a:defRPr sz="4050" b="1">
                <a:solidFill>
                  <a:srgbClr val="20392D"/>
                </a:solidFill>
              </a:defRPr>
            </a:pPr>
            <a:r>
              <a:rPr sz="4050" b="1">
                <a:solidFill>
                  <a:srgbClr val="20392D"/>
                </a:solidFill>
              </a:rPr>
              <a:t>Outdoor plans,</a:t>
            </a:r>
          </a:p>
          <a:p xmlns:a="http://schemas.openxmlformats.org/drawingml/2006/main">
            <a:pPr>
              <a:defRPr sz="4050" b="1">
                <a:solidFill>
                  <a:srgbClr val="20392D"/>
                </a:solidFill>
              </a:defRPr>
            </a:pPr>
            <a:r>
              <a:rPr sz="4050" b="1">
                <a:solidFill>
                  <a:srgbClr val="20392D"/>
                </a:solidFill>
              </a:rPr>
              <a:t>with a place and a time.</a:t>
            </a:r>
          </a:p>
        </p:txBody>
      </p:sp>
      <p:sp>
        <p:nvSpPr>
          <p:cNvPr id="4" name="">
            <a:extLst xmlns:a="http://schemas.openxmlformats.org/drawingml/2006/main">
              <a:ext uri="{FF2B5EF4-FFF2-40B4-BE49-F238E27FC236}">
                <a16:creationId xmlns:a16="http://schemas.microsoft.com/office/drawing/2014/main" id="{9C38A554-717D-4495-8C0D-F8A3549771E9}"/>
              </a:ext>
            </a:extLst>
          </p:cNvPr>
          <p:cNvSpPr>
            <a:spLocks xmlns:a="http://schemas.openxmlformats.org/drawingml/2006/main" noGrp="1"/>
          </p:cNvSpPr>
          <p:nvPr/>
        </p:nvSpPr>
        <p:spPr>
          <a:xfrm xmlns:a="http://schemas.openxmlformats.org/drawingml/2006/main">
            <a:off x="781050" y="3638550"/>
            <a:ext cx="666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64756A"/>
                </a:solidFill>
              </a:defRPr>
            </a:defPPr>
            <a:lvl1pPr>
              <a:defRPr sz="1650" b="0">
                <a:solidFill>
                  <a:srgbClr val="64756A"/>
                </a:solidFill>
              </a:defRPr>
            </a:lvl1pPr>
            <a:lvl2pPr>
              <a:defRPr sz="1650" b="0">
                <a:solidFill>
                  <a:srgbClr val="64756A"/>
                </a:solidFill>
              </a:defRPr>
            </a:lvl2pPr>
            <a:lvl3pPr>
              <a:defRPr sz="1650" b="0">
                <a:solidFill>
                  <a:srgbClr val="64756A"/>
                </a:solidFill>
              </a:defRPr>
            </a:lvl3pPr>
            <a:lvl4pPr>
              <a:defRPr sz="1650" b="0">
                <a:solidFill>
                  <a:srgbClr val="64756A"/>
                </a:solidFill>
              </a:defRPr>
            </a:lvl4pPr>
            <a:lvl5pPr>
              <a:defRPr sz="1650" b="0">
                <a:solidFill>
                  <a:srgbClr val="64756A"/>
                </a:solidFill>
              </a:defRPr>
            </a:lvl5pPr>
            <a:lvl6pPr>
              <a:defRPr sz="1650" b="0">
                <a:solidFill>
                  <a:srgbClr val="64756A"/>
                </a:solidFill>
              </a:defRPr>
            </a:lvl6pPr>
            <a:lvl7pPr>
              <a:defRPr sz="1650" b="0">
                <a:solidFill>
                  <a:srgbClr val="64756A"/>
                </a:solidFill>
              </a:defRPr>
            </a:lvl7pPr>
            <a:lvl8pPr>
              <a:defRPr sz="1650" b="0">
                <a:solidFill>
                  <a:srgbClr val="64756A"/>
                </a:solidFill>
              </a:defRPr>
            </a:lvl8pPr>
            <a:lvl9pPr>
              <a:defRPr sz="1650" b="0">
                <a:solidFill>
                  <a:srgbClr val="64756A"/>
                </a:solidFill>
              </a:defRPr>
            </a:lvl9pPr>
          </a:lstStyle>
          <a:p xmlns:a="http://schemas.openxmlformats.org/drawingml/2006/main">
            <a:pPr>
              <a:defRPr sz="1650" b="0">
                <a:solidFill>
                  <a:srgbClr val="64756A"/>
                </a:solidFill>
              </a:defRPr>
            </a:pPr>
            <a:r>
              <a:rPr sz="1650" b="0">
                <a:solidFill>
                  <a:srgbClr val="64756A"/>
                </a:solidFill>
              </a:rPr>
              <a:t>A web assistant that compares mapped venues and forecast hours for ten outdoor activities.</a:t>
            </a:r>
          </a:p>
        </p:txBody>
      </p:sp>
      <p:sp>
        <p:nvSpPr>
          <p:cNvPr id="5" name="">
            <a:extLst xmlns:a="http://schemas.openxmlformats.org/drawingml/2006/main">
              <a:ext uri="{FF2B5EF4-FFF2-40B4-BE49-F238E27FC236}">
                <a16:creationId xmlns:a16="http://schemas.microsoft.com/office/drawing/2014/main" id="{EBCE643A-7590-404B-BA7B-E6C1C138E2A4}"/>
              </a:ext>
            </a:extLst>
          </p:cNvPr>
          <p:cNvSpPr>
            <a:spLocks xmlns:a="http://schemas.openxmlformats.org/drawingml/2006/main" noGrp="1"/>
          </p:cNvSpPr>
          <p:nvPr/>
        </p:nvSpPr>
        <p:spPr>
          <a:xfrm xmlns:a="http://schemas.openxmlformats.org/drawingml/2006/main">
            <a:off x="781050" y="4781550"/>
            <a:ext cx="5695950" cy="0"/>
          </a:xfrm>
          <a:prstGeom xmlns:a="http://schemas.openxmlformats.org/drawingml/2006/main" prst="line">
            <a:avLst/>
          </a:prstGeom>
          <a:noFill xmlns:a="http://schemas.openxmlformats.org/drawingml/2006/main"/>
          <a:ln xmlns:a="http://schemas.openxmlformats.org/drawingml/2006/main" w="19050">
            <a:solidFill>
              <a:srgbClr val="B8C8BA"/>
            </a:solidFill>
            <a:prstDash val="solid"/>
          </a:ln>
        </p:spPr>
      </p:sp>
      <p:sp>
        <p:nvSpPr>
          <p:cNvPr id="6" name="">
            <a:extLst xmlns:a="http://schemas.openxmlformats.org/drawingml/2006/main">
              <a:ext uri="{FF2B5EF4-FFF2-40B4-BE49-F238E27FC236}">
                <a16:creationId xmlns:a16="http://schemas.microsoft.com/office/drawing/2014/main" id="{0EC78581-EAD7-4093-88BB-024183C8F634}"/>
              </a:ext>
            </a:extLst>
          </p:cNvPr>
          <p:cNvSpPr>
            <a:spLocks xmlns:a="http://schemas.openxmlformats.org/drawingml/2006/main" noGrp="1"/>
          </p:cNvSpPr>
          <p:nvPr/>
        </p:nvSpPr>
        <p:spPr>
          <a:xfrm xmlns:a="http://schemas.openxmlformats.org/drawingml/2006/main">
            <a:off x="781050" y="50101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2E6B4A"/>
                </a:solidFill>
              </a:defRPr>
            </a:defPPr>
            <a:lvl1pPr>
              <a:defRPr sz="975" b="1">
                <a:solidFill>
                  <a:srgbClr val="2E6B4A"/>
                </a:solidFill>
              </a:defRPr>
            </a:lvl1pPr>
            <a:lvl2pPr>
              <a:defRPr sz="975" b="1">
                <a:solidFill>
                  <a:srgbClr val="2E6B4A"/>
                </a:solidFill>
              </a:defRPr>
            </a:lvl2pPr>
            <a:lvl3pPr>
              <a:defRPr sz="975" b="1">
                <a:solidFill>
                  <a:srgbClr val="2E6B4A"/>
                </a:solidFill>
              </a:defRPr>
            </a:lvl3pPr>
            <a:lvl4pPr>
              <a:defRPr sz="975" b="1">
                <a:solidFill>
                  <a:srgbClr val="2E6B4A"/>
                </a:solidFill>
              </a:defRPr>
            </a:lvl4pPr>
            <a:lvl5pPr>
              <a:defRPr sz="975" b="1">
                <a:solidFill>
                  <a:srgbClr val="2E6B4A"/>
                </a:solidFill>
              </a:defRPr>
            </a:lvl5pPr>
            <a:lvl6pPr>
              <a:defRPr sz="975" b="1">
                <a:solidFill>
                  <a:srgbClr val="2E6B4A"/>
                </a:solidFill>
              </a:defRPr>
            </a:lvl6pPr>
            <a:lvl7pPr>
              <a:defRPr sz="975" b="1">
                <a:solidFill>
                  <a:srgbClr val="2E6B4A"/>
                </a:solidFill>
              </a:defRPr>
            </a:lvl7pPr>
            <a:lvl8pPr>
              <a:defRPr sz="975" b="1">
                <a:solidFill>
                  <a:srgbClr val="2E6B4A"/>
                </a:solidFill>
              </a:defRPr>
            </a:lvl8pPr>
            <a:lvl9pPr>
              <a:defRPr sz="975" b="1">
                <a:solidFill>
                  <a:srgbClr val="2E6B4A"/>
                </a:solidFill>
              </a:defRPr>
            </a:lvl9pPr>
          </a:lstStyle>
          <a:p xmlns:a="http://schemas.openxmlformats.org/drawingml/2006/main">
            <a:pPr>
              <a:defRPr sz="975" b="1">
                <a:solidFill>
                  <a:srgbClr val="2E6B4A"/>
                </a:solidFill>
              </a:defRPr>
            </a:pPr>
            <a:r>
              <a:rPr sz="975" b="1">
                <a:solidFill>
                  <a:srgbClr val="2E6B4A"/>
                </a:solidFill>
              </a:rPr>
              <a:t>LIVE SOURCES  ·  LOCAL OPEN MODEL  ·  EXPLAINABLE HEURISTICS</a:t>
            </a:r>
          </a:p>
        </p:txBody>
      </p:sp>
      <p:sp>
        <p:nvSpPr>
          <p:cNvPr id="7" name="">
            <a:extLst xmlns:a="http://schemas.openxmlformats.org/drawingml/2006/main">
              <a:ext uri="{FF2B5EF4-FFF2-40B4-BE49-F238E27FC236}">
                <a16:creationId xmlns:a16="http://schemas.microsoft.com/office/drawing/2014/main" id="{67C7CBF5-DF3B-4D22-9DB7-09A42AAA6EC4}"/>
              </a:ext>
            </a:extLst>
          </p:cNvPr>
          <p:cNvSpPr>
            <a:spLocks xmlns:a="http://schemas.openxmlformats.org/drawingml/2006/main" noGrp="1"/>
          </p:cNvSpPr>
          <p:nvPr/>
        </p:nvSpPr>
        <p:spPr>
          <a:xfrm xmlns:a="http://schemas.openxmlformats.org/drawingml/2006/main">
            <a:off x="781050" y="5638800"/>
            <a:ext cx="9239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0">
                <a:solidFill>
                  <a:srgbClr val="64756A"/>
                </a:solidFill>
              </a:defRPr>
            </a:defPPr>
            <a:lvl1pPr>
              <a:defRPr sz="1050" b="0">
                <a:solidFill>
                  <a:srgbClr val="64756A"/>
                </a:solidFill>
              </a:defRPr>
            </a:lvl1pPr>
            <a:lvl2pPr>
              <a:defRPr sz="1050" b="0">
                <a:solidFill>
                  <a:srgbClr val="64756A"/>
                </a:solidFill>
              </a:defRPr>
            </a:lvl2pPr>
            <a:lvl3pPr>
              <a:defRPr sz="1050" b="0">
                <a:solidFill>
                  <a:srgbClr val="64756A"/>
                </a:solidFill>
              </a:defRPr>
            </a:lvl3pPr>
            <a:lvl4pPr>
              <a:defRPr sz="1050" b="0">
                <a:solidFill>
                  <a:srgbClr val="64756A"/>
                </a:solidFill>
              </a:defRPr>
            </a:lvl4pPr>
            <a:lvl5pPr>
              <a:defRPr sz="1050" b="0">
                <a:solidFill>
                  <a:srgbClr val="64756A"/>
                </a:solidFill>
              </a:defRPr>
            </a:lvl5pPr>
            <a:lvl6pPr>
              <a:defRPr sz="1050" b="0">
                <a:solidFill>
                  <a:srgbClr val="64756A"/>
                </a:solidFill>
              </a:defRPr>
            </a:lvl6pPr>
            <a:lvl7pPr>
              <a:defRPr sz="1050" b="0">
                <a:solidFill>
                  <a:srgbClr val="64756A"/>
                </a:solidFill>
              </a:defRPr>
            </a:lvl7pPr>
            <a:lvl8pPr>
              <a:defRPr sz="1050" b="0">
                <a:solidFill>
                  <a:srgbClr val="64756A"/>
                </a:solidFill>
              </a:defRPr>
            </a:lvl8pPr>
            <a:lvl9pPr>
              <a:defRPr sz="1050" b="0">
                <a:solidFill>
                  <a:srgbClr val="64756A"/>
                </a:solidFill>
              </a:defRPr>
            </a:lvl9pPr>
          </a:lstStyle>
          <a:p xmlns:a="http://schemas.openxmlformats.org/drawingml/2006/main">
            <a:pPr>
              <a:defRPr sz="1050" b="0">
                <a:solidFill>
                  <a:srgbClr val="64756A"/>
                </a:solidFill>
              </a:defRPr>
            </a:pPr>
            <a:r>
              <a:rPr sz="1050" b="0">
                <a:solidFill>
                  <a:srgbClr val="64756A"/>
                </a:solidFill>
              </a:rPr>
              <a:t>Prototype status: React production build passes and the Hugging Face Space is deployed. A live recommendation and full backend checks remain unverified.</a:t>
            </a:r>
          </a:p>
        </p:txBody>
      </p:sp>
      <p:sp>
        <p:nvSpPr>
          <p:cNvPr id="8" name="">
            <a:extLst xmlns:a="http://schemas.openxmlformats.org/drawingml/2006/main">
              <a:ext uri="{FF2B5EF4-FFF2-40B4-BE49-F238E27FC236}">
                <a16:creationId xmlns:a16="http://schemas.microsoft.com/office/drawing/2014/main" id="{A58C5B4B-3BEF-4EBF-B84A-8126673E26E7}"/>
              </a:ext>
            </a:extLst>
          </p:cNvPr>
          <p:cNvSpPr>
            <a:spLocks xmlns:a="http://schemas.openxmlformats.org/drawingml/2006/main" noGrp="1"/>
          </p:cNvSpPr>
          <p:nvPr/>
        </p:nvSpPr>
        <p:spPr>
          <a:xfrm xmlns:a="http://schemas.openxmlformats.org/drawingml/2006/main">
            <a:off x="9525000" y="6381750"/>
            <a:ext cx="1981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64756A"/>
                </a:solidFill>
              </a:defRPr>
            </a:defPPr>
            <a:lvl1pPr>
              <a:defRPr sz="825" b="1">
                <a:solidFill>
                  <a:srgbClr val="64756A"/>
                </a:solidFill>
              </a:defRPr>
            </a:lvl1pPr>
            <a:lvl2pPr>
              <a:defRPr sz="825" b="1">
                <a:solidFill>
                  <a:srgbClr val="64756A"/>
                </a:solidFill>
              </a:defRPr>
            </a:lvl2pPr>
            <a:lvl3pPr>
              <a:defRPr sz="825" b="1">
                <a:solidFill>
                  <a:srgbClr val="64756A"/>
                </a:solidFill>
              </a:defRPr>
            </a:lvl3pPr>
            <a:lvl4pPr>
              <a:defRPr sz="825" b="1">
                <a:solidFill>
                  <a:srgbClr val="64756A"/>
                </a:solidFill>
              </a:defRPr>
            </a:lvl4pPr>
            <a:lvl5pPr>
              <a:defRPr sz="825" b="1">
                <a:solidFill>
                  <a:srgbClr val="64756A"/>
                </a:solidFill>
              </a:defRPr>
            </a:lvl5pPr>
            <a:lvl6pPr>
              <a:defRPr sz="825" b="1">
                <a:solidFill>
                  <a:srgbClr val="64756A"/>
                </a:solidFill>
              </a:defRPr>
            </a:lvl6pPr>
            <a:lvl7pPr>
              <a:defRPr sz="825" b="1">
                <a:solidFill>
                  <a:srgbClr val="64756A"/>
                </a:solidFill>
              </a:defRPr>
            </a:lvl7pPr>
            <a:lvl8pPr>
              <a:defRPr sz="825" b="1">
                <a:solidFill>
                  <a:srgbClr val="64756A"/>
                </a:solidFill>
              </a:defRPr>
            </a:lvl8pPr>
            <a:lvl9pPr>
              <a:defRPr sz="825" b="1">
                <a:solidFill>
                  <a:srgbClr val="64756A"/>
                </a:solidFill>
              </a:defRPr>
            </a:lvl9pPr>
          </a:lstStyle>
          <a:p xmlns:a="http://schemas.openxmlformats.org/drawingml/2006/main">
            <a:pPr>
              <a:defRPr sz="825" b="1">
                <a:solidFill>
                  <a:srgbClr val="64756A"/>
                </a:solidFill>
              </a:defRPr>
            </a:pPr>
            <a:r>
              <a:rPr sz="825" b="1">
                <a:solidFill>
                  <a:srgbClr val="64756A"/>
                </a:solidFill>
              </a:rPr>
              <a:t>24 OCTOBER 2026</a:t>
            </a:r>
          </a:p>
        </p:txBody>
      </p:sp>
    </p:spTree>
    <p:extLst>
      <p:ext uri="{BB962C8B-B14F-4D97-AF65-F5344CB8AC3E}">
        <p14:creationId xmlns:p14="http://schemas.microsoft.com/office/powerpoint/2010/main" val="2009406912"/>
      </p:ext>
    </p:extLst>
  </p:cSld>
</p:sld>
</file>

<file path=ppt/slides/slide2.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B8965C-0680-4E8D-AAAD-C79BD0CFD294}"/>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02</a:t>
            </a:r>
          </a:p>
        </p:txBody>
      </p:sp>
      <p:sp>
        <p:nvSpPr>
          <p:cNvPr id="2" name="">
            <a:extLst xmlns:a="http://schemas.openxmlformats.org/drawingml/2006/main">
              <a:ext uri="{FF2B5EF4-FFF2-40B4-BE49-F238E27FC236}">
                <a16:creationId xmlns:a16="http://schemas.microsoft.com/office/drawing/2014/main" id="{980E0538-0A6A-4255-96FF-AA580982EE44}"/>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A request becomes a plan</a:t>
            </a:r>
          </a:p>
        </p:txBody>
      </p:sp>
      <p:sp>
        <p:nvSpPr>
          <p:cNvPr id="3" name="">
            <a:extLst xmlns:a="http://schemas.openxmlformats.org/drawingml/2006/main">
              <a:ext uri="{FF2B5EF4-FFF2-40B4-BE49-F238E27FC236}">
                <a16:creationId xmlns:a16="http://schemas.microsoft.com/office/drawing/2014/main" id="{3B221C98-C04E-4D6B-8774-4BD8D450BDCD}"/>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The assistant asks for missing activity, place, or time instead of guessing.</a:t>
            </a:r>
          </a:p>
        </p:txBody>
      </p:sp>
      <p:sp>
        <p:nvSpPr>
          <p:cNvPr id="4" name="">
            <a:extLst xmlns:a="http://schemas.openxmlformats.org/drawingml/2006/main">
              <a:ext uri="{FF2B5EF4-FFF2-40B4-BE49-F238E27FC236}">
                <a16:creationId xmlns:a16="http://schemas.microsoft.com/office/drawing/2014/main" id="{C99A31B0-935A-4C60-A484-A4A94868CBEE}"/>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2F4A15BA-7704-415B-BD47-146FBBB35214}"/>
              </a:ext>
            </a:extLst>
          </p:cNvPr>
          <p:cNvSpPr>
            <a:spLocks xmlns:a="http://schemas.openxmlformats.org/drawingml/2006/main" noGrp="1"/>
          </p:cNvSpPr>
          <p:nvPr/>
        </p:nvSpPr>
        <p:spPr>
          <a:xfrm xmlns:a="http://schemas.openxmlformats.org/drawingml/2006/main">
            <a:off x="685800" y="2238375"/>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USER INPUT</a:t>
            </a:r>
          </a:p>
        </p:txBody>
      </p:sp>
      <p:sp>
        <p:nvSpPr>
          <p:cNvPr id="6" name="">
            <a:extLst xmlns:a="http://schemas.openxmlformats.org/drawingml/2006/main">
              <a:ext uri="{FF2B5EF4-FFF2-40B4-BE49-F238E27FC236}">
                <a16:creationId xmlns:a16="http://schemas.microsoft.com/office/drawing/2014/main" id="{4B111A94-C653-48AE-9D61-AEB32EB14317}"/>
              </a:ext>
            </a:extLst>
          </p:cNvPr>
          <p:cNvSpPr>
            <a:spLocks xmlns:a="http://schemas.openxmlformats.org/drawingml/2006/main" noGrp="1"/>
          </p:cNvSpPr>
          <p:nvPr/>
        </p:nvSpPr>
        <p:spPr>
          <a:xfrm xmlns:a="http://schemas.openxmlformats.org/drawingml/2006/main">
            <a:off x="685800" y="2628900"/>
            <a:ext cx="4381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950" b="1">
                <a:solidFill>
                  <a:srgbClr val="20392D"/>
                </a:solidFill>
              </a:defRPr>
            </a:defPPr>
            <a:lvl1pPr>
              <a:defRPr sz="1950" b="1">
                <a:solidFill>
                  <a:srgbClr val="20392D"/>
                </a:solidFill>
              </a:defRPr>
            </a:lvl1pPr>
            <a:lvl2pPr>
              <a:defRPr sz="1950" b="1">
                <a:solidFill>
                  <a:srgbClr val="20392D"/>
                </a:solidFill>
              </a:defRPr>
            </a:lvl2pPr>
            <a:lvl3pPr>
              <a:defRPr sz="1950" b="1">
                <a:solidFill>
                  <a:srgbClr val="20392D"/>
                </a:solidFill>
              </a:defRPr>
            </a:lvl3pPr>
            <a:lvl4pPr>
              <a:defRPr sz="1950" b="1">
                <a:solidFill>
                  <a:srgbClr val="20392D"/>
                </a:solidFill>
              </a:defRPr>
            </a:lvl4pPr>
            <a:lvl5pPr>
              <a:defRPr sz="1950" b="1">
                <a:solidFill>
                  <a:srgbClr val="20392D"/>
                </a:solidFill>
              </a:defRPr>
            </a:lvl5pPr>
            <a:lvl6pPr>
              <a:defRPr sz="1950" b="1">
                <a:solidFill>
                  <a:srgbClr val="20392D"/>
                </a:solidFill>
              </a:defRPr>
            </a:lvl6pPr>
            <a:lvl7pPr>
              <a:defRPr sz="1950" b="1">
                <a:solidFill>
                  <a:srgbClr val="20392D"/>
                </a:solidFill>
              </a:defRPr>
            </a:lvl7pPr>
            <a:lvl8pPr>
              <a:defRPr sz="1950" b="1">
                <a:solidFill>
                  <a:srgbClr val="20392D"/>
                </a:solidFill>
              </a:defRPr>
            </a:lvl8pPr>
            <a:lvl9pPr>
              <a:defRPr sz="1950" b="1">
                <a:solidFill>
                  <a:srgbClr val="20392D"/>
                </a:solidFill>
              </a:defRPr>
            </a:lvl9pPr>
          </a:lstStyle>
          <a:p xmlns:a="http://schemas.openxmlformats.org/drawingml/2006/main">
            <a:pPr>
              <a:defRPr sz="1950" b="1">
                <a:solidFill>
                  <a:srgbClr val="20392D"/>
                </a:solidFill>
              </a:defRPr>
            </a:pPr>
            <a:r>
              <a:rPr sz="1950" b="1">
                <a:solidFill>
                  <a:srgbClr val="20392D"/>
                </a:solidFill>
              </a:rPr>
              <a:t>“Find cycling on Monday evening near Powai.”</a:t>
            </a:r>
          </a:p>
        </p:txBody>
      </p:sp>
      <p:sp>
        <p:nvSpPr>
          <p:cNvPr id="7" name="">
            <a:extLst xmlns:a="http://schemas.openxmlformats.org/drawingml/2006/main">
              <a:ext uri="{FF2B5EF4-FFF2-40B4-BE49-F238E27FC236}">
                <a16:creationId xmlns:a16="http://schemas.microsoft.com/office/drawing/2014/main" id="{AF1FA7AF-1771-4175-AE95-5BE4145DF127}"/>
              </a:ext>
            </a:extLst>
          </p:cNvPr>
          <p:cNvSpPr>
            <a:spLocks xmlns:a="http://schemas.openxmlformats.org/drawingml/2006/main" noGrp="1"/>
          </p:cNvSpPr>
          <p:nvPr/>
        </p:nvSpPr>
        <p:spPr>
          <a:xfrm xmlns:a="http://schemas.openxmlformats.org/drawingml/2006/main">
            <a:off x="5095875" y="3067050"/>
            <a:ext cx="714375"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8" name="">
            <a:extLst xmlns:a="http://schemas.openxmlformats.org/drawingml/2006/main">
              <a:ext uri="{FF2B5EF4-FFF2-40B4-BE49-F238E27FC236}">
                <a16:creationId xmlns:a16="http://schemas.microsoft.com/office/drawing/2014/main" id="{4B34B3D2-65A4-4B5E-947E-95C81B104C17}"/>
              </a:ext>
            </a:extLst>
          </p:cNvPr>
          <p:cNvSpPr>
            <a:spLocks xmlns:a="http://schemas.openxmlformats.org/drawingml/2006/main" noGrp="1"/>
          </p:cNvSpPr>
          <p:nvPr/>
        </p:nvSpPr>
        <p:spPr>
          <a:xfrm xmlns:a="http://schemas.openxmlformats.org/drawingml/2006/main">
            <a:off x="6038850" y="2238375"/>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LOCAL QUERY PARSE</a:t>
            </a:r>
          </a:p>
        </p:txBody>
      </p:sp>
      <p:sp>
        <p:nvSpPr>
          <p:cNvPr id="9" name="">
            <a:extLst xmlns:a="http://schemas.openxmlformats.org/drawingml/2006/main">
              <a:ext uri="{FF2B5EF4-FFF2-40B4-BE49-F238E27FC236}">
                <a16:creationId xmlns:a16="http://schemas.microsoft.com/office/drawing/2014/main" id="{2BE69359-4DE4-420C-A8C5-F032AC7CC7BE}"/>
              </a:ext>
            </a:extLst>
          </p:cNvPr>
          <p:cNvSpPr>
            <a:spLocks xmlns:a="http://schemas.openxmlformats.org/drawingml/2006/main" noGrp="1"/>
          </p:cNvSpPr>
          <p:nvPr/>
        </p:nvSpPr>
        <p:spPr>
          <a:xfrm xmlns:a="http://schemas.openxmlformats.org/drawingml/2006/main">
            <a:off x="6038850" y="2628900"/>
            <a:ext cx="4762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20392D"/>
                </a:solidFill>
              </a:defRPr>
            </a:defPPr>
            <a:lvl1pPr>
              <a:defRPr sz="1575" b="1">
                <a:solidFill>
                  <a:srgbClr val="20392D"/>
                </a:solidFill>
              </a:defRPr>
            </a:lvl1pPr>
            <a:lvl2pPr>
              <a:defRPr sz="1575" b="1">
                <a:solidFill>
                  <a:srgbClr val="20392D"/>
                </a:solidFill>
              </a:defRPr>
            </a:lvl2pPr>
            <a:lvl3pPr>
              <a:defRPr sz="1575" b="1">
                <a:solidFill>
                  <a:srgbClr val="20392D"/>
                </a:solidFill>
              </a:defRPr>
            </a:lvl3pPr>
            <a:lvl4pPr>
              <a:defRPr sz="1575" b="1">
                <a:solidFill>
                  <a:srgbClr val="20392D"/>
                </a:solidFill>
              </a:defRPr>
            </a:lvl4pPr>
            <a:lvl5pPr>
              <a:defRPr sz="1575" b="1">
                <a:solidFill>
                  <a:srgbClr val="20392D"/>
                </a:solidFill>
              </a:defRPr>
            </a:lvl5pPr>
            <a:lvl6pPr>
              <a:defRPr sz="1575" b="1">
                <a:solidFill>
                  <a:srgbClr val="20392D"/>
                </a:solidFill>
              </a:defRPr>
            </a:lvl6pPr>
            <a:lvl7pPr>
              <a:defRPr sz="1575" b="1">
                <a:solidFill>
                  <a:srgbClr val="20392D"/>
                </a:solidFill>
              </a:defRPr>
            </a:lvl7pPr>
            <a:lvl8pPr>
              <a:defRPr sz="1575" b="1">
                <a:solidFill>
                  <a:srgbClr val="20392D"/>
                </a:solidFill>
              </a:defRPr>
            </a:lvl8pPr>
            <a:lvl9pPr>
              <a:defRPr sz="1575" b="1">
                <a:solidFill>
                  <a:srgbClr val="20392D"/>
                </a:solidFill>
              </a:defRPr>
            </a:lvl9pPr>
          </a:lstStyle>
          <a:p xmlns:a="http://schemas.openxmlformats.org/drawingml/2006/main">
            <a:pPr>
              <a:defRPr sz="1575" b="1">
                <a:solidFill>
                  <a:srgbClr val="20392D"/>
                </a:solidFill>
              </a:defRPr>
            </a:pPr>
            <a:r>
              <a:rPr sz="1575" b="1">
                <a:solidFill>
                  <a:srgbClr val="20392D"/>
                </a:solidFill>
              </a:rPr>
              <a:t>Cycling · Powai · Mon 26 Oct, 17:00–20:00 IST</a:t>
            </a:r>
          </a:p>
        </p:txBody>
      </p:sp>
      <p:sp>
        <p:nvSpPr>
          <p:cNvPr id="10" name="">
            <a:extLst xmlns:a="http://schemas.openxmlformats.org/drawingml/2006/main">
              <a:ext uri="{FF2B5EF4-FFF2-40B4-BE49-F238E27FC236}">
                <a16:creationId xmlns:a16="http://schemas.microsoft.com/office/drawing/2014/main" id="{16CE2BE6-290C-4AFC-9B1E-07AF158629E5}"/>
              </a:ext>
            </a:extLst>
          </p:cNvPr>
          <p:cNvSpPr>
            <a:spLocks xmlns:a="http://schemas.openxmlformats.org/drawingml/2006/main" noGrp="1"/>
          </p:cNvSpPr>
          <p:nvPr/>
        </p:nvSpPr>
        <p:spPr>
          <a:xfrm xmlns:a="http://schemas.openxmlformats.org/drawingml/2006/main">
            <a:off x="685800" y="388620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11" name="">
            <a:extLst xmlns:a="http://schemas.openxmlformats.org/drawingml/2006/main">
              <a:ext uri="{FF2B5EF4-FFF2-40B4-BE49-F238E27FC236}">
                <a16:creationId xmlns:a16="http://schemas.microsoft.com/office/drawing/2014/main" id="{05206C04-8A97-4765-807F-8550CFB71B82}"/>
              </a:ext>
            </a:extLst>
          </p:cNvPr>
          <p:cNvSpPr>
            <a:spLocks xmlns:a="http://schemas.openxmlformats.org/drawingml/2006/main" noGrp="1"/>
          </p:cNvSpPr>
          <p:nvPr/>
        </p:nvSpPr>
        <p:spPr>
          <a:xfrm xmlns:a="http://schemas.openxmlformats.org/drawingml/2006/main">
            <a:off x="685800" y="42481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TEN CONFIGURED ACTIVITIES</a:t>
            </a:r>
          </a:p>
        </p:txBody>
      </p:sp>
      <p:sp>
        <p:nvSpPr>
          <p:cNvPr id="12" name="">
            <a:extLst xmlns:a="http://schemas.openxmlformats.org/drawingml/2006/main">
              <a:ext uri="{FF2B5EF4-FFF2-40B4-BE49-F238E27FC236}">
                <a16:creationId xmlns:a16="http://schemas.microsoft.com/office/drawing/2014/main" id="{500274DB-294A-4272-A3E3-765CE2546346}"/>
              </a:ext>
            </a:extLst>
          </p:cNvPr>
          <p:cNvSpPr>
            <a:spLocks xmlns:a="http://schemas.openxmlformats.org/drawingml/2006/main" noGrp="1"/>
          </p:cNvSpPr>
          <p:nvPr/>
        </p:nvSpPr>
        <p:spPr>
          <a:xfrm xmlns:a="http://schemas.openxmlformats.org/drawingml/2006/main">
            <a:off x="685800" y="4629150"/>
            <a:ext cx="1009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20392D"/>
                </a:solidFill>
              </a:defRPr>
            </a:defPPr>
            <a:lvl1pPr>
              <a:defRPr sz="1350" b="0">
                <a:solidFill>
                  <a:srgbClr val="20392D"/>
                </a:solidFill>
              </a:defRPr>
            </a:lvl1pPr>
            <a:lvl2pPr>
              <a:defRPr sz="1350" b="0">
                <a:solidFill>
                  <a:srgbClr val="20392D"/>
                </a:solidFill>
              </a:defRPr>
            </a:lvl2pPr>
            <a:lvl3pPr>
              <a:defRPr sz="1350" b="0">
                <a:solidFill>
                  <a:srgbClr val="20392D"/>
                </a:solidFill>
              </a:defRPr>
            </a:lvl3pPr>
            <a:lvl4pPr>
              <a:defRPr sz="1350" b="0">
                <a:solidFill>
                  <a:srgbClr val="20392D"/>
                </a:solidFill>
              </a:defRPr>
            </a:lvl4pPr>
            <a:lvl5pPr>
              <a:defRPr sz="1350" b="0">
                <a:solidFill>
                  <a:srgbClr val="20392D"/>
                </a:solidFill>
              </a:defRPr>
            </a:lvl5pPr>
            <a:lvl6pPr>
              <a:defRPr sz="1350" b="0">
                <a:solidFill>
                  <a:srgbClr val="20392D"/>
                </a:solidFill>
              </a:defRPr>
            </a:lvl6pPr>
            <a:lvl7pPr>
              <a:defRPr sz="1350" b="0">
                <a:solidFill>
                  <a:srgbClr val="20392D"/>
                </a:solidFill>
              </a:defRPr>
            </a:lvl7pPr>
            <a:lvl8pPr>
              <a:defRPr sz="1350" b="0">
                <a:solidFill>
                  <a:srgbClr val="20392D"/>
                </a:solidFill>
              </a:defRPr>
            </a:lvl8pPr>
            <a:lvl9pPr>
              <a:defRPr sz="1350" b="0">
                <a:solidFill>
                  <a:srgbClr val="20392D"/>
                </a:solidFill>
              </a:defRPr>
            </a:lvl9pPr>
          </a:lstStyle>
          <a:p xmlns:a="http://schemas.openxmlformats.org/drawingml/2006/main">
            <a:pPr>
              <a:defRPr sz="1350" b="0">
                <a:solidFill>
                  <a:srgbClr val="20392D"/>
                </a:solidFill>
              </a:defRPr>
            </a:pPr>
            <a:r>
              <a:rPr sz="1350" b="0">
                <a:solidFill>
                  <a:srgbClr val="20392D"/>
                </a:solidFill>
              </a:rPr>
              <a:t>Running / jogging     Cycling     Golf     Cricket     Outdoor football     Outdoor tennis</a:t>
            </a:r>
          </a:p>
        </p:txBody>
      </p:sp>
      <p:sp>
        <p:nvSpPr>
          <p:cNvPr id="13" name="">
            <a:extLst xmlns:a="http://schemas.openxmlformats.org/drawingml/2006/main">
              <a:ext uri="{FF2B5EF4-FFF2-40B4-BE49-F238E27FC236}">
                <a16:creationId xmlns:a16="http://schemas.microsoft.com/office/drawing/2014/main" id="{6B7DDF78-00B0-4AE8-895E-81814C6A5A89}"/>
              </a:ext>
            </a:extLst>
          </p:cNvPr>
          <p:cNvSpPr>
            <a:spLocks xmlns:a="http://schemas.openxmlformats.org/drawingml/2006/main" noGrp="1"/>
          </p:cNvSpPr>
          <p:nvPr/>
        </p:nvSpPr>
        <p:spPr>
          <a:xfrm xmlns:a="http://schemas.openxmlformats.org/drawingml/2006/main">
            <a:off x="685800" y="5067300"/>
            <a:ext cx="1009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20392D"/>
                </a:solidFill>
              </a:defRPr>
            </a:defPPr>
            <a:lvl1pPr>
              <a:defRPr sz="1350" b="0">
                <a:solidFill>
                  <a:srgbClr val="20392D"/>
                </a:solidFill>
              </a:defRPr>
            </a:lvl1pPr>
            <a:lvl2pPr>
              <a:defRPr sz="1350" b="0">
                <a:solidFill>
                  <a:srgbClr val="20392D"/>
                </a:solidFill>
              </a:defRPr>
            </a:lvl2pPr>
            <a:lvl3pPr>
              <a:defRPr sz="1350" b="0">
                <a:solidFill>
                  <a:srgbClr val="20392D"/>
                </a:solidFill>
              </a:defRPr>
            </a:lvl3pPr>
            <a:lvl4pPr>
              <a:defRPr sz="1350" b="0">
                <a:solidFill>
                  <a:srgbClr val="20392D"/>
                </a:solidFill>
              </a:defRPr>
            </a:lvl4pPr>
            <a:lvl5pPr>
              <a:defRPr sz="1350" b="0">
                <a:solidFill>
                  <a:srgbClr val="20392D"/>
                </a:solidFill>
              </a:defRPr>
            </a:lvl5pPr>
            <a:lvl6pPr>
              <a:defRPr sz="1350" b="0">
                <a:solidFill>
                  <a:srgbClr val="20392D"/>
                </a:solidFill>
              </a:defRPr>
            </a:lvl6pPr>
            <a:lvl7pPr>
              <a:defRPr sz="1350" b="0">
                <a:solidFill>
                  <a:srgbClr val="20392D"/>
                </a:solidFill>
              </a:defRPr>
            </a:lvl7pPr>
            <a:lvl8pPr>
              <a:defRPr sz="1350" b="0">
                <a:solidFill>
                  <a:srgbClr val="20392D"/>
                </a:solidFill>
              </a:defRPr>
            </a:lvl8pPr>
            <a:lvl9pPr>
              <a:defRPr sz="1350" b="0">
                <a:solidFill>
                  <a:srgbClr val="20392D"/>
                </a:solidFill>
              </a:defRPr>
            </a:lvl9pPr>
          </a:lstStyle>
          <a:p xmlns:a="http://schemas.openxmlformats.org/drawingml/2006/main">
            <a:pPr>
              <a:defRPr sz="1350" b="0">
                <a:solidFill>
                  <a:srgbClr val="20392D"/>
                </a:solidFill>
              </a:defRPr>
            </a:pPr>
            <a:r>
              <a:rPr sz="1350" b="0">
                <a:solidFill>
                  <a:srgbClr val="20392D"/>
                </a:solidFill>
              </a:rPr>
              <a:t>Hiking / nature walk     Picnic / park outing     Outdoor event     Outdoor photography</a:t>
            </a:r>
          </a:p>
        </p:txBody>
      </p:sp>
      <p:sp>
        <p:nvSpPr>
          <p:cNvPr id="14" name="">
            <a:extLst xmlns:a="http://schemas.openxmlformats.org/drawingml/2006/main">
              <a:ext uri="{FF2B5EF4-FFF2-40B4-BE49-F238E27FC236}">
                <a16:creationId xmlns:a16="http://schemas.microsoft.com/office/drawing/2014/main" id="{B3CD37A8-0EEF-4372-A7C8-425BCE7CF33E}"/>
              </a:ext>
            </a:extLst>
          </p:cNvPr>
          <p:cNvSpPr>
            <a:spLocks xmlns:a="http://schemas.openxmlformats.org/drawingml/2006/main" noGrp="1"/>
          </p:cNvSpPr>
          <p:nvPr/>
        </p:nvSpPr>
        <p:spPr>
          <a:xfrm xmlns:a="http://schemas.openxmlformats.org/drawingml/2006/main">
            <a:off x="685800" y="573405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0">
                <a:solidFill>
                  <a:srgbClr val="64756A"/>
                </a:solidFill>
              </a:defRPr>
            </a:defPPr>
            <a:lvl1pPr>
              <a:defRPr sz="1050" b="0">
                <a:solidFill>
                  <a:srgbClr val="64756A"/>
                </a:solidFill>
              </a:defRPr>
            </a:lvl1pPr>
            <a:lvl2pPr>
              <a:defRPr sz="1050" b="0">
                <a:solidFill>
                  <a:srgbClr val="64756A"/>
                </a:solidFill>
              </a:defRPr>
            </a:lvl2pPr>
            <a:lvl3pPr>
              <a:defRPr sz="1050" b="0">
                <a:solidFill>
                  <a:srgbClr val="64756A"/>
                </a:solidFill>
              </a:defRPr>
            </a:lvl3pPr>
            <a:lvl4pPr>
              <a:defRPr sz="1050" b="0">
                <a:solidFill>
                  <a:srgbClr val="64756A"/>
                </a:solidFill>
              </a:defRPr>
            </a:lvl4pPr>
            <a:lvl5pPr>
              <a:defRPr sz="1050" b="0">
                <a:solidFill>
                  <a:srgbClr val="64756A"/>
                </a:solidFill>
              </a:defRPr>
            </a:lvl5pPr>
            <a:lvl6pPr>
              <a:defRPr sz="1050" b="0">
                <a:solidFill>
                  <a:srgbClr val="64756A"/>
                </a:solidFill>
              </a:defRPr>
            </a:lvl6pPr>
            <a:lvl7pPr>
              <a:defRPr sz="1050" b="0">
                <a:solidFill>
                  <a:srgbClr val="64756A"/>
                </a:solidFill>
              </a:defRPr>
            </a:lvl7pPr>
            <a:lvl8pPr>
              <a:defRPr sz="1050" b="0">
                <a:solidFill>
                  <a:srgbClr val="64756A"/>
                </a:solidFill>
              </a:defRPr>
            </a:lvl8pPr>
            <a:lvl9pPr>
              <a:defRPr sz="1050" b="0">
                <a:solidFill>
                  <a:srgbClr val="64756A"/>
                </a:solidFill>
              </a:defRPr>
            </a:lvl9pPr>
          </a:lstStyle>
          <a:p xmlns:a="http://schemas.openxmlformats.org/drawingml/2006/main">
            <a:pPr>
              <a:defRPr sz="1050" b="0">
                <a:solidFill>
                  <a:srgbClr val="64756A"/>
                </a:solidFill>
              </a:defRPr>
            </a:pPr>
            <a:r>
              <a:rPr sz="1050" b="0">
                <a:solidFill>
                  <a:srgbClr val="64756A"/>
                </a:solidFill>
              </a:rPr>
              <a:t>Verified parse example; quota blocked the live place and forecast result, so none is shown.</a:t>
            </a:r>
          </a:p>
        </p:txBody>
      </p:sp>
      <p:sp>
        <p:nvSpPr>
          <p:cNvPr id="15" name="">
            <a:extLst xmlns:a="http://schemas.openxmlformats.org/drawingml/2006/main">
              <a:ext uri="{FF2B5EF4-FFF2-40B4-BE49-F238E27FC236}">
                <a16:creationId xmlns:a16="http://schemas.microsoft.com/office/drawing/2014/main" id="{3851EE63-F011-4ECD-9FE4-06835C55C343}"/>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733132623"/>
      </p:ext>
    </p:extLst>
  </p:cSld>
</p:sld>
</file>

<file path=ppt/slides/slide3.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8141A5C-46D3-4360-9755-E6297BD44400}"/>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03</a:t>
            </a:r>
          </a:p>
        </p:txBody>
      </p:sp>
      <p:sp>
        <p:nvSpPr>
          <p:cNvPr id="2" name="">
            <a:extLst xmlns:a="http://schemas.openxmlformats.org/drawingml/2006/main">
              <a:ext uri="{FF2B5EF4-FFF2-40B4-BE49-F238E27FC236}">
                <a16:creationId xmlns:a16="http://schemas.microsoft.com/office/drawing/2014/main" id="{E99E21B9-BB90-424D-AB65-240CC2D92C12}"/>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Live data, deterministic ranking</a:t>
            </a:r>
          </a:p>
        </p:txBody>
      </p:sp>
      <p:sp>
        <p:nvSpPr>
          <p:cNvPr id="3" name="">
            <a:extLst xmlns:a="http://schemas.openxmlformats.org/drawingml/2006/main">
              <a:ext uri="{FF2B5EF4-FFF2-40B4-BE49-F238E27FC236}">
                <a16:creationId xmlns:a16="http://schemas.microsoft.com/office/drawing/2014/main" id="{F42D8883-3020-44CD-BC81-345C69A148B1}"/>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The model parses the request and selects evidence. Code fetches, validates, aligns, and scores.</a:t>
            </a:r>
          </a:p>
        </p:txBody>
      </p:sp>
      <p:sp>
        <p:nvSpPr>
          <p:cNvPr id="4" name="">
            <a:extLst xmlns:a="http://schemas.openxmlformats.org/drawingml/2006/main">
              <a:ext uri="{FF2B5EF4-FFF2-40B4-BE49-F238E27FC236}">
                <a16:creationId xmlns:a16="http://schemas.microsoft.com/office/drawing/2014/main" id="{971C6085-8D27-4684-B758-CC290004C466}"/>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FFAE0785-33BF-4014-A314-6A61A835A0C1}"/>
              </a:ext>
            </a:extLst>
          </p:cNvPr>
          <p:cNvSpPr>
            <a:spLocks xmlns:a="http://schemas.openxmlformats.org/drawingml/2006/main" noGrp="1"/>
          </p:cNvSpPr>
          <p:nvPr/>
        </p:nvSpPr>
        <p:spPr>
          <a:xfrm xmlns:a="http://schemas.openxmlformats.org/drawingml/2006/main">
            <a:off x="685800" y="2533650"/>
            <a:ext cx="20955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6" name="">
            <a:extLst xmlns:a="http://schemas.openxmlformats.org/drawingml/2006/main">
              <a:ext uri="{FF2B5EF4-FFF2-40B4-BE49-F238E27FC236}">
                <a16:creationId xmlns:a16="http://schemas.microsoft.com/office/drawing/2014/main" id="{F8C792C4-010B-441E-931F-8D76169CF8C5}"/>
              </a:ext>
            </a:extLst>
          </p:cNvPr>
          <p:cNvSpPr>
            <a:spLocks xmlns:a="http://schemas.openxmlformats.org/drawingml/2006/main" noGrp="1"/>
          </p:cNvSpPr>
          <p:nvPr/>
        </p:nvSpPr>
        <p:spPr>
          <a:xfrm xmlns:a="http://schemas.openxmlformats.org/drawingml/2006/main">
            <a:off x="857250" y="2724150"/>
            <a:ext cx="1752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QUESTION</a:t>
            </a:r>
          </a:p>
        </p:txBody>
      </p:sp>
      <p:sp>
        <p:nvSpPr>
          <p:cNvPr id="7" name="">
            <a:extLst xmlns:a="http://schemas.openxmlformats.org/drawingml/2006/main">
              <a:ext uri="{FF2B5EF4-FFF2-40B4-BE49-F238E27FC236}">
                <a16:creationId xmlns:a16="http://schemas.microsoft.com/office/drawing/2014/main" id="{9EE7E20E-D50A-416A-86A3-ECD7AE080690}"/>
              </a:ext>
            </a:extLst>
          </p:cNvPr>
          <p:cNvSpPr>
            <a:spLocks xmlns:a="http://schemas.openxmlformats.org/drawingml/2006/main" noGrp="1"/>
          </p:cNvSpPr>
          <p:nvPr/>
        </p:nvSpPr>
        <p:spPr>
          <a:xfrm xmlns:a="http://schemas.openxmlformats.org/drawingml/2006/main">
            <a:off x="857250" y="3143250"/>
            <a:ext cx="1752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Explicit place,</a:t>
            </a:r>
          </a:p>
          <a:p xmlns:a="http://schemas.openxmlformats.org/drawingml/2006/main">
            <a:pPr>
              <a:defRPr sz="1425" b="1">
                <a:solidFill>
                  <a:srgbClr val="20392D"/>
                </a:solidFill>
              </a:defRPr>
            </a:pPr>
            <a:r>
              <a:rPr sz="1425" b="1">
                <a:solidFill>
                  <a:srgbClr val="20392D"/>
                </a:solidFill>
              </a:rPr>
              <a:t>activity, time</a:t>
            </a:r>
          </a:p>
        </p:txBody>
      </p:sp>
      <p:sp>
        <p:nvSpPr>
          <p:cNvPr id="8" name="">
            <a:extLst xmlns:a="http://schemas.openxmlformats.org/drawingml/2006/main">
              <a:ext uri="{FF2B5EF4-FFF2-40B4-BE49-F238E27FC236}">
                <a16:creationId xmlns:a16="http://schemas.microsoft.com/office/drawing/2014/main" id="{0DC126B2-2908-4611-A9DF-289C5F6EA61C}"/>
              </a:ext>
            </a:extLst>
          </p:cNvPr>
          <p:cNvSpPr>
            <a:spLocks xmlns:a="http://schemas.openxmlformats.org/drawingml/2006/main" noGrp="1"/>
          </p:cNvSpPr>
          <p:nvPr/>
        </p:nvSpPr>
        <p:spPr>
          <a:xfrm xmlns:a="http://schemas.openxmlformats.org/drawingml/2006/main">
            <a:off x="3143250" y="2533650"/>
            <a:ext cx="219075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9" name="">
            <a:extLst xmlns:a="http://schemas.openxmlformats.org/drawingml/2006/main">
              <a:ext uri="{FF2B5EF4-FFF2-40B4-BE49-F238E27FC236}">
                <a16:creationId xmlns:a16="http://schemas.microsoft.com/office/drawing/2014/main" id="{A3F2302C-3CC6-4D51-89BE-ABA0F574B740}"/>
              </a:ext>
            </a:extLst>
          </p:cNvPr>
          <p:cNvSpPr>
            <a:spLocks xmlns:a="http://schemas.openxmlformats.org/drawingml/2006/main" noGrp="1"/>
          </p:cNvSpPr>
          <p:nvPr/>
        </p:nvSpPr>
        <p:spPr>
          <a:xfrm xmlns:a="http://schemas.openxmlformats.org/drawingml/2006/main">
            <a:off x="3314700" y="2724150"/>
            <a:ext cx="184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LOCAL SLM</a:t>
            </a:r>
          </a:p>
        </p:txBody>
      </p:sp>
      <p:sp>
        <p:nvSpPr>
          <p:cNvPr id="10" name="">
            <a:extLst xmlns:a="http://schemas.openxmlformats.org/drawingml/2006/main">
              <a:ext uri="{FF2B5EF4-FFF2-40B4-BE49-F238E27FC236}">
                <a16:creationId xmlns:a16="http://schemas.microsoft.com/office/drawing/2014/main" id="{3F414E94-D4F9-4D72-9313-349786EAA762}"/>
              </a:ext>
            </a:extLst>
          </p:cNvPr>
          <p:cNvSpPr>
            <a:spLocks xmlns:a="http://schemas.openxmlformats.org/drawingml/2006/main" noGrp="1"/>
          </p:cNvSpPr>
          <p:nvPr/>
        </p:nvSpPr>
        <p:spPr>
          <a:xfrm xmlns:a="http://schemas.openxmlformats.org/drawingml/2006/main">
            <a:off x="3314700" y="3143250"/>
            <a:ext cx="1847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Qwen2.5 1.5B</a:t>
            </a:r>
          </a:p>
          <a:p xmlns:a="http://schemas.openxmlformats.org/drawingml/2006/main">
            <a:pPr>
              <a:defRPr sz="1425" b="1">
                <a:solidFill>
                  <a:srgbClr val="20392D"/>
                </a:solidFill>
              </a:defRPr>
            </a:pPr>
            <a:r>
              <a:rPr sz="1425" b="1">
                <a:solidFill>
                  <a:srgbClr val="20392D"/>
                </a:solidFill>
              </a:rPr>
              <a:t>base weights; no fine-tuning</a:t>
            </a:r>
          </a:p>
        </p:txBody>
      </p:sp>
      <p:sp>
        <p:nvSpPr>
          <p:cNvPr id="11" name="">
            <a:extLst xmlns:a="http://schemas.openxmlformats.org/drawingml/2006/main">
              <a:ext uri="{FF2B5EF4-FFF2-40B4-BE49-F238E27FC236}">
                <a16:creationId xmlns:a16="http://schemas.microsoft.com/office/drawing/2014/main" id="{0EF1F533-50C9-4502-9FDB-B7F80BC0B417}"/>
              </a:ext>
            </a:extLst>
          </p:cNvPr>
          <p:cNvSpPr>
            <a:spLocks xmlns:a="http://schemas.openxmlformats.org/drawingml/2006/main" noGrp="1"/>
          </p:cNvSpPr>
          <p:nvPr/>
        </p:nvSpPr>
        <p:spPr>
          <a:xfrm xmlns:a="http://schemas.openxmlformats.org/drawingml/2006/main">
            <a:off x="5695950" y="2533650"/>
            <a:ext cx="257175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12" name="">
            <a:extLst xmlns:a="http://schemas.openxmlformats.org/drawingml/2006/main">
              <a:ext uri="{FF2B5EF4-FFF2-40B4-BE49-F238E27FC236}">
                <a16:creationId xmlns:a16="http://schemas.microsoft.com/office/drawing/2014/main" id="{0E9C56DC-A98E-40A9-8259-0C527A8B315B}"/>
              </a:ext>
            </a:extLst>
          </p:cNvPr>
          <p:cNvSpPr>
            <a:spLocks xmlns:a="http://schemas.openxmlformats.org/drawingml/2006/main" noGrp="1"/>
          </p:cNvSpPr>
          <p:nvPr/>
        </p:nvSpPr>
        <p:spPr>
          <a:xfrm xmlns:a="http://schemas.openxmlformats.org/drawingml/2006/main">
            <a:off x="5867400" y="2724150"/>
            <a:ext cx="2228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OPEN PROVIDERS</a:t>
            </a:r>
          </a:p>
        </p:txBody>
      </p:sp>
      <p:sp>
        <p:nvSpPr>
          <p:cNvPr id="13" name="">
            <a:extLst xmlns:a="http://schemas.openxmlformats.org/drawingml/2006/main">
              <a:ext uri="{FF2B5EF4-FFF2-40B4-BE49-F238E27FC236}">
                <a16:creationId xmlns:a16="http://schemas.microsoft.com/office/drawing/2014/main" id="{9A89A34E-32B1-40CC-B037-DF442DD905A4}"/>
              </a:ext>
            </a:extLst>
          </p:cNvPr>
          <p:cNvSpPr>
            <a:spLocks xmlns:a="http://schemas.openxmlformats.org/drawingml/2006/main" noGrp="1"/>
          </p:cNvSpPr>
          <p:nvPr/>
        </p:nvSpPr>
        <p:spPr>
          <a:xfrm xmlns:a="http://schemas.openxmlformats.org/drawingml/2006/main">
            <a:off x="5867400" y="3143250"/>
            <a:ext cx="2228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Nominatim + Overpass</a:t>
            </a:r>
          </a:p>
          <a:p xmlns:a="http://schemas.openxmlformats.org/drawingml/2006/main">
            <a:pPr>
              <a:defRPr sz="1425" b="1">
                <a:solidFill>
                  <a:srgbClr val="20392D"/>
                </a:solidFill>
              </a:defRPr>
            </a:pPr>
            <a:r>
              <a:rPr sz="1425" b="1">
                <a:solidFill>
                  <a:srgbClr val="20392D"/>
                </a:solidFill>
              </a:rPr>
              <a:t>Open-Meteo forecast + AQ</a:t>
            </a:r>
          </a:p>
        </p:txBody>
      </p:sp>
      <p:sp>
        <p:nvSpPr>
          <p:cNvPr id="14" name="">
            <a:extLst xmlns:a="http://schemas.openxmlformats.org/drawingml/2006/main">
              <a:ext uri="{FF2B5EF4-FFF2-40B4-BE49-F238E27FC236}">
                <a16:creationId xmlns:a16="http://schemas.microsoft.com/office/drawing/2014/main" id="{00814070-9F7B-46AD-847D-8C2C1BDC62A9}"/>
              </a:ext>
            </a:extLst>
          </p:cNvPr>
          <p:cNvSpPr>
            <a:spLocks xmlns:a="http://schemas.openxmlformats.org/drawingml/2006/main" noGrp="1"/>
          </p:cNvSpPr>
          <p:nvPr/>
        </p:nvSpPr>
        <p:spPr>
          <a:xfrm xmlns:a="http://schemas.openxmlformats.org/drawingml/2006/main">
            <a:off x="8629650" y="2533650"/>
            <a:ext cx="28575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15" name="">
            <a:extLst xmlns:a="http://schemas.openxmlformats.org/drawingml/2006/main">
              <a:ext uri="{FF2B5EF4-FFF2-40B4-BE49-F238E27FC236}">
                <a16:creationId xmlns:a16="http://schemas.microsoft.com/office/drawing/2014/main" id="{40C8129C-17E1-4706-AD22-92C6DD3C7019}"/>
              </a:ext>
            </a:extLst>
          </p:cNvPr>
          <p:cNvSpPr>
            <a:spLocks xmlns:a="http://schemas.openxmlformats.org/drawingml/2006/main" noGrp="1"/>
          </p:cNvSpPr>
          <p:nvPr/>
        </p:nvSpPr>
        <p:spPr>
          <a:xfrm xmlns:a="http://schemas.openxmlformats.org/drawingml/2006/main">
            <a:off x="8801100" y="2724150"/>
            <a:ext cx="2514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DECISION ENGINE</a:t>
            </a:r>
          </a:p>
        </p:txBody>
      </p:sp>
      <p:sp>
        <p:nvSpPr>
          <p:cNvPr id="16" name="">
            <a:extLst xmlns:a="http://schemas.openxmlformats.org/drawingml/2006/main">
              <a:ext uri="{FF2B5EF4-FFF2-40B4-BE49-F238E27FC236}">
                <a16:creationId xmlns:a16="http://schemas.microsoft.com/office/drawing/2014/main" id="{825D76A7-EB92-4125-A691-68DE7770041D}"/>
              </a:ext>
            </a:extLst>
          </p:cNvPr>
          <p:cNvSpPr>
            <a:spLocks xmlns:a="http://schemas.openxmlformats.org/drawingml/2006/main" noGrp="1"/>
          </p:cNvSpPr>
          <p:nvPr/>
        </p:nvSpPr>
        <p:spPr>
          <a:xfrm xmlns:a="http://schemas.openxmlformats.org/drawingml/2006/main">
            <a:off x="8801100" y="3143250"/>
            <a:ext cx="2514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Venue tags + hourly data</a:t>
            </a:r>
          </a:p>
          <a:p xmlns:a="http://schemas.openxmlformats.org/drawingml/2006/main">
            <a:pPr>
              <a:defRPr sz="1425" b="1">
                <a:solidFill>
                  <a:srgbClr val="20392D"/>
                </a:solidFill>
              </a:defRPr>
            </a:pPr>
            <a:r>
              <a:rPr sz="1425" b="1">
                <a:solidFill>
                  <a:srgbClr val="20392D"/>
                </a:solidFill>
              </a:rPr>
              <a:t>Heuristic score + evidence</a:t>
            </a:r>
          </a:p>
        </p:txBody>
      </p:sp>
      <p:sp>
        <p:nvSpPr>
          <p:cNvPr id="17" name="">
            <a:extLst xmlns:a="http://schemas.openxmlformats.org/drawingml/2006/main">
              <a:ext uri="{FF2B5EF4-FFF2-40B4-BE49-F238E27FC236}">
                <a16:creationId xmlns:a16="http://schemas.microsoft.com/office/drawing/2014/main" id="{D82850DC-4128-470E-B6A0-818F858F1D2A}"/>
              </a:ext>
            </a:extLst>
          </p:cNvPr>
          <p:cNvSpPr>
            <a:spLocks xmlns:a="http://schemas.openxmlformats.org/drawingml/2006/main" noGrp="1"/>
          </p:cNvSpPr>
          <p:nvPr/>
        </p:nvSpPr>
        <p:spPr>
          <a:xfrm xmlns:a="http://schemas.openxmlformats.org/drawingml/2006/main">
            <a:off x="28765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18" name="">
            <a:extLst xmlns:a="http://schemas.openxmlformats.org/drawingml/2006/main">
              <a:ext uri="{FF2B5EF4-FFF2-40B4-BE49-F238E27FC236}">
                <a16:creationId xmlns:a16="http://schemas.microsoft.com/office/drawing/2014/main" id="{9C4631A0-ABAC-46F7-A640-B647BFA7F2E7}"/>
              </a:ext>
            </a:extLst>
          </p:cNvPr>
          <p:cNvSpPr>
            <a:spLocks xmlns:a="http://schemas.openxmlformats.org/drawingml/2006/main" noGrp="1"/>
          </p:cNvSpPr>
          <p:nvPr/>
        </p:nvSpPr>
        <p:spPr>
          <a:xfrm xmlns:a="http://schemas.openxmlformats.org/drawingml/2006/main">
            <a:off x="54292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19" name="">
            <a:extLst xmlns:a="http://schemas.openxmlformats.org/drawingml/2006/main">
              <a:ext uri="{FF2B5EF4-FFF2-40B4-BE49-F238E27FC236}">
                <a16:creationId xmlns:a16="http://schemas.microsoft.com/office/drawing/2014/main" id="{360114F5-8701-4651-9F40-6E96179E27CE}"/>
              </a:ext>
            </a:extLst>
          </p:cNvPr>
          <p:cNvSpPr>
            <a:spLocks xmlns:a="http://schemas.openxmlformats.org/drawingml/2006/main" noGrp="1"/>
          </p:cNvSpPr>
          <p:nvPr/>
        </p:nvSpPr>
        <p:spPr>
          <a:xfrm xmlns:a="http://schemas.openxmlformats.org/drawingml/2006/main">
            <a:off x="83629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20" name="">
            <a:extLst xmlns:a="http://schemas.openxmlformats.org/drawingml/2006/main">
              <a:ext uri="{FF2B5EF4-FFF2-40B4-BE49-F238E27FC236}">
                <a16:creationId xmlns:a16="http://schemas.microsoft.com/office/drawing/2014/main" id="{82284633-AAF7-4F1D-90B9-92550D56CCAB}"/>
              </a:ext>
            </a:extLst>
          </p:cNvPr>
          <p:cNvSpPr>
            <a:spLocks xmlns:a="http://schemas.openxmlformats.org/drawingml/2006/main" noGrp="1"/>
          </p:cNvSpPr>
          <p:nvPr/>
        </p:nvSpPr>
        <p:spPr>
          <a:xfrm xmlns:a="http://schemas.openxmlformats.org/drawingml/2006/main">
            <a:off x="10058400" y="4286250"/>
            <a:ext cx="0" cy="666750"/>
          </a:xfrm>
          <a:prstGeom xmlns:a="http://schemas.openxmlformats.org/drawingml/2006/main" prst="line">
            <a:avLst/>
          </a:prstGeom>
          <a:noFill xmlns:a="http://schemas.openxmlformats.org/drawingml/2006/main"/>
          <a:ln xmlns:a="http://schemas.openxmlformats.org/drawingml/2006/main" w="19050">
            <a:solidFill>
              <a:srgbClr val="2E6B4A"/>
            </a:solidFill>
            <a:prstDash val="solid"/>
          </a:ln>
        </p:spPr>
      </p:sp>
      <p:sp>
        <p:nvSpPr>
          <p:cNvPr id="21" name="">
            <a:extLst xmlns:a="http://schemas.openxmlformats.org/drawingml/2006/main">
              <a:ext uri="{FF2B5EF4-FFF2-40B4-BE49-F238E27FC236}">
                <a16:creationId xmlns:a16="http://schemas.microsoft.com/office/drawing/2014/main" id="{AEEE4382-65E3-446F-AE0B-9CFF496FCBCF}"/>
              </a:ext>
            </a:extLst>
          </p:cNvPr>
          <p:cNvSpPr>
            <a:spLocks xmlns:a="http://schemas.openxmlformats.org/drawingml/2006/main" noGrp="1"/>
          </p:cNvSpPr>
          <p:nvPr/>
        </p:nvSpPr>
        <p:spPr>
          <a:xfrm xmlns:a="http://schemas.openxmlformats.org/drawingml/2006/main">
            <a:off x="8858250" y="501015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RESULT</a:t>
            </a:r>
          </a:p>
        </p:txBody>
      </p:sp>
      <p:sp>
        <p:nvSpPr>
          <p:cNvPr id="22" name="">
            <a:extLst xmlns:a="http://schemas.openxmlformats.org/drawingml/2006/main">
              <a:ext uri="{FF2B5EF4-FFF2-40B4-BE49-F238E27FC236}">
                <a16:creationId xmlns:a16="http://schemas.microsoft.com/office/drawing/2014/main" id="{92D78097-15FC-4526-A19B-2813D4E8683F}"/>
              </a:ext>
            </a:extLst>
          </p:cNvPr>
          <p:cNvSpPr>
            <a:spLocks xmlns:a="http://schemas.openxmlformats.org/drawingml/2006/main" noGrp="1"/>
          </p:cNvSpPr>
          <p:nvPr/>
        </p:nvSpPr>
        <p:spPr>
          <a:xfrm xmlns:a="http://schemas.openxmlformats.org/drawingml/2006/main">
            <a:off x="8858250" y="5314950"/>
            <a:ext cx="266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0392D"/>
                </a:solidFill>
              </a:defRPr>
            </a:defPPr>
            <a:lvl1pPr>
              <a:defRPr sz="1350" b="1">
                <a:solidFill>
                  <a:srgbClr val="20392D"/>
                </a:solidFill>
              </a:defRPr>
            </a:lvl1pPr>
            <a:lvl2pPr>
              <a:defRPr sz="1350" b="1">
                <a:solidFill>
                  <a:srgbClr val="20392D"/>
                </a:solidFill>
              </a:defRPr>
            </a:lvl2pPr>
            <a:lvl3pPr>
              <a:defRPr sz="1350" b="1">
                <a:solidFill>
                  <a:srgbClr val="20392D"/>
                </a:solidFill>
              </a:defRPr>
            </a:lvl3pPr>
            <a:lvl4pPr>
              <a:defRPr sz="1350" b="1">
                <a:solidFill>
                  <a:srgbClr val="20392D"/>
                </a:solidFill>
              </a:defRPr>
            </a:lvl4pPr>
            <a:lvl5pPr>
              <a:defRPr sz="1350" b="1">
                <a:solidFill>
                  <a:srgbClr val="20392D"/>
                </a:solidFill>
              </a:defRPr>
            </a:lvl5pPr>
            <a:lvl6pPr>
              <a:defRPr sz="1350" b="1">
                <a:solidFill>
                  <a:srgbClr val="20392D"/>
                </a:solidFill>
              </a:defRPr>
            </a:lvl6pPr>
            <a:lvl7pPr>
              <a:defRPr sz="1350" b="1">
                <a:solidFill>
                  <a:srgbClr val="20392D"/>
                </a:solidFill>
              </a:defRPr>
            </a:lvl7pPr>
            <a:lvl8pPr>
              <a:defRPr sz="1350" b="1">
                <a:solidFill>
                  <a:srgbClr val="20392D"/>
                </a:solidFill>
              </a:defRPr>
            </a:lvl8pPr>
            <a:lvl9pPr>
              <a:defRPr sz="1350" b="1">
                <a:solidFill>
                  <a:srgbClr val="20392D"/>
                </a:solidFill>
              </a:defRPr>
            </a:lvl9pPr>
          </a:lstStyle>
          <a:p xmlns:a="http://schemas.openxmlformats.org/drawingml/2006/main">
            <a:pPr>
              <a:defRPr sz="1350" b="1">
                <a:solidFill>
                  <a:srgbClr val="20392D"/>
                </a:solidFill>
              </a:defRPr>
            </a:pPr>
            <a:r>
              <a:rPr sz="1350" b="1">
                <a:solidFill>
                  <a:srgbClr val="20392D"/>
                </a:solidFill>
              </a:rPr>
              <a:t>Ranked place / hour options</a:t>
            </a:r>
          </a:p>
          <a:p xmlns:a="http://schemas.openxmlformats.org/drawingml/2006/main">
            <a:pPr>
              <a:defRPr sz="1350" b="1">
                <a:solidFill>
                  <a:srgbClr val="20392D"/>
                </a:solidFill>
              </a:defRPr>
            </a:pPr>
            <a:r>
              <a:rPr sz="1350" b="1">
                <a:solidFill>
                  <a:srgbClr val="20392D"/>
                </a:solidFill>
              </a:rPr>
              <a:t>Map pins · source facts · warnings</a:t>
            </a:r>
          </a:p>
        </p:txBody>
      </p:sp>
      <p:sp>
        <p:nvSpPr>
          <p:cNvPr id="23" name="">
            <a:extLst xmlns:a="http://schemas.openxmlformats.org/drawingml/2006/main">
              <a:ext uri="{FF2B5EF4-FFF2-40B4-BE49-F238E27FC236}">
                <a16:creationId xmlns:a16="http://schemas.microsoft.com/office/drawing/2014/main" id="{A5B76CB7-697C-420B-BD7A-650FB425D04B}"/>
              </a:ext>
            </a:extLst>
          </p:cNvPr>
          <p:cNvSpPr>
            <a:spLocks xmlns:a="http://schemas.openxmlformats.org/drawingml/2006/main" noGrp="1"/>
          </p:cNvSpPr>
          <p:nvPr/>
        </p:nvSpPr>
        <p:spPr>
          <a:xfrm xmlns:a="http://schemas.openxmlformats.org/drawingml/2006/main">
            <a:off x="685800" y="5619750"/>
            <a:ext cx="752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125" b="0">
                <a:solidFill>
                  <a:srgbClr val="64756A"/>
                </a:solidFill>
              </a:defRPr>
            </a:defPPr>
            <a:lvl1pPr>
              <a:defRPr sz="1125" b="0">
                <a:solidFill>
                  <a:srgbClr val="64756A"/>
                </a:solidFill>
              </a:defRPr>
            </a:lvl1pPr>
            <a:lvl2pPr>
              <a:defRPr sz="1125" b="0">
                <a:solidFill>
                  <a:srgbClr val="64756A"/>
                </a:solidFill>
              </a:defRPr>
            </a:lvl2pPr>
            <a:lvl3pPr>
              <a:defRPr sz="1125" b="0">
                <a:solidFill>
                  <a:srgbClr val="64756A"/>
                </a:solidFill>
              </a:defRPr>
            </a:lvl3pPr>
            <a:lvl4pPr>
              <a:defRPr sz="1125" b="0">
                <a:solidFill>
                  <a:srgbClr val="64756A"/>
                </a:solidFill>
              </a:defRPr>
            </a:lvl4pPr>
            <a:lvl5pPr>
              <a:defRPr sz="1125" b="0">
                <a:solidFill>
                  <a:srgbClr val="64756A"/>
                </a:solidFill>
              </a:defRPr>
            </a:lvl5pPr>
            <a:lvl6pPr>
              <a:defRPr sz="1125" b="0">
                <a:solidFill>
                  <a:srgbClr val="64756A"/>
                </a:solidFill>
              </a:defRPr>
            </a:lvl6pPr>
            <a:lvl7pPr>
              <a:defRPr sz="1125" b="0">
                <a:solidFill>
                  <a:srgbClr val="64756A"/>
                </a:solidFill>
              </a:defRPr>
            </a:lvl7pPr>
            <a:lvl8pPr>
              <a:defRPr sz="1125" b="0">
                <a:solidFill>
                  <a:srgbClr val="64756A"/>
                </a:solidFill>
              </a:defRPr>
            </a:lvl8pPr>
            <a:lvl9pPr>
              <a:defRPr sz="1125" b="0">
                <a:solidFill>
                  <a:srgbClr val="64756A"/>
                </a:solidFill>
              </a:defRPr>
            </a:lvl9pPr>
          </a:lstStyle>
          <a:p xmlns:a="http://schemas.openxmlformats.org/drawingml/2006/main">
            <a:pPr>
              <a:defRPr sz="1125" b="0">
                <a:solidFill>
                  <a:srgbClr val="64756A"/>
                </a:solidFill>
              </a:defRPr>
            </a:pPr>
            <a:r>
              <a:rPr sz="1125" b="0">
                <a:solidFill>
                  <a:srgbClr val="64756A"/>
                </a:solidFill>
              </a:rPr>
              <a:t>Provider requests are bounded and cached. No hosted inference API supplies the runtime answer.</a:t>
            </a:r>
          </a:p>
        </p:txBody>
      </p:sp>
      <p:sp>
        <p:nvSpPr>
          <p:cNvPr id="24" name="">
            <a:extLst xmlns:a="http://schemas.openxmlformats.org/drawingml/2006/main">
              <a:ext uri="{FF2B5EF4-FFF2-40B4-BE49-F238E27FC236}">
                <a16:creationId xmlns:a16="http://schemas.microsoft.com/office/drawing/2014/main" id="{1E1ED870-F86E-44EC-9155-A1221CED3AE4}"/>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05949997"/>
      </p:ext>
    </p:extLst>
  </p:cSld>
</p:sld>
</file>

<file path=ppt/slides/slide4.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7DD1E21-3907-445F-9829-3BF19DEDBC0E}"/>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04</a:t>
            </a:r>
          </a:p>
        </p:txBody>
      </p:sp>
      <p:sp>
        <p:nvSpPr>
          <p:cNvPr id="2" name="">
            <a:extLst xmlns:a="http://schemas.openxmlformats.org/drawingml/2006/main">
              <a:ext uri="{FF2B5EF4-FFF2-40B4-BE49-F238E27FC236}">
                <a16:creationId xmlns:a16="http://schemas.microsoft.com/office/drawing/2014/main" id="{8CF60FA6-8048-41E0-B6B0-C86861E09030}"/>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Every recommendation has limits</a:t>
            </a:r>
          </a:p>
        </p:txBody>
      </p:sp>
      <p:sp>
        <p:nvSpPr>
          <p:cNvPr id="3" name="">
            <a:extLst xmlns:a="http://schemas.openxmlformats.org/drawingml/2006/main">
              <a:ext uri="{FF2B5EF4-FFF2-40B4-BE49-F238E27FC236}">
                <a16:creationId xmlns:a16="http://schemas.microsoft.com/office/drawing/2014/main" id="{FD03605B-3983-4775-81BD-4FE96B4E4121}"/>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Scores describe available evidence, not certified safety or health.</a:t>
            </a:r>
          </a:p>
        </p:txBody>
      </p:sp>
      <p:sp>
        <p:nvSpPr>
          <p:cNvPr id="4" name="">
            <a:extLst xmlns:a="http://schemas.openxmlformats.org/drawingml/2006/main">
              <a:ext uri="{FF2B5EF4-FFF2-40B4-BE49-F238E27FC236}">
                <a16:creationId xmlns:a16="http://schemas.microsoft.com/office/drawing/2014/main" id="{20919432-743A-440E-A347-6E7463E47EFF}"/>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751E156B-C0D9-4424-B3BC-AD6542D4DBE6}"/>
              </a:ext>
            </a:extLst>
          </p:cNvPr>
          <p:cNvSpPr>
            <a:spLocks xmlns:a="http://schemas.openxmlformats.org/drawingml/2006/main" noGrp="1"/>
          </p:cNvSpPr>
          <p:nvPr/>
        </p:nvSpPr>
        <p:spPr>
          <a:xfrm xmlns:a="http://schemas.openxmlformats.org/drawingml/2006/main">
            <a:off x="685800" y="21907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HEURISTIC WEIGHTS</a:t>
            </a:r>
          </a:p>
        </p:txBody>
      </p:sp>
      <p:sp>
        <p:nvSpPr>
          <p:cNvPr id="6" name="">
            <a:extLst xmlns:a="http://schemas.openxmlformats.org/drawingml/2006/main">
              <a:ext uri="{FF2B5EF4-FFF2-40B4-BE49-F238E27FC236}">
                <a16:creationId xmlns:a16="http://schemas.microsoft.com/office/drawing/2014/main" id="{9C8DF6C2-4785-4C35-ABC0-E3865C50AB6B}"/>
              </a:ext>
            </a:extLst>
          </p:cNvPr>
          <p:cNvSpPr>
            <a:spLocks xmlns:a="http://schemas.openxmlformats.org/drawingml/2006/main" noGrp="1"/>
          </p:cNvSpPr>
          <p:nvPr/>
        </p:nvSpPr>
        <p:spPr>
          <a:xfrm xmlns:a="http://schemas.openxmlformats.org/drawingml/2006/main">
            <a:off x="685800" y="2628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Weather</a:t>
            </a:r>
          </a:p>
        </p:txBody>
      </p:sp>
      <p:sp>
        <p:nvSpPr>
          <p:cNvPr id="7" name="">
            <a:extLst xmlns:a="http://schemas.openxmlformats.org/drawingml/2006/main">
              <a:ext uri="{FF2B5EF4-FFF2-40B4-BE49-F238E27FC236}">
                <a16:creationId xmlns:a16="http://schemas.microsoft.com/office/drawing/2014/main" id="{B0AFB330-6315-43C8-A5DE-5C718BE9ACAF}"/>
              </a:ext>
            </a:extLst>
          </p:cNvPr>
          <p:cNvSpPr>
            <a:spLocks xmlns:a="http://schemas.openxmlformats.org/drawingml/2006/main" noGrp="1"/>
          </p:cNvSpPr>
          <p:nvPr/>
        </p:nvSpPr>
        <p:spPr>
          <a:xfrm xmlns:a="http://schemas.openxmlformats.org/drawingml/2006/main">
            <a:off x="2647950" y="2657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FECF414-3454-445E-B6FA-070406628F7F}"/>
              </a:ext>
            </a:extLst>
          </p:cNvPr>
          <p:cNvSpPr>
            <a:spLocks xmlns:a="http://schemas.openxmlformats.org/drawingml/2006/main" noGrp="1"/>
          </p:cNvSpPr>
          <p:nvPr/>
        </p:nvSpPr>
        <p:spPr>
          <a:xfrm xmlns:a="http://schemas.openxmlformats.org/drawingml/2006/main">
            <a:off x="2647950" y="2657475"/>
            <a:ext cx="3905250"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CE13634-9864-443B-AEC3-411EB879FE15}"/>
              </a:ext>
            </a:extLst>
          </p:cNvPr>
          <p:cNvSpPr>
            <a:spLocks xmlns:a="http://schemas.openxmlformats.org/drawingml/2006/main" noGrp="1"/>
          </p:cNvSpPr>
          <p:nvPr/>
        </p:nvSpPr>
        <p:spPr>
          <a:xfrm xmlns:a="http://schemas.openxmlformats.org/drawingml/2006/main">
            <a:off x="6762750" y="2609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40%</a:t>
            </a:r>
          </a:p>
        </p:txBody>
      </p:sp>
      <p:sp>
        <p:nvSpPr>
          <p:cNvPr id="10" name="">
            <a:extLst xmlns:a="http://schemas.openxmlformats.org/drawingml/2006/main">
              <a:ext uri="{FF2B5EF4-FFF2-40B4-BE49-F238E27FC236}">
                <a16:creationId xmlns:a16="http://schemas.microsoft.com/office/drawing/2014/main" id="{3DB055BA-E61F-412B-B7DE-AE44548F04CE}"/>
              </a:ext>
            </a:extLst>
          </p:cNvPr>
          <p:cNvSpPr>
            <a:spLocks xmlns:a="http://schemas.openxmlformats.org/drawingml/2006/main" noGrp="1"/>
          </p:cNvSpPr>
          <p:nvPr/>
        </p:nvSpPr>
        <p:spPr>
          <a:xfrm xmlns:a="http://schemas.openxmlformats.org/drawingml/2006/main">
            <a:off x="685800" y="32004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Activity fit</a:t>
            </a:r>
          </a:p>
        </p:txBody>
      </p:sp>
      <p:sp>
        <p:nvSpPr>
          <p:cNvPr id="11" name="">
            <a:extLst xmlns:a="http://schemas.openxmlformats.org/drawingml/2006/main">
              <a:ext uri="{FF2B5EF4-FFF2-40B4-BE49-F238E27FC236}">
                <a16:creationId xmlns:a16="http://schemas.microsoft.com/office/drawing/2014/main" id="{850F7331-EEBA-459B-B1C6-A19DC42CCB4B}"/>
              </a:ext>
            </a:extLst>
          </p:cNvPr>
          <p:cNvSpPr>
            <a:spLocks xmlns:a="http://schemas.openxmlformats.org/drawingml/2006/main" noGrp="1"/>
          </p:cNvSpPr>
          <p:nvPr/>
        </p:nvSpPr>
        <p:spPr>
          <a:xfrm xmlns:a="http://schemas.openxmlformats.org/drawingml/2006/main">
            <a:off x="2647950" y="32289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8A14E7-3F56-48BC-AEF7-91D31F2336A5}"/>
              </a:ext>
            </a:extLst>
          </p:cNvPr>
          <p:cNvSpPr>
            <a:spLocks xmlns:a="http://schemas.openxmlformats.org/drawingml/2006/main" noGrp="1"/>
          </p:cNvSpPr>
          <p:nvPr/>
        </p:nvSpPr>
        <p:spPr>
          <a:xfrm xmlns:a="http://schemas.openxmlformats.org/drawingml/2006/main">
            <a:off x="2647950" y="3228975"/>
            <a:ext cx="2440781"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561A17D-6472-4EE6-98D0-FFDC0910E39D}"/>
              </a:ext>
            </a:extLst>
          </p:cNvPr>
          <p:cNvSpPr>
            <a:spLocks xmlns:a="http://schemas.openxmlformats.org/drawingml/2006/main" noGrp="1"/>
          </p:cNvSpPr>
          <p:nvPr/>
        </p:nvSpPr>
        <p:spPr>
          <a:xfrm xmlns:a="http://schemas.openxmlformats.org/drawingml/2006/main">
            <a:off x="6762750" y="31813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25%</a:t>
            </a:r>
          </a:p>
        </p:txBody>
      </p:sp>
      <p:sp>
        <p:nvSpPr>
          <p:cNvPr id="14" name="">
            <a:extLst xmlns:a="http://schemas.openxmlformats.org/drawingml/2006/main">
              <a:ext uri="{FF2B5EF4-FFF2-40B4-BE49-F238E27FC236}">
                <a16:creationId xmlns:a16="http://schemas.microsoft.com/office/drawing/2014/main" id="{85781A83-DF75-448F-954B-75FCA53F74A5}"/>
              </a:ext>
            </a:extLst>
          </p:cNvPr>
          <p:cNvSpPr>
            <a:spLocks xmlns:a="http://schemas.openxmlformats.org/drawingml/2006/main" noGrp="1"/>
          </p:cNvSpPr>
          <p:nvPr/>
        </p:nvSpPr>
        <p:spPr>
          <a:xfrm xmlns:a="http://schemas.openxmlformats.org/drawingml/2006/main">
            <a:off x="685800" y="3771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Air quality</a:t>
            </a:r>
          </a:p>
        </p:txBody>
      </p:sp>
      <p:sp>
        <p:nvSpPr>
          <p:cNvPr id="15" name="">
            <a:extLst xmlns:a="http://schemas.openxmlformats.org/drawingml/2006/main">
              <a:ext uri="{FF2B5EF4-FFF2-40B4-BE49-F238E27FC236}">
                <a16:creationId xmlns:a16="http://schemas.microsoft.com/office/drawing/2014/main" id="{32294779-BCA6-4B3A-8310-C8369D5F0058}"/>
              </a:ext>
            </a:extLst>
          </p:cNvPr>
          <p:cNvSpPr>
            <a:spLocks xmlns:a="http://schemas.openxmlformats.org/drawingml/2006/main" noGrp="1"/>
          </p:cNvSpPr>
          <p:nvPr/>
        </p:nvSpPr>
        <p:spPr>
          <a:xfrm xmlns:a="http://schemas.openxmlformats.org/drawingml/2006/main">
            <a:off x="2647950" y="3800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E04D990-125E-4DA9-85C2-8C93198478D0}"/>
              </a:ext>
            </a:extLst>
          </p:cNvPr>
          <p:cNvSpPr>
            <a:spLocks xmlns:a="http://schemas.openxmlformats.org/drawingml/2006/main" noGrp="1"/>
          </p:cNvSpPr>
          <p:nvPr/>
        </p:nvSpPr>
        <p:spPr>
          <a:xfrm xmlns:a="http://schemas.openxmlformats.org/drawingml/2006/main">
            <a:off x="2647950" y="3800475"/>
            <a:ext cx="1952625"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AC62841-7116-4315-834B-975DA5774C00}"/>
              </a:ext>
            </a:extLst>
          </p:cNvPr>
          <p:cNvSpPr>
            <a:spLocks xmlns:a="http://schemas.openxmlformats.org/drawingml/2006/main" noGrp="1"/>
          </p:cNvSpPr>
          <p:nvPr/>
        </p:nvSpPr>
        <p:spPr>
          <a:xfrm xmlns:a="http://schemas.openxmlformats.org/drawingml/2006/main">
            <a:off x="6762750" y="3752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20%</a:t>
            </a:r>
          </a:p>
        </p:txBody>
      </p:sp>
      <p:sp>
        <p:nvSpPr>
          <p:cNvPr id="18" name="">
            <a:extLst xmlns:a="http://schemas.openxmlformats.org/drawingml/2006/main">
              <a:ext uri="{FF2B5EF4-FFF2-40B4-BE49-F238E27FC236}">
                <a16:creationId xmlns:a16="http://schemas.microsoft.com/office/drawing/2014/main" id="{C2320198-0452-4CBE-8F15-462409EAA86F}"/>
              </a:ext>
            </a:extLst>
          </p:cNvPr>
          <p:cNvSpPr>
            <a:spLocks xmlns:a="http://schemas.openxmlformats.org/drawingml/2006/main" noGrp="1"/>
          </p:cNvSpPr>
          <p:nvPr/>
        </p:nvSpPr>
        <p:spPr>
          <a:xfrm xmlns:a="http://schemas.openxmlformats.org/drawingml/2006/main">
            <a:off x="685800" y="43434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Mapped context</a:t>
            </a:r>
          </a:p>
        </p:txBody>
      </p:sp>
      <p:sp>
        <p:nvSpPr>
          <p:cNvPr id="19" name="">
            <a:extLst xmlns:a="http://schemas.openxmlformats.org/drawingml/2006/main">
              <a:ext uri="{FF2B5EF4-FFF2-40B4-BE49-F238E27FC236}">
                <a16:creationId xmlns:a16="http://schemas.microsoft.com/office/drawing/2014/main" id="{1EEAB447-BB00-476D-8C92-92D51F611C6B}"/>
              </a:ext>
            </a:extLst>
          </p:cNvPr>
          <p:cNvSpPr>
            <a:spLocks xmlns:a="http://schemas.openxmlformats.org/drawingml/2006/main" noGrp="1"/>
          </p:cNvSpPr>
          <p:nvPr/>
        </p:nvSpPr>
        <p:spPr>
          <a:xfrm xmlns:a="http://schemas.openxmlformats.org/drawingml/2006/main">
            <a:off x="2647950" y="43719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542F4F5-6A71-40A7-9869-F4B7C0C72503}"/>
              </a:ext>
            </a:extLst>
          </p:cNvPr>
          <p:cNvSpPr>
            <a:spLocks xmlns:a="http://schemas.openxmlformats.org/drawingml/2006/main" noGrp="1"/>
          </p:cNvSpPr>
          <p:nvPr/>
        </p:nvSpPr>
        <p:spPr>
          <a:xfrm xmlns:a="http://schemas.openxmlformats.org/drawingml/2006/main">
            <a:off x="2647950" y="4371975"/>
            <a:ext cx="976313"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2B3ABB8-5C41-467B-B689-46CEED4AAE1C}"/>
              </a:ext>
            </a:extLst>
          </p:cNvPr>
          <p:cNvSpPr>
            <a:spLocks xmlns:a="http://schemas.openxmlformats.org/drawingml/2006/main" noGrp="1"/>
          </p:cNvSpPr>
          <p:nvPr/>
        </p:nvSpPr>
        <p:spPr>
          <a:xfrm xmlns:a="http://schemas.openxmlformats.org/drawingml/2006/main">
            <a:off x="6762750" y="43243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10%</a:t>
            </a:r>
          </a:p>
        </p:txBody>
      </p:sp>
      <p:sp>
        <p:nvSpPr>
          <p:cNvPr id="22" name="">
            <a:extLst xmlns:a="http://schemas.openxmlformats.org/drawingml/2006/main">
              <a:ext uri="{FF2B5EF4-FFF2-40B4-BE49-F238E27FC236}">
                <a16:creationId xmlns:a16="http://schemas.microsoft.com/office/drawing/2014/main" id="{CEA0D362-6704-4D45-8349-3E742F140C4D}"/>
              </a:ext>
            </a:extLst>
          </p:cNvPr>
          <p:cNvSpPr>
            <a:spLocks xmlns:a="http://schemas.openxmlformats.org/drawingml/2006/main" noGrp="1"/>
          </p:cNvSpPr>
          <p:nvPr/>
        </p:nvSpPr>
        <p:spPr>
          <a:xfrm xmlns:a="http://schemas.openxmlformats.org/drawingml/2006/main">
            <a:off x="685800" y="4914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Daylight</a:t>
            </a:r>
          </a:p>
        </p:txBody>
      </p:sp>
      <p:sp>
        <p:nvSpPr>
          <p:cNvPr id="23" name="">
            <a:extLst xmlns:a="http://schemas.openxmlformats.org/drawingml/2006/main">
              <a:ext uri="{FF2B5EF4-FFF2-40B4-BE49-F238E27FC236}">
                <a16:creationId xmlns:a16="http://schemas.microsoft.com/office/drawing/2014/main" id="{78F38A8C-72EB-42C5-80BF-1A0E12EFB895}"/>
              </a:ext>
            </a:extLst>
          </p:cNvPr>
          <p:cNvSpPr>
            <a:spLocks xmlns:a="http://schemas.openxmlformats.org/drawingml/2006/main" noGrp="1"/>
          </p:cNvSpPr>
          <p:nvPr/>
        </p:nvSpPr>
        <p:spPr>
          <a:xfrm xmlns:a="http://schemas.openxmlformats.org/drawingml/2006/main">
            <a:off x="2647950" y="4943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F6B8446-C887-40BE-A1F4-2032FDFFC03B}"/>
              </a:ext>
            </a:extLst>
          </p:cNvPr>
          <p:cNvSpPr>
            <a:spLocks xmlns:a="http://schemas.openxmlformats.org/drawingml/2006/main" noGrp="1"/>
          </p:cNvSpPr>
          <p:nvPr/>
        </p:nvSpPr>
        <p:spPr>
          <a:xfrm xmlns:a="http://schemas.openxmlformats.org/drawingml/2006/main">
            <a:off x="2647950" y="4943475"/>
            <a:ext cx="488156"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98C15D7-29C0-4E7A-B8F6-0E6A217DFE48}"/>
              </a:ext>
            </a:extLst>
          </p:cNvPr>
          <p:cNvSpPr>
            <a:spLocks xmlns:a="http://schemas.openxmlformats.org/drawingml/2006/main" noGrp="1"/>
          </p:cNvSpPr>
          <p:nvPr/>
        </p:nvSpPr>
        <p:spPr>
          <a:xfrm xmlns:a="http://schemas.openxmlformats.org/drawingml/2006/main">
            <a:off x="6762750" y="4895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5%</a:t>
            </a:r>
          </a:p>
        </p:txBody>
      </p:sp>
      <p:sp>
        <p:nvSpPr>
          <p:cNvPr id="26" name="">
            <a:extLst xmlns:a="http://schemas.openxmlformats.org/drawingml/2006/main">
              <a:ext uri="{FF2B5EF4-FFF2-40B4-BE49-F238E27FC236}">
                <a16:creationId xmlns:a16="http://schemas.microsoft.com/office/drawing/2014/main" id="{ABBE508D-70DC-46E4-A310-914E1BAEDEA9}"/>
              </a:ext>
            </a:extLst>
          </p:cNvPr>
          <p:cNvSpPr>
            <a:spLocks xmlns:a="http://schemas.openxmlformats.org/drawingml/2006/main" noGrp="1"/>
          </p:cNvSpPr>
          <p:nvPr/>
        </p:nvSpPr>
        <p:spPr>
          <a:xfrm xmlns:a="http://schemas.openxmlformats.org/drawingml/2006/main">
            <a:off x="7810500" y="2190750"/>
            <a:ext cx="0" cy="342900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27" name="">
            <a:extLst xmlns:a="http://schemas.openxmlformats.org/drawingml/2006/main">
              <a:ext uri="{FF2B5EF4-FFF2-40B4-BE49-F238E27FC236}">
                <a16:creationId xmlns:a16="http://schemas.microsoft.com/office/drawing/2014/main" id="{2DB9469C-1959-4F70-BE63-768A1D47079A}"/>
              </a:ext>
            </a:extLst>
          </p:cNvPr>
          <p:cNvSpPr>
            <a:spLocks xmlns:a="http://schemas.openxmlformats.org/drawingml/2006/main" noGrp="1"/>
          </p:cNvSpPr>
          <p:nvPr/>
        </p:nvSpPr>
        <p:spPr>
          <a:xfrm xmlns:a="http://schemas.openxmlformats.org/drawingml/2006/main">
            <a:off x="8248650" y="21907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EVIDENCE SHOWN</a:t>
            </a:r>
          </a:p>
        </p:txBody>
      </p:sp>
      <p:sp>
        <p:nvSpPr>
          <p:cNvPr id="28" name="">
            <a:extLst xmlns:a="http://schemas.openxmlformats.org/drawingml/2006/main">
              <a:ext uri="{FF2B5EF4-FFF2-40B4-BE49-F238E27FC236}">
                <a16:creationId xmlns:a16="http://schemas.microsoft.com/office/drawing/2014/main" id="{95F21725-F93F-4646-85CB-47B176386786}"/>
              </a:ext>
            </a:extLst>
          </p:cNvPr>
          <p:cNvSpPr>
            <a:spLocks xmlns:a="http://schemas.openxmlformats.org/drawingml/2006/main" noGrp="1"/>
          </p:cNvSpPr>
          <p:nvPr/>
        </p:nvSpPr>
        <p:spPr>
          <a:xfrm xmlns:a="http://schemas.openxmlformats.org/drawingml/2006/main">
            <a:off x="8248650" y="262890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20392D"/>
                </a:solidFill>
              </a:defRPr>
            </a:defPPr>
            <a:lvl1pPr>
              <a:defRPr sz="1425" b="0">
                <a:solidFill>
                  <a:srgbClr val="20392D"/>
                </a:solidFill>
              </a:defRPr>
            </a:lvl1pPr>
            <a:lvl2pPr>
              <a:defRPr sz="1425" b="0">
                <a:solidFill>
                  <a:srgbClr val="20392D"/>
                </a:solidFill>
              </a:defRPr>
            </a:lvl2pPr>
            <a:lvl3pPr>
              <a:defRPr sz="1425" b="0">
                <a:solidFill>
                  <a:srgbClr val="20392D"/>
                </a:solidFill>
              </a:defRPr>
            </a:lvl3pPr>
            <a:lvl4pPr>
              <a:defRPr sz="1425" b="0">
                <a:solidFill>
                  <a:srgbClr val="20392D"/>
                </a:solidFill>
              </a:defRPr>
            </a:lvl4pPr>
            <a:lvl5pPr>
              <a:defRPr sz="1425" b="0">
                <a:solidFill>
                  <a:srgbClr val="20392D"/>
                </a:solidFill>
              </a:defRPr>
            </a:lvl5pPr>
            <a:lvl6pPr>
              <a:defRPr sz="1425" b="0">
                <a:solidFill>
                  <a:srgbClr val="20392D"/>
                </a:solidFill>
              </a:defRPr>
            </a:lvl6pPr>
            <a:lvl7pPr>
              <a:defRPr sz="1425" b="0">
                <a:solidFill>
                  <a:srgbClr val="20392D"/>
                </a:solidFill>
              </a:defRPr>
            </a:lvl7pPr>
            <a:lvl8pPr>
              <a:defRPr sz="1425" b="0">
                <a:solidFill>
                  <a:srgbClr val="20392D"/>
                </a:solidFill>
              </a:defRPr>
            </a:lvl8pPr>
            <a:lvl9pPr>
              <a:defRPr sz="1425" b="0">
                <a:solidFill>
                  <a:srgbClr val="20392D"/>
                </a:solidFill>
              </a:defRPr>
            </a:lvl9pPr>
          </a:lstStyle>
          <a:p xmlns:a="http://schemas.openxmlformats.org/drawingml/2006/main">
            <a:pPr>
              <a:defRPr sz="1425" b="0">
                <a:solidFill>
                  <a:srgbClr val="20392D"/>
                </a:solidFill>
              </a:defRPr>
            </a:pPr>
            <a:r>
              <a:rPr sz="1425" b="0">
                <a:solidFill>
                  <a:srgbClr val="20392D"/>
                </a:solidFill>
              </a:rPr>
              <a:t>Forecast values include source, valid time, and fetch time. Missing weather blocks a recommendation. Missing AQ or context lowers coverage.</a:t>
            </a:r>
          </a:p>
        </p:txBody>
      </p:sp>
      <p:sp>
        <p:nvSpPr>
          <p:cNvPr id="29" name="">
            <a:extLst xmlns:a="http://schemas.openxmlformats.org/drawingml/2006/main">
              <a:ext uri="{FF2B5EF4-FFF2-40B4-BE49-F238E27FC236}">
                <a16:creationId xmlns:a16="http://schemas.microsoft.com/office/drawing/2014/main" id="{392AB510-2F4B-48CB-9984-45125F910355}"/>
              </a:ext>
            </a:extLst>
          </p:cNvPr>
          <p:cNvSpPr>
            <a:spLocks xmlns:a="http://schemas.openxmlformats.org/drawingml/2006/main" noGrp="1"/>
          </p:cNvSpPr>
          <p:nvPr/>
        </p:nvSpPr>
        <p:spPr>
          <a:xfrm xmlns:a="http://schemas.openxmlformats.org/drawingml/2006/main">
            <a:off x="8248650" y="4057650"/>
            <a:ext cx="3238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64756A"/>
                </a:solidFill>
              </a:defRPr>
            </a:defPPr>
            <a:lvl1pPr>
              <a:defRPr sz="1275" b="0">
                <a:solidFill>
                  <a:srgbClr val="64756A"/>
                </a:solidFill>
              </a:defRPr>
            </a:lvl1pPr>
            <a:lvl2pPr>
              <a:defRPr sz="1275" b="0">
                <a:solidFill>
                  <a:srgbClr val="64756A"/>
                </a:solidFill>
              </a:defRPr>
            </a:lvl2pPr>
            <a:lvl3pPr>
              <a:defRPr sz="1275" b="0">
                <a:solidFill>
                  <a:srgbClr val="64756A"/>
                </a:solidFill>
              </a:defRPr>
            </a:lvl3pPr>
            <a:lvl4pPr>
              <a:defRPr sz="1275" b="0">
                <a:solidFill>
                  <a:srgbClr val="64756A"/>
                </a:solidFill>
              </a:defRPr>
            </a:lvl4pPr>
            <a:lvl5pPr>
              <a:defRPr sz="1275" b="0">
                <a:solidFill>
                  <a:srgbClr val="64756A"/>
                </a:solidFill>
              </a:defRPr>
            </a:lvl5pPr>
            <a:lvl6pPr>
              <a:defRPr sz="1275" b="0">
                <a:solidFill>
                  <a:srgbClr val="64756A"/>
                </a:solidFill>
              </a:defRPr>
            </a:lvl6pPr>
            <a:lvl7pPr>
              <a:defRPr sz="1275" b="0">
                <a:solidFill>
                  <a:srgbClr val="64756A"/>
                </a:solidFill>
              </a:defRPr>
            </a:lvl7pPr>
            <a:lvl8pPr>
              <a:defRPr sz="1275" b="0">
                <a:solidFill>
                  <a:srgbClr val="64756A"/>
                </a:solidFill>
              </a:defRPr>
            </a:lvl8pPr>
            <a:lvl9pPr>
              <a:defRPr sz="1275" b="0">
                <a:solidFill>
                  <a:srgbClr val="64756A"/>
                </a:solidFill>
              </a:defRPr>
            </a:lvl9pPr>
          </a:lstStyle>
          <a:p xmlns:a="http://schemas.openxmlformats.org/drawingml/2006/main">
            <a:pPr>
              <a:defRPr sz="1275" b="0">
                <a:solidFill>
                  <a:srgbClr val="64756A"/>
                </a:solidFill>
              </a:defRPr>
            </a:pPr>
            <a:r>
              <a:rPr sz="1275" b="0">
                <a:solidFill>
                  <a:srgbClr val="64756A"/>
                </a:solidFill>
              </a:rPr>
              <a:t>OSM tags establish mapped venue fit. Road distance is a proximity proxy, never live traffic. Air quality is regional model guidance.</a:t>
            </a:r>
          </a:p>
        </p:txBody>
      </p:sp>
      <p:sp>
        <p:nvSpPr>
          <p:cNvPr id="30" name="">
            <a:extLst xmlns:a="http://schemas.openxmlformats.org/drawingml/2006/main">
              <a:ext uri="{FF2B5EF4-FFF2-40B4-BE49-F238E27FC236}">
                <a16:creationId xmlns:a16="http://schemas.microsoft.com/office/drawing/2014/main" id="{A49FB99E-0F6C-4654-B8D1-C509AB92B7C5}"/>
              </a:ext>
            </a:extLst>
          </p:cNvPr>
          <p:cNvSpPr>
            <a:spLocks xmlns:a="http://schemas.openxmlformats.org/drawingml/2006/main" noGrp="1"/>
          </p:cNvSpPr>
          <p:nvPr/>
        </p:nvSpPr>
        <p:spPr>
          <a:xfrm xmlns:a="http://schemas.openxmlformats.org/drawingml/2006/main">
            <a:off x="8248650" y="5429250"/>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 OpenStreetMap contributors</a:t>
            </a:r>
          </a:p>
        </p:txBody>
      </p:sp>
      <p:sp>
        <p:nvSpPr>
          <p:cNvPr id="31" name="">
            <a:extLst xmlns:a="http://schemas.openxmlformats.org/drawingml/2006/main">
              <a:ext uri="{FF2B5EF4-FFF2-40B4-BE49-F238E27FC236}">
                <a16:creationId xmlns:a16="http://schemas.microsoft.com/office/drawing/2014/main" id="{3F2E561F-C0B9-4EFA-986D-6597E923B624}"/>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67123921"/>
      </p:ext>
    </p:extLst>
  </p:cSld>
</p:sld>
</file>

<file path=ppt/slides/slide5.xml><?xml version="1.0" encoding="utf-8"?>
<p:sld xmlns:p="http://schemas.openxmlformats.org/presentationml/2006/main">
  <p:cSld>
    <p:bg>
      <p:bgPr>
        <a:solidFill xmlns:a="http://schemas.openxmlformats.org/drawingml/2006/main">
          <a:srgbClr val="14271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FED3027-7545-48B9-B908-66E873C2F8A2}"/>
              </a:ext>
            </a:extLst>
          </p:cNvPr>
          <p:cNvSpPr>
            <a:spLocks xmlns:a="http://schemas.openxmlformats.org/drawingml/2006/main" noGrp="1"/>
          </p:cNvSpPr>
          <p:nvPr/>
        </p:nvSpPr>
        <p:spPr>
          <a:xfrm xmlns:a="http://schemas.openxmlformats.org/drawingml/2006/main">
            <a:off x="685800" y="45720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E3B65E"/>
                </a:solidFill>
              </a:defRPr>
            </a:defPPr>
            <a:lvl1pPr>
              <a:defRPr sz="975" b="1">
                <a:solidFill>
                  <a:srgbClr val="E3B65E"/>
                </a:solidFill>
              </a:defRPr>
            </a:lvl1pPr>
            <a:lvl2pPr>
              <a:defRPr sz="975" b="1">
                <a:solidFill>
                  <a:srgbClr val="E3B65E"/>
                </a:solidFill>
              </a:defRPr>
            </a:lvl2pPr>
            <a:lvl3pPr>
              <a:defRPr sz="975" b="1">
                <a:solidFill>
                  <a:srgbClr val="E3B65E"/>
                </a:solidFill>
              </a:defRPr>
            </a:lvl3pPr>
            <a:lvl4pPr>
              <a:defRPr sz="975" b="1">
                <a:solidFill>
                  <a:srgbClr val="E3B65E"/>
                </a:solidFill>
              </a:defRPr>
            </a:lvl4pPr>
            <a:lvl5pPr>
              <a:defRPr sz="975" b="1">
                <a:solidFill>
                  <a:srgbClr val="E3B65E"/>
                </a:solidFill>
              </a:defRPr>
            </a:lvl5pPr>
            <a:lvl6pPr>
              <a:defRPr sz="975" b="1">
                <a:solidFill>
                  <a:srgbClr val="E3B65E"/>
                </a:solidFill>
              </a:defRPr>
            </a:lvl6pPr>
            <a:lvl7pPr>
              <a:defRPr sz="975" b="1">
                <a:solidFill>
                  <a:srgbClr val="E3B65E"/>
                </a:solidFill>
              </a:defRPr>
            </a:lvl7pPr>
            <a:lvl8pPr>
              <a:defRPr sz="975" b="1">
                <a:solidFill>
                  <a:srgbClr val="E3B65E"/>
                </a:solidFill>
              </a:defRPr>
            </a:lvl8pPr>
            <a:lvl9pPr>
              <a:defRPr sz="975" b="1">
                <a:solidFill>
                  <a:srgbClr val="E3B65E"/>
                </a:solidFill>
              </a:defRPr>
            </a:lvl9pPr>
          </a:lstStyle>
          <a:p xmlns:a="http://schemas.openxmlformats.org/drawingml/2006/main">
            <a:pPr>
              <a:defRPr sz="975" b="1">
                <a:solidFill>
                  <a:srgbClr val="E3B65E"/>
                </a:solidFill>
              </a:defRPr>
            </a:pPr>
            <a:r>
              <a:rPr sz="975" b="1">
                <a:solidFill>
                  <a:srgbClr val="E3B65E"/>
                </a:solidFill>
              </a:rPr>
              <a:t>05  /  DELIVERY STATUS</a:t>
            </a:r>
          </a:p>
        </p:txBody>
      </p:sp>
      <p:sp>
        <p:nvSpPr>
          <p:cNvPr id="2" name="">
            <a:extLst xmlns:a="http://schemas.openxmlformats.org/drawingml/2006/main">
              <a:ext uri="{FF2B5EF4-FFF2-40B4-BE49-F238E27FC236}">
                <a16:creationId xmlns:a16="http://schemas.microsoft.com/office/drawing/2014/main" id="{93323019-F024-4526-AE1A-418E149CA7F5}"/>
              </a:ext>
            </a:extLst>
          </p:cNvPr>
          <p:cNvSpPr>
            <a:spLocks xmlns:a="http://schemas.openxmlformats.org/drawingml/2006/main" noGrp="1"/>
          </p:cNvSpPr>
          <p:nvPr/>
        </p:nvSpPr>
        <p:spPr>
          <a:xfrm xmlns:a="http://schemas.openxmlformats.org/drawingml/2006/main">
            <a:off x="685800" y="10096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1">
                <a:solidFill>
                  <a:srgbClr val="FFFFFF"/>
                </a:solidFill>
              </a:defRPr>
            </a:defPPr>
            <a:lvl1pPr>
              <a:defRPr sz="3000" b="1">
                <a:solidFill>
                  <a:srgbClr val="FFFFFF"/>
                </a:solidFill>
              </a:defRPr>
            </a:lvl1pPr>
            <a:lvl2pPr>
              <a:defRPr sz="3000" b="1">
                <a:solidFill>
                  <a:srgbClr val="FFFFFF"/>
                </a:solidFill>
              </a:defRPr>
            </a:lvl2pPr>
            <a:lvl3pPr>
              <a:defRPr sz="3000" b="1">
                <a:solidFill>
                  <a:srgbClr val="FFFFFF"/>
                </a:solidFill>
              </a:defRPr>
            </a:lvl3pPr>
            <a:lvl4pPr>
              <a:defRPr sz="3000" b="1">
                <a:solidFill>
                  <a:srgbClr val="FFFFFF"/>
                </a:solidFill>
              </a:defRPr>
            </a:lvl4pPr>
            <a:lvl5pPr>
              <a:defRPr sz="3000" b="1">
                <a:solidFill>
                  <a:srgbClr val="FFFFFF"/>
                </a:solidFill>
              </a:defRPr>
            </a:lvl5pPr>
            <a:lvl6pPr>
              <a:defRPr sz="3000" b="1">
                <a:solidFill>
                  <a:srgbClr val="FFFFFF"/>
                </a:solidFill>
              </a:defRPr>
            </a:lvl6pPr>
            <a:lvl7pPr>
              <a:defRPr sz="3000" b="1">
                <a:solidFill>
                  <a:srgbClr val="FFFFFF"/>
                </a:solidFill>
              </a:defRPr>
            </a:lvl7pPr>
            <a:lvl8pPr>
              <a:defRPr sz="3000" b="1">
                <a:solidFill>
                  <a:srgbClr val="FFFFFF"/>
                </a:solidFill>
              </a:defRPr>
            </a:lvl8pPr>
            <a:lvl9pPr>
              <a:defRPr sz="3000" b="1">
                <a:solidFill>
                  <a:srgbClr val="FFFFFF"/>
                </a:solidFill>
              </a:defRPr>
            </a:lvl9pPr>
          </a:lstStyle>
          <a:p xmlns:a="http://schemas.openxmlformats.org/drawingml/2006/main">
            <a:pPr>
              <a:defRPr sz="3000" b="1">
                <a:solidFill>
                  <a:srgbClr val="FFFFFF"/>
                </a:solidFill>
              </a:defRPr>
            </a:pPr>
            <a:r>
              <a:rPr sz="3000" b="1">
                <a:solidFill>
                  <a:srgbClr val="FFFFFF"/>
                </a:solidFill>
              </a:rPr>
              <a:t>What is ready for review</a:t>
            </a:r>
          </a:p>
        </p:txBody>
      </p:sp>
      <p:sp>
        <p:nvSpPr>
          <p:cNvPr id="3" name="">
            <a:extLst xmlns:a="http://schemas.openxmlformats.org/drawingml/2006/main">
              <a:ext uri="{FF2B5EF4-FFF2-40B4-BE49-F238E27FC236}">
                <a16:creationId xmlns:a16="http://schemas.microsoft.com/office/drawing/2014/main" id="{2ADAF9FC-DC97-4863-B3C9-10D19945762B}"/>
              </a:ext>
            </a:extLst>
          </p:cNvPr>
          <p:cNvSpPr>
            <a:spLocks xmlns:a="http://schemas.openxmlformats.org/drawingml/2006/main" noGrp="1"/>
          </p:cNvSpPr>
          <p:nvPr/>
        </p:nvSpPr>
        <p:spPr>
          <a:xfrm xmlns:a="http://schemas.openxmlformats.org/drawingml/2006/main">
            <a:off x="685800" y="1771650"/>
            <a:ext cx="10820400" cy="0"/>
          </a:xfrm>
          <a:prstGeom xmlns:a="http://schemas.openxmlformats.org/drawingml/2006/main" prst="line">
            <a:avLst/>
          </a:prstGeom>
          <a:noFill xmlns:a="http://schemas.openxmlformats.org/drawingml/2006/main"/>
          <a:ln xmlns:a="http://schemas.openxmlformats.org/drawingml/2006/main" w="9525">
            <a:solidFill>
              <a:srgbClr val="54715E"/>
            </a:solidFill>
            <a:prstDash val="solid"/>
          </a:ln>
        </p:spPr>
      </p:sp>
      <p:sp>
        <p:nvSpPr>
          <p:cNvPr id="4" name="">
            <a:extLst xmlns:a="http://schemas.openxmlformats.org/drawingml/2006/main">
              <a:ext uri="{FF2B5EF4-FFF2-40B4-BE49-F238E27FC236}">
                <a16:creationId xmlns:a16="http://schemas.microsoft.com/office/drawing/2014/main" id="{444D5B97-15C6-42D8-8FFF-1FDFBD2DD196}"/>
              </a:ext>
            </a:extLst>
          </p:cNvPr>
          <p:cNvSpPr>
            <a:spLocks xmlns:a="http://schemas.openxmlformats.org/drawingml/2006/main" noGrp="1"/>
          </p:cNvSpPr>
          <p:nvPr/>
        </p:nvSpPr>
        <p:spPr>
          <a:xfrm xmlns:a="http://schemas.openxmlformats.org/drawingml/2006/main">
            <a:off x="685800" y="21717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A8D3AD"/>
                </a:solidFill>
              </a:defRPr>
            </a:defPPr>
            <a:lvl1pPr>
              <a:defRPr sz="900" b="1">
                <a:solidFill>
                  <a:srgbClr val="A8D3AD"/>
                </a:solidFill>
              </a:defRPr>
            </a:lvl1pPr>
            <a:lvl2pPr>
              <a:defRPr sz="900" b="1">
                <a:solidFill>
                  <a:srgbClr val="A8D3AD"/>
                </a:solidFill>
              </a:defRPr>
            </a:lvl2pPr>
            <a:lvl3pPr>
              <a:defRPr sz="900" b="1">
                <a:solidFill>
                  <a:srgbClr val="A8D3AD"/>
                </a:solidFill>
              </a:defRPr>
            </a:lvl3pPr>
            <a:lvl4pPr>
              <a:defRPr sz="900" b="1">
                <a:solidFill>
                  <a:srgbClr val="A8D3AD"/>
                </a:solidFill>
              </a:defRPr>
            </a:lvl4pPr>
            <a:lvl5pPr>
              <a:defRPr sz="900" b="1">
                <a:solidFill>
                  <a:srgbClr val="A8D3AD"/>
                </a:solidFill>
              </a:defRPr>
            </a:lvl5pPr>
            <a:lvl6pPr>
              <a:defRPr sz="900" b="1">
                <a:solidFill>
                  <a:srgbClr val="A8D3AD"/>
                </a:solidFill>
              </a:defRPr>
            </a:lvl6pPr>
            <a:lvl7pPr>
              <a:defRPr sz="900" b="1">
                <a:solidFill>
                  <a:srgbClr val="A8D3AD"/>
                </a:solidFill>
              </a:defRPr>
            </a:lvl7pPr>
            <a:lvl8pPr>
              <a:defRPr sz="900" b="1">
                <a:solidFill>
                  <a:srgbClr val="A8D3AD"/>
                </a:solidFill>
              </a:defRPr>
            </a:lvl8pPr>
            <a:lvl9pPr>
              <a:defRPr sz="900" b="1">
                <a:solidFill>
                  <a:srgbClr val="A8D3AD"/>
                </a:solidFill>
              </a:defRPr>
            </a:lvl9pPr>
          </a:lstStyle>
          <a:p xmlns:a="http://schemas.openxmlformats.org/drawingml/2006/main">
            <a:pPr>
              <a:defRPr sz="900" b="1">
                <a:solidFill>
                  <a:srgbClr val="A8D3AD"/>
                </a:solidFill>
              </a:defRPr>
            </a:pPr>
            <a:r>
              <a:rPr sz="900" b="1">
                <a:solidFill>
                  <a:srgbClr val="A8D3AD"/>
                </a:solidFill>
              </a:rPr>
              <a:t>IMPLEMENTED</a:t>
            </a:r>
          </a:p>
        </p:txBody>
      </p:sp>
      <p:sp>
        <p:nvSpPr>
          <p:cNvPr id="5" name="">
            <a:extLst xmlns:a="http://schemas.openxmlformats.org/drawingml/2006/main">
              <a:ext uri="{FF2B5EF4-FFF2-40B4-BE49-F238E27FC236}">
                <a16:creationId xmlns:a16="http://schemas.microsoft.com/office/drawing/2014/main" id="{DF9199D1-0A68-4AF4-9A76-D2F5FDC9CAC2}"/>
              </a:ext>
            </a:extLst>
          </p:cNvPr>
          <p:cNvSpPr>
            <a:spLocks xmlns:a="http://schemas.openxmlformats.org/drawingml/2006/main" noGrp="1"/>
          </p:cNvSpPr>
          <p:nvPr/>
        </p:nvSpPr>
        <p:spPr>
          <a:xfrm xmlns:a="http://schemas.openxmlformats.org/drawingml/2006/main">
            <a:off x="685800" y="2609850"/>
            <a:ext cx="3905250" cy="2047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FFFFFF"/>
                </a:solidFill>
              </a:defRPr>
            </a:defPPr>
            <a:lvl1pPr>
              <a:defRPr sz="1575" b="0">
                <a:solidFill>
                  <a:srgbClr val="FFFFFF"/>
                </a:solidFill>
              </a:defRPr>
            </a:lvl1pPr>
            <a:lvl2pPr>
              <a:defRPr sz="1575" b="0">
                <a:solidFill>
                  <a:srgbClr val="FFFFFF"/>
                </a:solidFill>
              </a:defRPr>
            </a:lvl2pPr>
            <a:lvl3pPr>
              <a:defRPr sz="1575" b="0">
                <a:solidFill>
                  <a:srgbClr val="FFFFFF"/>
                </a:solidFill>
              </a:defRPr>
            </a:lvl3pPr>
            <a:lvl4pPr>
              <a:defRPr sz="1575" b="0">
                <a:solidFill>
                  <a:srgbClr val="FFFFFF"/>
                </a:solidFill>
              </a:defRPr>
            </a:lvl4pPr>
            <a:lvl5pPr>
              <a:defRPr sz="1575" b="0">
                <a:solidFill>
                  <a:srgbClr val="FFFFFF"/>
                </a:solidFill>
              </a:defRPr>
            </a:lvl5pPr>
            <a:lvl6pPr>
              <a:defRPr sz="1575" b="0">
                <a:solidFill>
                  <a:srgbClr val="FFFFFF"/>
                </a:solidFill>
              </a:defRPr>
            </a:lvl6pPr>
            <a:lvl7pPr>
              <a:defRPr sz="1575" b="0">
                <a:solidFill>
                  <a:srgbClr val="FFFFFF"/>
                </a:solidFill>
              </a:defRPr>
            </a:lvl7pPr>
            <a:lvl8pPr>
              <a:defRPr sz="1575" b="0">
                <a:solidFill>
                  <a:srgbClr val="FFFFFF"/>
                </a:solidFill>
              </a:defRPr>
            </a:lvl8pPr>
            <a:lvl9pPr>
              <a:defRPr sz="1575" b="0">
                <a:solidFill>
                  <a:srgbClr val="FFFFFF"/>
                </a:solidFill>
              </a:defRPr>
            </a:lvl9pPr>
          </a:lstStyle>
          <a:p xmlns:a="http://schemas.openxmlformats.org/drawingml/2006/main">
            <a:pPr>
              <a:defRPr sz="1575" b="0">
                <a:solidFill>
                  <a:srgbClr val="FFFFFF"/>
                </a:solidFill>
              </a:defRPr>
            </a:pPr>
            <a:r>
              <a:rPr sz="1575" b="0">
                <a:solidFill>
                  <a:srgbClr val="FFFFFF"/>
                </a:solidFill>
              </a:rPr>
              <a:t>React planner and map (build passes)</a:t>
            </a:r>
          </a:p>
          <a:p xmlns:a="http://schemas.openxmlformats.org/drawingml/2006/main">
            <a:pPr>
              <a:defRPr sz="1575" b="0">
                <a:solidFill>
                  <a:srgbClr val="FFFFFF"/>
                </a:solidFill>
              </a:defRPr>
            </a:pPr>
            <a:r>
              <a:rPr sz="1575" b="0">
                <a:solidFill>
                  <a:srgbClr val="FFFFFF"/>
                </a:solidFill>
              </a:rPr>
              <a:t>FastAPI pipeline in source</a:t>
            </a:r>
          </a:p>
          <a:p xmlns:a="http://schemas.openxmlformats.org/drawingml/2006/main">
            <a:pPr>
              <a:defRPr sz="1575" b="0">
                <a:solidFill>
                  <a:srgbClr val="FFFFFF"/>
                </a:solidFill>
              </a:defRPr>
            </a:pPr>
            <a:r>
              <a:rPr sz="1575" b="0">
                <a:solidFill>
                  <a:srgbClr val="FFFFFF"/>
                </a:solidFill>
              </a:rPr>
              <a:t>Ten activity configurations</a:t>
            </a:r>
          </a:p>
          <a:p xmlns:a="http://schemas.openxmlformats.org/drawingml/2006/main">
            <a:pPr>
              <a:defRPr sz="1575" b="0">
                <a:solidFill>
                  <a:srgbClr val="FFFFFF"/>
                </a:solidFill>
              </a:defRPr>
            </a:pPr>
            <a:r>
              <a:rPr sz="1575" b="0">
                <a:solidFill>
                  <a:srgbClr val="FFFFFF"/>
                </a:solidFill>
              </a:rPr>
              <a:t>Gradio Space with JSON endpoint</a:t>
            </a:r>
          </a:p>
          <a:p xmlns:a="http://schemas.openxmlformats.org/drawingml/2006/main">
            <a:pPr>
              <a:defRPr sz="1575" b="0">
                <a:solidFill>
                  <a:srgbClr val="FFFFFF"/>
                </a:solidFill>
              </a:defRPr>
            </a:pPr>
            <a:r>
              <a:rPr sz="1575" b="0">
                <a:solidFill>
                  <a:srgbClr val="FFFFFF"/>
                </a:solidFill>
              </a:rPr>
              <a:t>Public 1.54B Apache-2.0 model loaded</a:t>
            </a:r>
          </a:p>
        </p:txBody>
      </p:sp>
      <p:sp>
        <p:nvSpPr>
          <p:cNvPr id="6" name="">
            <a:extLst xmlns:a="http://schemas.openxmlformats.org/drawingml/2006/main">
              <a:ext uri="{FF2B5EF4-FFF2-40B4-BE49-F238E27FC236}">
                <a16:creationId xmlns:a16="http://schemas.microsoft.com/office/drawing/2014/main" id="{A9C80F94-D58D-4655-BC17-2D187650A2EC}"/>
              </a:ext>
            </a:extLst>
          </p:cNvPr>
          <p:cNvSpPr>
            <a:spLocks xmlns:a="http://schemas.openxmlformats.org/drawingml/2006/main" noGrp="1"/>
          </p:cNvSpPr>
          <p:nvPr/>
        </p:nvSpPr>
        <p:spPr>
          <a:xfrm xmlns:a="http://schemas.openxmlformats.org/drawingml/2006/main">
            <a:off x="5219700" y="2190750"/>
            <a:ext cx="0" cy="3276600"/>
          </a:xfrm>
          <a:prstGeom xmlns:a="http://schemas.openxmlformats.org/drawingml/2006/main" prst="line">
            <a:avLst/>
          </a:prstGeom>
          <a:noFill xmlns:a="http://schemas.openxmlformats.org/drawingml/2006/main"/>
          <a:ln xmlns:a="http://schemas.openxmlformats.org/drawingml/2006/main" w="9525">
            <a:solidFill>
              <a:srgbClr val="54715E"/>
            </a:solidFill>
            <a:prstDash val="solid"/>
          </a:ln>
        </p:spPr>
      </p:sp>
      <p:sp>
        <p:nvSpPr>
          <p:cNvPr id="7" name="">
            <a:extLst xmlns:a="http://schemas.openxmlformats.org/drawingml/2006/main">
              <a:ext uri="{FF2B5EF4-FFF2-40B4-BE49-F238E27FC236}">
                <a16:creationId xmlns:a16="http://schemas.microsoft.com/office/drawing/2014/main" id="{76AAE91D-1F13-4494-B003-04022108ABB5}"/>
              </a:ext>
            </a:extLst>
          </p:cNvPr>
          <p:cNvSpPr>
            <a:spLocks xmlns:a="http://schemas.openxmlformats.org/drawingml/2006/main" noGrp="1"/>
          </p:cNvSpPr>
          <p:nvPr/>
        </p:nvSpPr>
        <p:spPr>
          <a:xfrm xmlns:a="http://schemas.openxmlformats.org/drawingml/2006/main">
            <a:off x="5867400" y="217170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E3B65E"/>
                </a:solidFill>
              </a:defRPr>
            </a:defPPr>
            <a:lvl1pPr>
              <a:defRPr sz="900" b="1">
                <a:solidFill>
                  <a:srgbClr val="E3B65E"/>
                </a:solidFill>
              </a:defRPr>
            </a:lvl1pPr>
            <a:lvl2pPr>
              <a:defRPr sz="900" b="1">
                <a:solidFill>
                  <a:srgbClr val="E3B65E"/>
                </a:solidFill>
              </a:defRPr>
            </a:lvl2pPr>
            <a:lvl3pPr>
              <a:defRPr sz="900" b="1">
                <a:solidFill>
                  <a:srgbClr val="E3B65E"/>
                </a:solidFill>
              </a:defRPr>
            </a:lvl3pPr>
            <a:lvl4pPr>
              <a:defRPr sz="900" b="1">
                <a:solidFill>
                  <a:srgbClr val="E3B65E"/>
                </a:solidFill>
              </a:defRPr>
            </a:lvl4pPr>
            <a:lvl5pPr>
              <a:defRPr sz="900" b="1">
                <a:solidFill>
                  <a:srgbClr val="E3B65E"/>
                </a:solidFill>
              </a:defRPr>
            </a:lvl5pPr>
            <a:lvl6pPr>
              <a:defRPr sz="900" b="1">
                <a:solidFill>
                  <a:srgbClr val="E3B65E"/>
                </a:solidFill>
              </a:defRPr>
            </a:lvl6pPr>
            <a:lvl7pPr>
              <a:defRPr sz="900" b="1">
                <a:solidFill>
                  <a:srgbClr val="E3B65E"/>
                </a:solidFill>
              </a:defRPr>
            </a:lvl7pPr>
            <a:lvl8pPr>
              <a:defRPr sz="900" b="1">
                <a:solidFill>
                  <a:srgbClr val="E3B65E"/>
                </a:solidFill>
              </a:defRPr>
            </a:lvl8pPr>
            <a:lvl9pPr>
              <a:defRPr sz="900" b="1">
                <a:solidFill>
                  <a:srgbClr val="E3B65E"/>
                </a:solidFill>
              </a:defRPr>
            </a:lvl9pPr>
          </a:lstStyle>
          <a:p xmlns:a="http://schemas.openxmlformats.org/drawingml/2006/main">
            <a:pPr>
              <a:defRPr sz="900" b="1">
                <a:solidFill>
                  <a:srgbClr val="E3B65E"/>
                </a:solidFill>
              </a:defRPr>
            </a:pPr>
            <a:r>
              <a:rPr sz="900" b="1">
                <a:solidFill>
                  <a:srgbClr val="E3B65E"/>
                </a:solidFill>
              </a:rPr>
              <a:t>STILL TO VERIFY</a:t>
            </a:r>
          </a:p>
        </p:txBody>
      </p:sp>
      <p:sp>
        <p:nvSpPr>
          <p:cNvPr id="8" name="">
            <a:extLst xmlns:a="http://schemas.openxmlformats.org/drawingml/2006/main">
              <a:ext uri="{FF2B5EF4-FFF2-40B4-BE49-F238E27FC236}">
                <a16:creationId xmlns:a16="http://schemas.microsoft.com/office/drawing/2014/main" id="{A5801B79-04C3-4518-997D-7E72504904DF}"/>
              </a:ext>
            </a:extLst>
          </p:cNvPr>
          <p:cNvSpPr>
            <a:spLocks xmlns:a="http://schemas.openxmlformats.org/drawingml/2006/main" noGrp="1"/>
          </p:cNvSpPr>
          <p:nvPr/>
        </p:nvSpPr>
        <p:spPr>
          <a:xfrm xmlns:a="http://schemas.openxmlformats.org/drawingml/2006/main">
            <a:off x="5867400" y="2609850"/>
            <a:ext cx="4953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FFFFFF"/>
                </a:solidFill>
              </a:defRPr>
            </a:defPPr>
            <a:lvl1pPr>
              <a:defRPr sz="1500" b="0">
                <a:solidFill>
                  <a:srgbClr val="FFFFFF"/>
                </a:solidFill>
              </a:defRPr>
            </a:lvl1pPr>
            <a:lvl2pPr>
              <a:defRPr sz="1500" b="0">
                <a:solidFill>
                  <a:srgbClr val="FFFFFF"/>
                </a:solidFill>
              </a:defRPr>
            </a:lvl2pPr>
            <a:lvl3pPr>
              <a:defRPr sz="1500" b="0">
                <a:solidFill>
                  <a:srgbClr val="FFFFFF"/>
                </a:solidFill>
              </a:defRPr>
            </a:lvl3pPr>
            <a:lvl4pPr>
              <a:defRPr sz="1500" b="0">
                <a:solidFill>
                  <a:srgbClr val="FFFFFF"/>
                </a:solidFill>
              </a:defRPr>
            </a:lvl4pPr>
            <a:lvl5pPr>
              <a:defRPr sz="1500" b="0">
                <a:solidFill>
                  <a:srgbClr val="FFFFFF"/>
                </a:solidFill>
              </a:defRPr>
            </a:lvl5pPr>
            <a:lvl6pPr>
              <a:defRPr sz="1500" b="0">
                <a:solidFill>
                  <a:srgbClr val="FFFFFF"/>
                </a:solidFill>
              </a:defRPr>
            </a:lvl6pPr>
            <a:lvl7pPr>
              <a:defRPr sz="1500" b="0">
                <a:solidFill>
                  <a:srgbClr val="FFFFFF"/>
                </a:solidFill>
              </a:defRPr>
            </a:lvl7pPr>
            <a:lvl8pPr>
              <a:defRPr sz="1500" b="0">
                <a:solidFill>
                  <a:srgbClr val="FFFFFF"/>
                </a:solidFill>
              </a:defRPr>
            </a:lvl8pPr>
            <a:lvl9pPr>
              <a:defRPr sz="1500" b="0">
                <a:solidFill>
                  <a:srgbClr val="FFFFFF"/>
                </a:solidFill>
              </a:defRPr>
            </a:lvl9pPr>
          </a:lstStyle>
          <a:p xmlns:a="http://schemas.openxmlformats.org/drawingml/2006/main">
            <a:pPr>
              <a:defRPr sz="1500" b="0">
                <a:solidFill>
                  <a:srgbClr val="FFFFFF"/>
                </a:solidFill>
              </a:defRPr>
            </a:pPr>
            <a:r>
              <a:rPr sz="1500" b="0">
                <a:solidFill>
                  <a:srgbClr val="FFFFFF"/>
                </a:solidFill>
              </a:rPr>
              <a:t>Live provider-backed recommendation after quota</a:t>
            </a:r>
          </a:p>
          <a:p xmlns:a="http://schemas.openxmlformats.org/drawingml/2006/main">
            <a:pPr>
              <a:defRPr sz="1500" b="0">
                <a:solidFill>
                  <a:srgbClr val="FFFFFF"/>
                </a:solidFill>
              </a:defRPr>
            </a:pPr>
            <a:r>
              <a:rPr sz="1500" b="0">
                <a:solidFill>
                  <a:srgbClr val="FFFFFF"/>
                </a:solidFill>
              </a:rPr>
              <a:t>Scoring tests: 8 pass; full suite unverified</a:t>
            </a:r>
          </a:p>
          <a:p xmlns:a="http://schemas.openxmlformats.org/drawingml/2006/main">
            <a:pPr>
              <a:defRPr sz="1500" b="0">
                <a:solidFill>
                  <a:srgbClr val="FFFFFF"/>
                </a:solidFill>
              </a:defRPr>
            </a:pPr>
            <a:r>
              <a:rPr sz="1500" b="0">
                <a:solidFill>
                  <a:srgbClr val="FFFFFF"/>
                </a:solidFill>
              </a:rPr>
              <a:t>Hosted /health and /api routes</a:t>
            </a:r>
          </a:p>
          <a:p xmlns:a="http://schemas.openxmlformats.org/drawingml/2006/main">
            <a:pPr>
              <a:defRPr sz="1500" b="0">
                <a:solidFill>
                  <a:srgbClr val="FFFFFF"/>
                </a:solidFill>
              </a:defRPr>
            </a:pPr>
            <a:r>
              <a:rPr sz="1500" b="0">
                <a:solidFill>
                  <a:srgbClr val="FFFFFF"/>
                </a:solidFill>
              </a:rPr>
              <a:t>Root Docker image and cold start</a:t>
            </a:r>
          </a:p>
          <a:p xmlns:a="http://schemas.openxmlformats.org/drawingml/2006/main">
            <a:pPr>
              <a:defRPr sz="1500" b="0">
                <a:solidFill>
                  <a:srgbClr val="FFFFFF"/>
                </a:solidFill>
              </a:defRPr>
            </a:pPr>
            <a:r>
              <a:rPr sz="1500" b="0">
                <a:solidFill>
                  <a:srgbClr val="FFFFFF"/>
                </a:solidFill>
              </a:rPr>
              <a:t>Keep endpoint available for judging</a:t>
            </a:r>
          </a:p>
        </p:txBody>
      </p:sp>
      <p:sp>
        <p:nvSpPr>
          <p:cNvPr id="9" name="">
            <a:extLst xmlns:a="http://schemas.openxmlformats.org/drawingml/2006/main">
              <a:ext uri="{FF2B5EF4-FFF2-40B4-BE49-F238E27FC236}">
                <a16:creationId xmlns:a16="http://schemas.microsoft.com/office/drawing/2014/main" id="{EC54C871-9DD2-4313-9D8A-24732506C6EF}"/>
              </a:ext>
            </a:extLst>
          </p:cNvPr>
          <p:cNvSpPr>
            <a:spLocks xmlns:a="http://schemas.openxmlformats.org/drawingml/2006/main" noGrp="1"/>
          </p:cNvSpPr>
          <p:nvPr/>
        </p:nvSpPr>
        <p:spPr>
          <a:xfrm xmlns:a="http://schemas.openxmlformats.org/drawingml/2006/main">
            <a:off x="685800" y="56769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125" b="0">
                <a:solidFill>
                  <a:srgbClr val="C2D0C4"/>
                </a:solidFill>
              </a:defRPr>
            </a:defPPr>
            <a:lvl1pPr>
              <a:defRPr sz="1125" b="0">
                <a:solidFill>
                  <a:srgbClr val="C2D0C4"/>
                </a:solidFill>
              </a:defRPr>
            </a:lvl1pPr>
            <a:lvl2pPr>
              <a:defRPr sz="1125" b="0">
                <a:solidFill>
                  <a:srgbClr val="C2D0C4"/>
                </a:solidFill>
              </a:defRPr>
            </a:lvl2pPr>
            <a:lvl3pPr>
              <a:defRPr sz="1125" b="0">
                <a:solidFill>
                  <a:srgbClr val="C2D0C4"/>
                </a:solidFill>
              </a:defRPr>
            </a:lvl3pPr>
            <a:lvl4pPr>
              <a:defRPr sz="1125" b="0">
                <a:solidFill>
                  <a:srgbClr val="C2D0C4"/>
                </a:solidFill>
              </a:defRPr>
            </a:lvl4pPr>
            <a:lvl5pPr>
              <a:defRPr sz="1125" b="0">
                <a:solidFill>
                  <a:srgbClr val="C2D0C4"/>
                </a:solidFill>
              </a:defRPr>
            </a:lvl5pPr>
            <a:lvl6pPr>
              <a:defRPr sz="1125" b="0">
                <a:solidFill>
                  <a:srgbClr val="C2D0C4"/>
                </a:solidFill>
              </a:defRPr>
            </a:lvl6pPr>
            <a:lvl7pPr>
              <a:defRPr sz="1125" b="0">
                <a:solidFill>
                  <a:srgbClr val="C2D0C4"/>
                </a:solidFill>
              </a:defRPr>
            </a:lvl7pPr>
            <a:lvl8pPr>
              <a:defRPr sz="1125" b="0">
                <a:solidFill>
                  <a:srgbClr val="C2D0C4"/>
                </a:solidFill>
              </a:defRPr>
            </a:lvl8pPr>
            <a:lvl9pPr>
              <a:defRPr sz="1125" b="0">
                <a:solidFill>
                  <a:srgbClr val="C2D0C4"/>
                </a:solidFill>
              </a:defRPr>
            </a:lvl9pPr>
          </a:lstStyle>
          <a:p xmlns:a="http://schemas.openxmlformats.org/drawingml/2006/main">
            <a:pPr>
              <a:defRPr sz="1125" b="0">
                <a:solidFill>
                  <a:srgbClr val="C2D0C4"/>
                </a:solidFill>
              </a:defRPr>
            </a:pPr>
            <a:r>
              <a:rPr sz="1125" b="0">
                <a:solidFill>
                  <a:srgbClr val="C2D0C4"/>
                </a:solidFill>
              </a:rPr>
              <a:t>Space is deployed; last inference hit ZeroGPU quota. No live recommendation is verified. Frontend production build passes.</a:t>
            </a:r>
          </a:p>
        </p:txBody>
      </p:sp>
      <p:sp>
        <p:nvSpPr>
          <p:cNvPr id="10" name="">
            <a:extLst xmlns:a="http://schemas.openxmlformats.org/drawingml/2006/main">
              <a:ext uri="{FF2B5EF4-FFF2-40B4-BE49-F238E27FC236}">
                <a16:creationId xmlns:a16="http://schemas.microsoft.com/office/drawing/2014/main" id="{0E4F8760-2280-42DE-9C71-A73DE19E52F4}"/>
              </a:ext>
            </a:extLst>
          </p:cNvPr>
          <p:cNvSpPr>
            <a:spLocks xmlns:a="http://schemas.openxmlformats.org/drawingml/2006/main" noGrp="1"/>
          </p:cNvSpPr>
          <p:nvPr/>
        </p:nvSpPr>
        <p:spPr>
          <a:xfrm xmlns:a="http://schemas.openxmlformats.org/drawingml/2006/main">
            <a:off x="685800" y="6334125"/>
            <a:ext cx="10820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AFC0B2"/>
                </a:solidFill>
              </a:defRPr>
            </a:defPPr>
            <a:lvl1pPr>
              <a:defRPr sz="750" b="0">
                <a:solidFill>
                  <a:srgbClr val="AFC0B2"/>
                </a:solidFill>
              </a:defRPr>
            </a:lvl1pPr>
            <a:lvl2pPr>
              <a:defRPr sz="750" b="0">
                <a:solidFill>
                  <a:srgbClr val="AFC0B2"/>
                </a:solidFill>
              </a:defRPr>
            </a:lvl2pPr>
            <a:lvl3pPr>
              <a:defRPr sz="750" b="0">
                <a:solidFill>
                  <a:srgbClr val="AFC0B2"/>
                </a:solidFill>
              </a:defRPr>
            </a:lvl3pPr>
            <a:lvl4pPr>
              <a:defRPr sz="750" b="0">
                <a:solidFill>
                  <a:srgbClr val="AFC0B2"/>
                </a:solidFill>
              </a:defRPr>
            </a:lvl4pPr>
            <a:lvl5pPr>
              <a:defRPr sz="750" b="0">
                <a:solidFill>
                  <a:srgbClr val="AFC0B2"/>
                </a:solidFill>
              </a:defRPr>
            </a:lvl5pPr>
            <a:lvl6pPr>
              <a:defRPr sz="750" b="0">
                <a:solidFill>
                  <a:srgbClr val="AFC0B2"/>
                </a:solidFill>
              </a:defRPr>
            </a:lvl6pPr>
            <a:lvl7pPr>
              <a:defRPr sz="750" b="0">
                <a:solidFill>
                  <a:srgbClr val="AFC0B2"/>
                </a:solidFill>
              </a:defRPr>
            </a:lvl7pPr>
            <a:lvl8pPr>
              <a:defRPr sz="750" b="0">
                <a:solidFill>
                  <a:srgbClr val="AFC0B2"/>
                </a:solidFill>
              </a:defRPr>
            </a:lvl8pPr>
            <a:lvl9pPr>
              <a:defRPr sz="750" b="0">
                <a:solidFill>
                  <a:srgbClr val="AFC0B2"/>
                </a:solidFill>
              </a:defRPr>
            </a:lvl9pPr>
          </a:lstStyle>
          <a:p xmlns:a="http://schemas.openxmlformats.org/drawingml/2006/main">
            <a:pPr>
              <a:defRPr sz="750" b="0">
                <a:solidFill>
                  <a:srgbClr val="AFC0B2"/>
                </a:solidFill>
              </a:defRPr>
            </a:pPr>
            <a:r>
              <a:rPr sz="750" b="0">
                <a:solidFill>
                  <a:srgbClr val="AFC0B2"/>
                </a:solidFill>
              </a:rPr>
              <a:t>Rules source: geosysiot.in/geoai-hackathon/#guidelines  ·  Status checked 24 Oct 2026</a:t>
            </a:r>
          </a:p>
        </p:txBody>
      </p:sp>
    </p:spTree>
    <p:extLst>
      <p:ext uri="{BB962C8B-B14F-4D97-AF65-F5344CB8AC3E}">
        <p14:creationId xmlns:p14="http://schemas.microsoft.com/office/powerpoint/2010/main" val="18327720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2026-10-24T17:29:37.7440000Z</dcterms:created>
  <dcterms:modified xsi:type="dcterms:W3CDTF">2026-10-24T17:29:37.7440000Z</dcterms:modified>
</coreProperties>
</file>